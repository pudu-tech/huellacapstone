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Inter Bold" charset="1" panose="020B0802030000000004"/>
      <p:regular r:id="rId21"/>
    </p:embeddedFont>
    <p:embeddedFont>
      <p:font typeface="Inter" charset="1" panose="020B0502030000000004"/>
      <p:regular r:id="rId22"/>
    </p:embeddedFont>
    <p:embeddedFont>
      <p:font typeface="DM Sans Bold" charset="1" panose="00000000000000000000"/>
      <p:regular r:id="rId23"/>
    </p:embeddedFont>
    <p:embeddedFont>
      <p:font typeface="DM Sans" charset="1" panose="00000000000000000000"/>
      <p:regular r:id="rId24"/>
    </p:embeddedFont>
    <p:embeddedFont>
      <p:font typeface="Varela Round" charset="1" panose="00000500000000000000"/>
      <p:regular r:id="rId25"/>
    </p:embeddedFont>
    <p:embeddedFont>
      <p:font typeface="Roboto" charset="1" panose="02000000000000000000"/>
      <p:regular r:id="rId26"/>
    </p:embeddedFont>
    <p:embeddedFont>
      <p:font typeface="ABeeZee Bold" charset="1" panose="02000000000000000000"/>
      <p:regular r:id="rId27"/>
    </p:embeddedFont>
    <p:embeddedFont>
      <p:font typeface="ABeeZee" charset="1" panose="02000000000000000000"/>
      <p:regular r:id="rId28"/>
    </p:embeddedFont>
    <p:embeddedFont>
      <p:font typeface="TT Interphases Bold" charset="1" panose="02000803060000020004"/>
      <p:regular r:id="rId29"/>
    </p:embeddedFont>
    <p:embeddedFont>
      <p:font typeface="TT Interphases" charset="1" panose="02000503020000020004"/>
      <p:regular r:id="rId30"/>
    </p:embeddedFont>
    <p:embeddedFont>
      <p:font typeface="HK Grotesk Bold" charset="1" panose="00000800000000000000"/>
      <p:regular r:id="rId31"/>
    </p:embeddedFont>
    <p:embeddedFont>
      <p:font typeface="HK Grotesk Medium" charset="1" panose="00000600000000000000"/>
      <p:regular r:id="rId32"/>
    </p:embeddedFont>
    <p:embeddedFont>
      <p:font typeface="HK Grotesk Semi-Bold" charset="1" panose="00000700000000000000"/>
      <p:regular r:id="rId33"/>
    </p:embeddedFont>
    <p:embeddedFont>
      <p:font typeface="HK Grotesk" charset="1" panose="00000500000000000000"/>
      <p:regular r:id="rId34"/>
    </p:embeddedFont>
    <p:embeddedFont>
      <p:font typeface="Roboto Bold" charset="1" panose="02000000000000000000"/>
      <p:regular r:id="rId35"/>
    </p:embeddedFont>
    <p:embeddedFont>
      <p:font typeface="Simonetta" charset="1" panose="02000504070000020003"/>
      <p:regular r:id="rId36"/>
    </p:embeddedFont>
    <p:embeddedFont>
      <p:font typeface="Gotham Bold" charset="1" panose="00000000000000000000"/>
      <p:regular r:id="rId37"/>
    </p:embeddedFont>
    <p:embeddedFont>
      <p:font typeface="Orienta" charset="1" panose="02000603040000020004"/>
      <p:regular r:id="rId38"/>
    </p:embeddedFont>
    <p:embeddedFont>
      <p:font typeface="Gilroy Bold" charset="1" panose="00000800000000000000"/>
      <p:regular r:id="rId39"/>
    </p:embeddedFont>
    <p:embeddedFont>
      <p:font typeface="Bricolage Grotesque Bold" charset="1" panose="020B0605040402000204"/>
      <p:regular r:id="rId40"/>
    </p:embeddedFont>
    <p:embeddedFont>
      <p:font typeface="Clear Sans" charset="1" panose="020B0503030202020304"/>
      <p:regular r:id="rId41"/>
    </p:embeddedFont>
    <p:embeddedFont>
      <p:font typeface="Clear Sans Bold" charset="1" panose="020B08030302020203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png" Type="http://schemas.openxmlformats.org/officeDocument/2006/relationships/image"/><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png" Type="http://schemas.openxmlformats.org/officeDocument/2006/relationships/image"/><Relationship Id="rId12" Target="../media/image41.png" Type="http://schemas.openxmlformats.org/officeDocument/2006/relationships/image"/><Relationship Id="rId13" Target="../media/image42.png" Type="http://schemas.openxmlformats.org/officeDocument/2006/relationships/image"/><Relationship Id="rId14" Target="../media/image43.png" Type="http://schemas.openxmlformats.org/officeDocument/2006/relationships/image"/><Relationship Id="rId15" Target="../media/image44.png" Type="http://schemas.openxmlformats.org/officeDocument/2006/relationships/image"/><Relationship Id="rId16" Target="../media/image45.png" Type="http://schemas.openxmlformats.org/officeDocument/2006/relationships/image"/><Relationship Id="rId17" Target="../media/image46.png" Type="http://schemas.openxmlformats.org/officeDocument/2006/relationships/image"/><Relationship Id="rId18" Target="../media/image47.png" Type="http://schemas.openxmlformats.org/officeDocument/2006/relationships/image"/><Relationship Id="rId2" Target="../media/image31.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 Id="rId9" Target="../media/image3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png" Type="http://schemas.openxmlformats.org/officeDocument/2006/relationships/image"/><Relationship Id="rId2" Target="../media/image48.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 Id="rId8" Target="../media/image54.png" Type="http://schemas.openxmlformats.org/officeDocument/2006/relationships/image"/><Relationship Id="rId9" Target="../media/image5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png" Type="http://schemas.openxmlformats.org/officeDocument/2006/relationships/image"/><Relationship Id="rId11" Target="../media/image67.png" Type="http://schemas.openxmlformats.org/officeDocument/2006/relationships/image"/><Relationship Id="rId12" Target="../media/image68.png" Type="http://schemas.openxmlformats.org/officeDocument/2006/relationships/image"/><Relationship Id="rId13" Target="../media/image69.png" Type="http://schemas.openxmlformats.org/officeDocument/2006/relationships/image"/><Relationship Id="rId14" Target="../media/image70.png" Type="http://schemas.openxmlformats.org/officeDocument/2006/relationships/image"/><Relationship Id="rId15" Target="../media/image71.png" Type="http://schemas.openxmlformats.org/officeDocument/2006/relationships/image"/><Relationship Id="rId16" Target="../media/image72.png" Type="http://schemas.openxmlformats.org/officeDocument/2006/relationships/image"/><Relationship Id="rId17" Target="../media/image73.png" Type="http://schemas.openxmlformats.org/officeDocument/2006/relationships/image"/><Relationship Id="rId18" Target="../media/image74.png" Type="http://schemas.openxmlformats.org/officeDocument/2006/relationships/image"/><Relationship Id="rId19" Target="../media/image75.png" Type="http://schemas.openxmlformats.org/officeDocument/2006/relationships/image"/><Relationship Id="rId2" Target="../media/image58.png" Type="http://schemas.openxmlformats.org/officeDocument/2006/relationships/image"/><Relationship Id="rId20" Target="../media/image76.png" Type="http://schemas.openxmlformats.org/officeDocument/2006/relationships/image"/><Relationship Id="rId21" Target="../media/image77.png" Type="http://schemas.openxmlformats.org/officeDocument/2006/relationships/image"/><Relationship Id="rId22" Target="../media/image78.pn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62.png" Type="http://schemas.openxmlformats.org/officeDocument/2006/relationships/image"/><Relationship Id="rId7" Target="../media/image63.png" Type="http://schemas.openxmlformats.org/officeDocument/2006/relationships/image"/><Relationship Id="rId8" Target="../media/image64.png" Type="http://schemas.openxmlformats.org/officeDocument/2006/relationships/image"/><Relationship Id="rId9" Target="../media/image6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7.png" Type="http://schemas.openxmlformats.org/officeDocument/2006/relationships/image"/><Relationship Id="rId11" Target="../media/image88.png" Type="http://schemas.openxmlformats.org/officeDocument/2006/relationships/image"/><Relationship Id="rId2" Target="../media/image79.png" Type="http://schemas.openxmlformats.org/officeDocument/2006/relationships/image"/><Relationship Id="rId3" Target="../media/image80.png" Type="http://schemas.openxmlformats.org/officeDocument/2006/relationships/image"/><Relationship Id="rId4" Target="../media/image81.png" Type="http://schemas.openxmlformats.org/officeDocument/2006/relationships/image"/><Relationship Id="rId5" Target="../media/image82.png" Type="http://schemas.openxmlformats.org/officeDocument/2006/relationships/image"/><Relationship Id="rId6" Target="../media/image83.png" Type="http://schemas.openxmlformats.org/officeDocument/2006/relationships/image"/><Relationship Id="rId7" Target="../media/image84.png" Type="http://schemas.openxmlformats.org/officeDocument/2006/relationships/image"/><Relationship Id="rId8" Target="../media/image85.png" Type="http://schemas.openxmlformats.org/officeDocument/2006/relationships/image"/><Relationship Id="rId9" Target="../media/image8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9.png" Type="http://schemas.openxmlformats.org/officeDocument/2006/relationships/image"/><Relationship Id="rId3" Target="../media/image90.png" Type="http://schemas.openxmlformats.org/officeDocument/2006/relationships/image"/><Relationship Id="rId4" Target="../media/image91.png" Type="http://schemas.openxmlformats.org/officeDocument/2006/relationships/image"/><Relationship Id="rId5" Target="../media/image92.png" Type="http://schemas.openxmlformats.org/officeDocument/2006/relationships/image"/><Relationship Id="rId6" Target="../media/image9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2.png" Type="http://schemas.openxmlformats.org/officeDocument/2006/relationships/image"/><Relationship Id="rId11" Target="../media/image103.png" Type="http://schemas.openxmlformats.org/officeDocument/2006/relationships/image"/><Relationship Id="rId12" Target="../media/image104.png" Type="http://schemas.openxmlformats.org/officeDocument/2006/relationships/image"/><Relationship Id="rId13" Target="../media/image105.png" Type="http://schemas.openxmlformats.org/officeDocument/2006/relationships/image"/><Relationship Id="rId14" Target="../media/image106.png" Type="http://schemas.openxmlformats.org/officeDocument/2006/relationships/image"/><Relationship Id="rId15" Target="../media/image107.png" Type="http://schemas.openxmlformats.org/officeDocument/2006/relationships/image"/><Relationship Id="rId16" Target="../media/image108.png" Type="http://schemas.openxmlformats.org/officeDocument/2006/relationships/image"/><Relationship Id="rId17" Target="../media/image109.png" Type="http://schemas.openxmlformats.org/officeDocument/2006/relationships/image"/><Relationship Id="rId2" Target="../media/image94.png" Type="http://schemas.openxmlformats.org/officeDocument/2006/relationships/image"/><Relationship Id="rId3" Target="../media/image95.png" Type="http://schemas.openxmlformats.org/officeDocument/2006/relationships/image"/><Relationship Id="rId4" Target="../media/image96.png" Type="http://schemas.openxmlformats.org/officeDocument/2006/relationships/image"/><Relationship Id="rId5" Target="../media/image97.png" Type="http://schemas.openxmlformats.org/officeDocument/2006/relationships/image"/><Relationship Id="rId6" Target="../media/image98.png" Type="http://schemas.openxmlformats.org/officeDocument/2006/relationships/image"/><Relationship Id="rId7" Target="../media/image99.png" Type="http://schemas.openxmlformats.org/officeDocument/2006/relationships/image"/><Relationship Id="rId8" Target="../media/image100.png" Type="http://schemas.openxmlformats.org/officeDocument/2006/relationships/image"/><Relationship Id="rId9" Target="../media/image10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png" Type="http://schemas.openxmlformats.org/officeDocument/2006/relationships/image"/><Relationship Id="rId11" Target="../media/image119.png" Type="http://schemas.openxmlformats.org/officeDocument/2006/relationships/image"/><Relationship Id="rId12" Target="../media/image120.png" Type="http://schemas.openxmlformats.org/officeDocument/2006/relationships/image"/><Relationship Id="rId13" Target="../media/image121.png" Type="http://schemas.openxmlformats.org/officeDocument/2006/relationships/image"/><Relationship Id="rId14" Target="../media/image122.png" Type="http://schemas.openxmlformats.org/officeDocument/2006/relationships/image"/><Relationship Id="rId15" Target="../media/image123.png" Type="http://schemas.openxmlformats.org/officeDocument/2006/relationships/image"/><Relationship Id="rId2" Target="../media/image110.png" Type="http://schemas.openxmlformats.org/officeDocument/2006/relationships/image"/><Relationship Id="rId3" Target="../media/image111.png" Type="http://schemas.openxmlformats.org/officeDocument/2006/relationships/image"/><Relationship Id="rId4" Target="../media/image112.png" Type="http://schemas.openxmlformats.org/officeDocument/2006/relationships/image"/><Relationship Id="rId5" Target="../media/image113.png" Type="http://schemas.openxmlformats.org/officeDocument/2006/relationships/image"/><Relationship Id="rId6" Target="../media/image114.png" Type="http://schemas.openxmlformats.org/officeDocument/2006/relationships/image"/><Relationship Id="rId7" Target="../media/image115.png" Type="http://schemas.openxmlformats.org/officeDocument/2006/relationships/image"/><Relationship Id="rId8" Target="../media/image116.png" Type="http://schemas.openxmlformats.org/officeDocument/2006/relationships/image"/><Relationship Id="rId9" Target="../media/image1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5.png" Type="http://schemas.openxmlformats.org/officeDocument/2006/relationships/image"/><Relationship Id="rId3" Target="../media/image126.png" Type="http://schemas.openxmlformats.org/officeDocument/2006/relationships/image"/><Relationship Id="rId4" Target="../media/image127.png" Type="http://schemas.openxmlformats.org/officeDocument/2006/relationships/image"/><Relationship Id="rId5" Target="../media/image128.png" Type="http://schemas.openxmlformats.org/officeDocument/2006/relationships/image"/><Relationship Id="rId6" Target="../media/image129.png" Type="http://schemas.openxmlformats.org/officeDocument/2006/relationships/image"/><Relationship Id="rId7" Target="../media/image130.png" Type="http://schemas.openxmlformats.org/officeDocument/2006/relationships/image"/><Relationship Id="rId8" Target="../media/image1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2.png" Type="http://schemas.openxmlformats.org/officeDocument/2006/relationships/image"/><Relationship Id="rId3" Target="../media/image133.png" Type="http://schemas.openxmlformats.org/officeDocument/2006/relationships/image"/><Relationship Id="rId4" Target="../media/image134.png" Type="http://schemas.openxmlformats.org/officeDocument/2006/relationships/image"/><Relationship Id="rId5" Target="../media/image135.png" Type="http://schemas.openxmlformats.org/officeDocument/2006/relationships/image"/><Relationship Id="rId6" Target="../media/image13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7.png" Type="http://schemas.openxmlformats.org/officeDocument/2006/relationships/image"/><Relationship Id="rId3" Target="../media/image138.png" Type="http://schemas.openxmlformats.org/officeDocument/2006/relationships/image"/><Relationship Id="rId4" Target="../media/image139.png" Type="http://schemas.openxmlformats.org/officeDocument/2006/relationships/image"/><Relationship Id="rId5" Target="../media/image14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2" y="0"/>
            <a:ext cx="18284428" cy="10287000"/>
            <a:chOff x="0" y="0"/>
            <a:chExt cx="24379238" cy="13716000"/>
          </a:xfrm>
        </p:grpSpPr>
        <p:sp>
          <p:nvSpPr>
            <p:cNvPr name="Freeform 3" id="3"/>
            <p:cNvSpPr/>
            <p:nvPr/>
          </p:nvSpPr>
          <p:spPr>
            <a:xfrm flipH="false" flipV="false" rot="0">
              <a:off x="0" y="0"/>
              <a:ext cx="24379238" cy="13716000"/>
            </a:xfrm>
            <a:custGeom>
              <a:avLst/>
              <a:gdLst/>
              <a:ahLst/>
              <a:cxnLst/>
              <a:rect r="r" b="b" t="t" l="l"/>
              <a:pathLst>
                <a:path h="13716000" w="24379238">
                  <a:moveTo>
                    <a:pt x="0" y="0"/>
                  </a:moveTo>
                  <a:lnTo>
                    <a:pt x="24379238" y="0"/>
                  </a:lnTo>
                  <a:lnTo>
                    <a:pt x="24379238" y="13716000"/>
                  </a:lnTo>
                  <a:lnTo>
                    <a:pt x="0" y="13716000"/>
                  </a:lnTo>
                  <a:close/>
                </a:path>
              </a:pathLst>
            </a:custGeom>
            <a:blipFill>
              <a:blip r:embed="rId2"/>
              <a:stretch>
                <a:fillRect l="-430" t="0" r="-430" b="0"/>
              </a:stretch>
            </a:blipFill>
          </p:spPr>
        </p:sp>
      </p:grpSp>
      <p:grpSp>
        <p:nvGrpSpPr>
          <p:cNvPr name="Group 4" id="4"/>
          <p:cNvGrpSpPr/>
          <p:nvPr/>
        </p:nvGrpSpPr>
        <p:grpSpPr>
          <a:xfrm rot="0">
            <a:off x="15081486" y="261488"/>
            <a:ext cx="2987224" cy="1848379"/>
            <a:chOff x="0" y="0"/>
            <a:chExt cx="12820413" cy="7932777"/>
          </a:xfrm>
        </p:grpSpPr>
        <p:sp>
          <p:nvSpPr>
            <p:cNvPr name="Freeform 5" id="5"/>
            <p:cNvSpPr/>
            <p:nvPr/>
          </p:nvSpPr>
          <p:spPr>
            <a:xfrm flipH="false" flipV="false" rot="0">
              <a:off x="0" y="0"/>
              <a:ext cx="12820414" cy="7932777"/>
            </a:xfrm>
            <a:custGeom>
              <a:avLst/>
              <a:gdLst/>
              <a:ahLst/>
              <a:cxnLst/>
              <a:rect r="r" b="b" t="t" l="l"/>
              <a:pathLst>
                <a:path h="7932777" w="12820414">
                  <a:moveTo>
                    <a:pt x="0" y="0"/>
                  </a:moveTo>
                  <a:lnTo>
                    <a:pt x="12820414" y="0"/>
                  </a:lnTo>
                  <a:lnTo>
                    <a:pt x="12820414" y="7932777"/>
                  </a:lnTo>
                  <a:lnTo>
                    <a:pt x="0" y="7932777"/>
                  </a:lnTo>
                  <a:close/>
                </a:path>
              </a:pathLst>
            </a:custGeom>
            <a:blipFill>
              <a:blip r:embed="rId3"/>
              <a:stretch>
                <a:fillRect l="-5001" t="0" r="-5001" b="0"/>
              </a:stretch>
            </a:blipFill>
          </p:spPr>
        </p:sp>
      </p:grpSp>
      <p:grpSp>
        <p:nvGrpSpPr>
          <p:cNvPr name="Group 6" id="6"/>
          <p:cNvGrpSpPr/>
          <p:nvPr/>
        </p:nvGrpSpPr>
        <p:grpSpPr>
          <a:xfrm rot="0">
            <a:off x="0" y="4717525"/>
            <a:ext cx="7627370" cy="5524612"/>
            <a:chOff x="0" y="0"/>
            <a:chExt cx="10169827" cy="7366150"/>
          </a:xfrm>
        </p:grpSpPr>
        <p:sp>
          <p:nvSpPr>
            <p:cNvPr name="Freeform 7" id="7"/>
            <p:cNvSpPr/>
            <p:nvPr/>
          </p:nvSpPr>
          <p:spPr>
            <a:xfrm flipH="false" flipV="false" rot="0">
              <a:off x="0" y="0"/>
              <a:ext cx="10169827" cy="7366150"/>
            </a:xfrm>
            <a:custGeom>
              <a:avLst/>
              <a:gdLst/>
              <a:ahLst/>
              <a:cxnLst/>
              <a:rect r="r" b="b" t="t" l="l"/>
              <a:pathLst>
                <a:path h="7366150" w="10169827">
                  <a:moveTo>
                    <a:pt x="0" y="0"/>
                  </a:moveTo>
                  <a:lnTo>
                    <a:pt x="10169827" y="0"/>
                  </a:lnTo>
                  <a:lnTo>
                    <a:pt x="10169827" y="7366150"/>
                  </a:lnTo>
                  <a:lnTo>
                    <a:pt x="0" y="7366150"/>
                  </a:lnTo>
                  <a:close/>
                </a:path>
              </a:pathLst>
            </a:custGeom>
            <a:blipFill>
              <a:blip r:embed="rId4"/>
              <a:stretch>
                <a:fillRect l="0" t="0" r="0" b="0"/>
              </a:stretch>
            </a:blipFill>
          </p:spPr>
        </p:sp>
      </p:grpSp>
      <p:grpSp>
        <p:nvGrpSpPr>
          <p:cNvPr name="Group 8" id="8"/>
          <p:cNvGrpSpPr/>
          <p:nvPr/>
        </p:nvGrpSpPr>
        <p:grpSpPr>
          <a:xfrm rot="0">
            <a:off x="8926497" y="8171216"/>
            <a:ext cx="9142214" cy="1782802"/>
            <a:chOff x="0" y="0"/>
            <a:chExt cx="11622660" cy="2266508"/>
          </a:xfrm>
        </p:grpSpPr>
        <p:sp>
          <p:nvSpPr>
            <p:cNvPr name="Freeform 9" id="9"/>
            <p:cNvSpPr/>
            <p:nvPr/>
          </p:nvSpPr>
          <p:spPr>
            <a:xfrm flipH="false" flipV="false" rot="0">
              <a:off x="0" y="0"/>
              <a:ext cx="11622660" cy="2266508"/>
            </a:xfrm>
            <a:custGeom>
              <a:avLst/>
              <a:gdLst/>
              <a:ahLst/>
              <a:cxnLst/>
              <a:rect r="r" b="b" t="t" l="l"/>
              <a:pathLst>
                <a:path h="2266508" w="11622660">
                  <a:moveTo>
                    <a:pt x="0" y="0"/>
                  </a:moveTo>
                  <a:lnTo>
                    <a:pt x="11622660" y="0"/>
                  </a:lnTo>
                  <a:lnTo>
                    <a:pt x="11622660" y="2266508"/>
                  </a:lnTo>
                  <a:lnTo>
                    <a:pt x="0" y="2266508"/>
                  </a:lnTo>
                  <a:close/>
                </a:path>
              </a:pathLst>
            </a:custGeom>
            <a:blipFill>
              <a:blip r:embed="rId5"/>
              <a:stretch>
                <a:fillRect l="0" t="0" r="0" b="0"/>
              </a:stretch>
            </a:blipFill>
          </p:spPr>
        </p:sp>
      </p:grpSp>
      <p:sp>
        <p:nvSpPr>
          <p:cNvPr name="Freeform 10" id="10"/>
          <p:cNvSpPr/>
          <p:nvPr/>
        </p:nvSpPr>
        <p:spPr>
          <a:xfrm flipH="false" flipV="false" rot="0">
            <a:off x="194495" y="42853"/>
            <a:ext cx="2285650" cy="2285650"/>
          </a:xfrm>
          <a:custGeom>
            <a:avLst/>
            <a:gdLst/>
            <a:ahLst/>
            <a:cxnLst/>
            <a:rect r="r" b="b" t="t" l="l"/>
            <a:pathLst>
              <a:path h="2285650" w="2285650">
                <a:moveTo>
                  <a:pt x="0" y="0"/>
                </a:moveTo>
                <a:lnTo>
                  <a:pt x="2285650" y="0"/>
                </a:lnTo>
                <a:lnTo>
                  <a:pt x="2285650" y="2285650"/>
                </a:lnTo>
                <a:lnTo>
                  <a:pt x="0" y="2285650"/>
                </a:lnTo>
                <a:lnTo>
                  <a:pt x="0" y="0"/>
                </a:lnTo>
                <a:close/>
              </a:path>
            </a:pathLst>
          </a:custGeom>
          <a:blipFill>
            <a:blip r:embed="rId6"/>
            <a:stretch>
              <a:fillRect l="0" t="0" r="0" b="0"/>
            </a:stretch>
          </a:blipFill>
        </p:spPr>
      </p:sp>
      <p:sp>
        <p:nvSpPr>
          <p:cNvPr name="Freeform 11" id="11"/>
          <p:cNvSpPr/>
          <p:nvPr/>
        </p:nvSpPr>
        <p:spPr>
          <a:xfrm flipH="false" flipV="false" rot="0">
            <a:off x="5558664" y="441441"/>
            <a:ext cx="6735665" cy="1086126"/>
          </a:xfrm>
          <a:custGeom>
            <a:avLst/>
            <a:gdLst/>
            <a:ahLst/>
            <a:cxnLst/>
            <a:rect r="r" b="b" t="t" l="l"/>
            <a:pathLst>
              <a:path h="1086126" w="6735665">
                <a:moveTo>
                  <a:pt x="0" y="0"/>
                </a:moveTo>
                <a:lnTo>
                  <a:pt x="6735665" y="0"/>
                </a:lnTo>
                <a:lnTo>
                  <a:pt x="6735665" y="1086126"/>
                </a:lnTo>
                <a:lnTo>
                  <a:pt x="0" y="1086126"/>
                </a:lnTo>
                <a:lnTo>
                  <a:pt x="0" y="0"/>
                </a:lnTo>
                <a:close/>
              </a:path>
            </a:pathLst>
          </a:custGeom>
          <a:blipFill>
            <a:blip r:embed="rId7"/>
            <a:stretch>
              <a:fillRect l="0" t="0" r="0" b="0"/>
            </a:stretch>
          </a:blipFill>
        </p:spPr>
      </p:sp>
      <p:sp>
        <p:nvSpPr>
          <p:cNvPr name="TextBox 12" id="12"/>
          <p:cNvSpPr txBox="true"/>
          <p:nvPr/>
        </p:nvSpPr>
        <p:spPr>
          <a:xfrm rot="0">
            <a:off x="5752988" y="4453032"/>
            <a:ext cx="6778453" cy="1539404"/>
          </a:xfrm>
          <a:prstGeom prst="rect">
            <a:avLst/>
          </a:prstGeom>
        </p:spPr>
        <p:txBody>
          <a:bodyPr anchor="t" rtlCol="false" tIns="0" lIns="0" bIns="0" rIns="0">
            <a:spAutoFit/>
          </a:bodyPr>
          <a:lstStyle/>
          <a:p>
            <a:pPr algn="l">
              <a:lnSpc>
                <a:spcPts val="11636"/>
              </a:lnSpc>
            </a:pPr>
            <a:r>
              <a:rPr lang="en-US" sz="11082" b="true">
                <a:solidFill>
                  <a:srgbClr val="1E3653"/>
                </a:solidFill>
                <a:latin typeface="Inter Bold"/>
                <a:ea typeface="Inter Bold"/>
                <a:cs typeface="Inter Bold"/>
                <a:sym typeface="Inter Bold"/>
              </a:rPr>
              <a:t>HuellApp</a:t>
            </a:r>
          </a:p>
        </p:txBody>
      </p:sp>
      <p:sp>
        <p:nvSpPr>
          <p:cNvPr name="TextBox 13" id="13"/>
          <p:cNvSpPr txBox="true"/>
          <p:nvPr/>
        </p:nvSpPr>
        <p:spPr>
          <a:xfrm rot="0">
            <a:off x="9144000" y="8238377"/>
            <a:ext cx="8045148" cy="1438650"/>
          </a:xfrm>
          <a:prstGeom prst="rect">
            <a:avLst/>
          </a:prstGeom>
        </p:spPr>
        <p:txBody>
          <a:bodyPr anchor="t" rtlCol="false" tIns="0" lIns="0" bIns="0" rIns="0">
            <a:spAutoFit/>
          </a:bodyPr>
          <a:lstStyle/>
          <a:p>
            <a:pPr algn="r">
              <a:lnSpc>
                <a:spcPts val="2886"/>
              </a:lnSpc>
            </a:pPr>
            <a:r>
              <a:rPr lang="en-US" sz="2220" b="true">
                <a:solidFill>
                  <a:srgbClr val="1E3653"/>
                </a:solidFill>
                <a:latin typeface="Inter Bold"/>
                <a:ea typeface="Inter Bold"/>
                <a:cs typeface="Inter Bold"/>
                <a:sym typeface="Inter Bold"/>
              </a:rPr>
              <a:t>Pudú Tech LTDA.</a:t>
            </a:r>
          </a:p>
          <a:p>
            <a:pPr algn="r">
              <a:lnSpc>
                <a:spcPts val="2886"/>
              </a:lnSpc>
            </a:pPr>
            <a:r>
              <a:rPr lang="en-US" sz="2220">
                <a:solidFill>
                  <a:srgbClr val="1E3653"/>
                </a:solidFill>
                <a:latin typeface="Inter"/>
                <a:ea typeface="Inter"/>
                <a:cs typeface="Inter"/>
                <a:sym typeface="Inter"/>
              </a:rPr>
              <a:t>Felipe Ferrada P. | Ignacio Mesina L. | Matías Morales I.</a:t>
            </a:r>
          </a:p>
          <a:p>
            <a:pPr algn="r">
              <a:lnSpc>
                <a:spcPts val="2886"/>
              </a:lnSpc>
            </a:pPr>
            <a:r>
              <a:rPr lang="en-US" sz="2220">
                <a:solidFill>
                  <a:srgbClr val="1E3653"/>
                </a:solidFill>
                <a:latin typeface="Inter"/>
                <a:ea typeface="Inter"/>
                <a:cs typeface="Inter"/>
                <a:sym typeface="Inter"/>
              </a:rPr>
              <a:t>Proyecto Capstone Apt – Ingeniería en Informática, Duoc UC</a:t>
            </a:r>
          </a:p>
        </p:txBody>
      </p:sp>
      <p:sp>
        <p:nvSpPr>
          <p:cNvPr name="TextBox 14" id="14"/>
          <p:cNvSpPr txBox="true"/>
          <p:nvPr/>
        </p:nvSpPr>
        <p:spPr>
          <a:xfrm rot="0">
            <a:off x="7841461" y="3765942"/>
            <a:ext cx="2170071" cy="544214"/>
          </a:xfrm>
          <a:prstGeom prst="rect">
            <a:avLst/>
          </a:prstGeom>
        </p:spPr>
        <p:txBody>
          <a:bodyPr anchor="t" rtlCol="false" tIns="0" lIns="0" bIns="0" rIns="0">
            <a:spAutoFit/>
          </a:bodyPr>
          <a:lstStyle/>
          <a:p>
            <a:pPr algn="l">
              <a:lnSpc>
                <a:spcPts val="4236"/>
              </a:lnSpc>
            </a:pPr>
            <a:r>
              <a:rPr lang="en-US" sz="3851">
                <a:solidFill>
                  <a:srgbClr val="1E3653"/>
                </a:solidFill>
                <a:latin typeface="Inter"/>
                <a:ea typeface="Inter"/>
                <a:cs typeface="Inter"/>
                <a:sym typeface="Inter"/>
              </a:rPr>
              <a:t>Proyecto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4428" cy="10199284"/>
            <a:chOff x="0" y="0"/>
            <a:chExt cx="24379238" cy="13599046"/>
          </a:xfrm>
        </p:grpSpPr>
        <p:sp>
          <p:nvSpPr>
            <p:cNvPr name="Freeform 3" id="3"/>
            <p:cNvSpPr/>
            <p:nvPr/>
          </p:nvSpPr>
          <p:spPr>
            <a:xfrm flipH="false" flipV="false" rot="0">
              <a:off x="0" y="0"/>
              <a:ext cx="24379238" cy="13599046"/>
            </a:xfrm>
            <a:custGeom>
              <a:avLst/>
              <a:gdLst/>
              <a:ahLst/>
              <a:cxnLst/>
              <a:rect r="r" b="b" t="t" l="l"/>
              <a:pathLst>
                <a:path h="13599046" w="24379238">
                  <a:moveTo>
                    <a:pt x="0" y="0"/>
                  </a:moveTo>
                  <a:lnTo>
                    <a:pt x="24379238" y="0"/>
                  </a:lnTo>
                  <a:lnTo>
                    <a:pt x="24379238" y="13599046"/>
                  </a:lnTo>
                  <a:lnTo>
                    <a:pt x="0" y="13599046"/>
                  </a:lnTo>
                  <a:close/>
                </a:path>
              </a:pathLst>
            </a:custGeom>
            <a:blipFill>
              <a:blip r:embed="rId2"/>
              <a:stretch>
                <a:fillRect l="0" t="0" r="0" b="0"/>
              </a:stretch>
            </a:blipFill>
          </p:spPr>
        </p:sp>
      </p:grpSp>
      <p:sp>
        <p:nvSpPr>
          <p:cNvPr name="TextBox 4" id="4"/>
          <p:cNvSpPr txBox="true"/>
          <p:nvPr/>
        </p:nvSpPr>
        <p:spPr>
          <a:xfrm rot="0">
            <a:off x="863727" y="432097"/>
            <a:ext cx="12881699" cy="676275"/>
          </a:xfrm>
          <a:prstGeom prst="rect">
            <a:avLst/>
          </a:prstGeom>
        </p:spPr>
        <p:txBody>
          <a:bodyPr anchor="t" rtlCol="false" tIns="0" lIns="0" bIns="0" rIns="0">
            <a:spAutoFit/>
          </a:bodyPr>
          <a:lstStyle/>
          <a:p>
            <a:pPr algn="l">
              <a:lnSpc>
                <a:spcPts val="5392"/>
              </a:lnSpc>
            </a:pPr>
            <a:r>
              <a:rPr lang="en-US" sz="4494" b="true">
                <a:solidFill>
                  <a:srgbClr val="2D3E59"/>
                </a:solidFill>
                <a:latin typeface="DM Sans Bold"/>
                <a:ea typeface="DM Sans Bold"/>
                <a:cs typeface="DM Sans Bold"/>
                <a:sym typeface="DM Sans Bold"/>
              </a:rPr>
              <a:t>Pudú Tech:  Arquitectos Digitales del Proyecto</a:t>
            </a:r>
          </a:p>
        </p:txBody>
      </p:sp>
      <p:sp>
        <p:nvSpPr>
          <p:cNvPr name="TextBox 5" id="5"/>
          <p:cNvSpPr txBox="true"/>
          <p:nvPr/>
        </p:nvSpPr>
        <p:spPr>
          <a:xfrm rot="0">
            <a:off x="917623" y="1822612"/>
            <a:ext cx="16236572" cy="1190625"/>
          </a:xfrm>
          <a:prstGeom prst="rect">
            <a:avLst/>
          </a:prstGeom>
        </p:spPr>
        <p:txBody>
          <a:bodyPr anchor="t" rtlCol="false" tIns="0" lIns="0" bIns="0" rIns="0">
            <a:spAutoFit/>
          </a:bodyPr>
          <a:lstStyle/>
          <a:p>
            <a:pPr algn="l">
              <a:lnSpc>
                <a:spcPts val="3198"/>
              </a:lnSpc>
            </a:pPr>
            <a:r>
              <a:rPr lang="en-US" sz="2665">
                <a:solidFill>
                  <a:srgbClr val="000000"/>
                </a:solidFill>
                <a:latin typeface="DM Sans"/>
                <a:ea typeface="DM Sans"/>
                <a:cs typeface="DM Sans"/>
                <a:sym typeface="DM Sans"/>
              </a:rPr>
              <a:t>Transformamos las necesidades de Fundación Huella en una plataforma web responsiva, asumiendo la ejecución tecnológica completa (diseño, desarrollo, pruebas y gestión) para que la Fundación se enfoque en su impacto social.</a:t>
            </a:r>
          </a:p>
        </p:txBody>
      </p:sp>
      <p:sp>
        <p:nvSpPr>
          <p:cNvPr name="TextBox 6" id="6"/>
          <p:cNvSpPr txBox="true"/>
          <p:nvPr/>
        </p:nvSpPr>
        <p:spPr>
          <a:xfrm rot="0">
            <a:off x="6641396" y="3508537"/>
            <a:ext cx="4789026" cy="542958"/>
          </a:xfrm>
          <a:prstGeom prst="rect">
            <a:avLst/>
          </a:prstGeom>
        </p:spPr>
        <p:txBody>
          <a:bodyPr anchor="t" rtlCol="false" tIns="0" lIns="0" bIns="0" rIns="0">
            <a:spAutoFit/>
          </a:bodyPr>
          <a:lstStyle/>
          <a:p>
            <a:pPr algn="ctr">
              <a:lnSpc>
                <a:spcPts val="4384"/>
              </a:lnSpc>
            </a:pPr>
            <a:r>
              <a:rPr lang="en-US" sz="3653" b="true">
                <a:solidFill>
                  <a:srgbClr val="2D3E59"/>
                </a:solidFill>
                <a:latin typeface="DM Sans Bold"/>
                <a:ea typeface="DM Sans Bold"/>
                <a:cs typeface="DM Sans Bold"/>
                <a:sym typeface="DM Sans Bold"/>
              </a:rPr>
              <a:t>Squad Setup</a:t>
            </a:r>
          </a:p>
        </p:txBody>
      </p:sp>
      <p:grpSp>
        <p:nvGrpSpPr>
          <p:cNvPr name="Group 7" id="7"/>
          <p:cNvGrpSpPr/>
          <p:nvPr/>
        </p:nvGrpSpPr>
        <p:grpSpPr>
          <a:xfrm rot="0">
            <a:off x="651117" y="3867585"/>
            <a:ext cx="5886629" cy="5737097"/>
            <a:chOff x="0" y="0"/>
            <a:chExt cx="7848839" cy="7649463"/>
          </a:xfrm>
        </p:grpSpPr>
        <p:sp>
          <p:nvSpPr>
            <p:cNvPr name="Freeform 8" id="8"/>
            <p:cNvSpPr/>
            <p:nvPr/>
          </p:nvSpPr>
          <p:spPr>
            <a:xfrm flipH="false" flipV="false" rot="0">
              <a:off x="0" y="0"/>
              <a:ext cx="7848839" cy="7649463"/>
            </a:xfrm>
            <a:custGeom>
              <a:avLst/>
              <a:gdLst/>
              <a:ahLst/>
              <a:cxnLst/>
              <a:rect r="r" b="b" t="t" l="l"/>
              <a:pathLst>
                <a:path h="7649463" w="7848839">
                  <a:moveTo>
                    <a:pt x="0" y="0"/>
                  </a:moveTo>
                  <a:lnTo>
                    <a:pt x="7848839" y="0"/>
                  </a:lnTo>
                  <a:lnTo>
                    <a:pt x="7848839" y="7649463"/>
                  </a:lnTo>
                  <a:lnTo>
                    <a:pt x="0" y="7649463"/>
                  </a:lnTo>
                  <a:close/>
                </a:path>
              </a:pathLst>
            </a:custGeom>
            <a:blipFill>
              <a:blip r:embed="rId3"/>
              <a:stretch>
                <a:fillRect l="0" t="0" r="0" b="0"/>
              </a:stretch>
            </a:blipFill>
          </p:spPr>
        </p:sp>
      </p:grpSp>
      <p:grpSp>
        <p:nvGrpSpPr>
          <p:cNvPr name="Group 9" id="9"/>
          <p:cNvGrpSpPr/>
          <p:nvPr/>
        </p:nvGrpSpPr>
        <p:grpSpPr>
          <a:xfrm rot="0">
            <a:off x="863727" y="4080070"/>
            <a:ext cx="5461410" cy="5312127"/>
            <a:chOff x="0" y="0"/>
            <a:chExt cx="7281880" cy="7082836"/>
          </a:xfrm>
        </p:grpSpPr>
        <p:sp>
          <p:nvSpPr>
            <p:cNvPr name="Freeform 10" id="10"/>
            <p:cNvSpPr/>
            <p:nvPr/>
          </p:nvSpPr>
          <p:spPr>
            <a:xfrm flipH="false" flipV="false" rot="0">
              <a:off x="0" y="0"/>
              <a:ext cx="7281880" cy="7082837"/>
            </a:xfrm>
            <a:custGeom>
              <a:avLst/>
              <a:gdLst/>
              <a:ahLst/>
              <a:cxnLst/>
              <a:rect r="r" b="b" t="t" l="l"/>
              <a:pathLst>
                <a:path h="7082837" w="7281880">
                  <a:moveTo>
                    <a:pt x="0" y="0"/>
                  </a:moveTo>
                  <a:lnTo>
                    <a:pt x="7281880" y="0"/>
                  </a:lnTo>
                  <a:lnTo>
                    <a:pt x="7281880" y="7082837"/>
                  </a:lnTo>
                  <a:lnTo>
                    <a:pt x="0" y="7082837"/>
                  </a:lnTo>
                  <a:close/>
                </a:path>
              </a:pathLst>
            </a:custGeom>
            <a:blipFill>
              <a:blip r:embed="rId4"/>
              <a:stretch>
                <a:fillRect l="0" t="0" r="0" b="0"/>
              </a:stretch>
            </a:blipFill>
          </p:spPr>
        </p:sp>
      </p:grpSp>
      <p:grpSp>
        <p:nvGrpSpPr>
          <p:cNvPr name="Group 11" id="11"/>
          <p:cNvGrpSpPr/>
          <p:nvPr/>
        </p:nvGrpSpPr>
        <p:grpSpPr>
          <a:xfrm rot="0">
            <a:off x="2391858" y="4505040"/>
            <a:ext cx="2405146" cy="1487396"/>
            <a:chOff x="0" y="0"/>
            <a:chExt cx="3206862" cy="1983194"/>
          </a:xfrm>
        </p:grpSpPr>
        <p:sp>
          <p:nvSpPr>
            <p:cNvPr name="Freeform 12" id="12"/>
            <p:cNvSpPr/>
            <p:nvPr/>
          </p:nvSpPr>
          <p:spPr>
            <a:xfrm flipH="false" flipV="false" rot="0">
              <a:off x="0" y="0"/>
              <a:ext cx="3206862" cy="1983194"/>
            </a:xfrm>
            <a:custGeom>
              <a:avLst/>
              <a:gdLst/>
              <a:ahLst/>
              <a:cxnLst/>
              <a:rect r="r" b="b" t="t" l="l"/>
              <a:pathLst>
                <a:path h="1983194" w="3206862">
                  <a:moveTo>
                    <a:pt x="0" y="0"/>
                  </a:moveTo>
                  <a:lnTo>
                    <a:pt x="3206862" y="0"/>
                  </a:lnTo>
                  <a:lnTo>
                    <a:pt x="3206862" y="1983194"/>
                  </a:lnTo>
                  <a:lnTo>
                    <a:pt x="0" y="1983194"/>
                  </a:lnTo>
                  <a:close/>
                </a:path>
              </a:pathLst>
            </a:custGeom>
            <a:blipFill>
              <a:blip r:embed="rId5"/>
              <a:stretch>
                <a:fillRect l="0" t="0" r="0" b="0"/>
              </a:stretch>
            </a:blipFill>
          </p:spPr>
        </p:sp>
      </p:grpSp>
      <p:sp>
        <p:nvSpPr>
          <p:cNvPr name="TextBox 13" id="13"/>
          <p:cNvSpPr txBox="true"/>
          <p:nvPr/>
        </p:nvSpPr>
        <p:spPr>
          <a:xfrm rot="0">
            <a:off x="1609030" y="6481842"/>
            <a:ext cx="3967721" cy="409575"/>
          </a:xfrm>
          <a:prstGeom prst="rect">
            <a:avLst/>
          </a:prstGeom>
        </p:spPr>
        <p:txBody>
          <a:bodyPr anchor="t" rtlCol="false" tIns="0" lIns="0" bIns="0" rIns="0">
            <a:spAutoFit/>
          </a:bodyPr>
          <a:lstStyle/>
          <a:p>
            <a:pPr algn="ctr">
              <a:lnSpc>
                <a:spcPts val="3257"/>
              </a:lnSpc>
            </a:pPr>
            <a:r>
              <a:rPr lang="en-US" sz="2714" b="true">
                <a:solidFill>
                  <a:srgbClr val="000000"/>
                </a:solidFill>
                <a:latin typeface="DM Sans Bold"/>
                <a:ea typeface="DM Sans Bold"/>
                <a:cs typeface="DM Sans Bold"/>
                <a:sym typeface="DM Sans Bold"/>
              </a:rPr>
              <a:t>Felipe Ferrada Pacheco</a:t>
            </a:r>
          </a:p>
        </p:txBody>
      </p:sp>
      <p:sp>
        <p:nvSpPr>
          <p:cNvPr name="TextBox 14" id="14"/>
          <p:cNvSpPr txBox="true"/>
          <p:nvPr/>
        </p:nvSpPr>
        <p:spPr>
          <a:xfrm rot="0">
            <a:off x="2194131" y="6933213"/>
            <a:ext cx="2852371" cy="342900"/>
          </a:xfrm>
          <a:prstGeom prst="rect">
            <a:avLst/>
          </a:prstGeom>
        </p:spPr>
        <p:txBody>
          <a:bodyPr anchor="t" rtlCol="false" tIns="0" lIns="0" bIns="0" rIns="0">
            <a:spAutoFit/>
          </a:bodyPr>
          <a:lstStyle/>
          <a:p>
            <a:pPr algn="ctr">
              <a:lnSpc>
                <a:spcPts val="2723"/>
              </a:lnSpc>
            </a:pPr>
            <a:r>
              <a:rPr lang="en-US" sz="2269">
                <a:solidFill>
                  <a:srgbClr val="000000"/>
                </a:solidFill>
                <a:latin typeface="DM Sans"/>
                <a:ea typeface="DM Sans"/>
                <a:cs typeface="DM Sans"/>
                <a:sym typeface="DM Sans"/>
              </a:rPr>
              <a:t>Gerente de Proyecto</a:t>
            </a:r>
          </a:p>
        </p:txBody>
      </p:sp>
      <p:sp>
        <p:nvSpPr>
          <p:cNvPr name="TextBox 15" id="15"/>
          <p:cNvSpPr txBox="true"/>
          <p:nvPr/>
        </p:nvSpPr>
        <p:spPr>
          <a:xfrm rot="0">
            <a:off x="1846727" y="7644179"/>
            <a:ext cx="3656886" cy="1076700"/>
          </a:xfrm>
          <a:prstGeom prst="rect">
            <a:avLst/>
          </a:prstGeom>
        </p:spPr>
        <p:txBody>
          <a:bodyPr anchor="t" rtlCol="false" tIns="0" lIns="0" bIns="0" rIns="0">
            <a:spAutoFit/>
          </a:bodyPr>
          <a:lstStyle/>
          <a:p>
            <a:pPr algn="ctr">
              <a:lnSpc>
                <a:spcPts val="2886"/>
              </a:lnSpc>
            </a:pPr>
            <a:r>
              <a:rPr lang="en-US" sz="2220">
                <a:solidFill>
                  <a:srgbClr val="000000"/>
                </a:solidFill>
                <a:latin typeface="DM Sans"/>
                <a:ea typeface="DM Sans"/>
                <a:cs typeface="DM Sans"/>
                <a:sym typeface="DM Sans"/>
              </a:rPr>
              <a:t>Foco: Planificación, riesgos, comunicación y control de alcance.</a:t>
            </a:r>
          </a:p>
        </p:txBody>
      </p:sp>
      <p:grpSp>
        <p:nvGrpSpPr>
          <p:cNvPr name="Group 16" id="16"/>
          <p:cNvGrpSpPr/>
          <p:nvPr/>
        </p:nvGrpSpPr>
        <p:grpSpPr>
          <a:xfrm rot="0">
            <a:off x="6311848" y="3867585"/>
            <a:ext cx="5660731" cy="5737097"/>
            <a:chOff x="0" y="0"/>
            <a:chExt cx="7547642" cy="7649463"/>
          </a:xfrm>
        </p:grpSpPr>
        <p:sp>
          <p:nvSpPr>
            <p:cNvPr name="Freeform 17" id="17"/>
            <p:cNvSpPr/>
            <p:nvPr/>
          </p:nvSpPr>
          <p:spPr>
            <a:xfrm flipH="false" flipV="false" rot="0">
              <a:off x="0" y="0"/>
              <a:ext cx="7547642" cy="7649463"/>
            </a:xfrm>
            <a:custGeom>
              <a:avLst/>
              <a:gdLst/>
              <a:ahLst/>
              <a:cxnLst/>
              <a:rect r="r" b="b" t="t" l="l"/>
              <a:pathLst>
                <a:path h="7649463" w="7547642">
                  <a:moveTo>
                    <a:pt x="0" y="0"/>
                  </a:moveTo>
                  <a:lnTo>
                    <a:pt x="7547642" y="0"/>
                  </a:lnTo>
                  <a:lnTo>
                    <a:pt x="7547642" y="7649463"/>
                  </a:lnTo>
                  <a:lnTo>
                    <a:pt x="0" y="7649463"/>
                  </a:lnTo>
                  <a:close/>
                </a:path>
              </a:pathLst>
            </a:custGeom>
            <a:blipFill>
              <a:blip r:embed="rId6"/>
              <a:stretch>
                <a:fillRect l="0" t="0" r="0" b="0"/>
              </a:stretch>
            </a:blipFill>
          </p:spPr>
        </p:sp>
      </p:grpSp>
      <p:grpSp>
        <p:nvGrpSpPr>
          <p:cNvPr name="Group 18" id="18"/>
          <p:cNvGrpSpPr/>
          <p:nvPr/>
        </p:nvGrpSpPr>
        <p:grpSpPr>
          <a:xfrm rot="0">
            <a:off x="6311848" y="4080070"/>
            <a:ext cx="5448122" cy="5312127"/>
            <a:chOff x="0" y="0"/>
            <a:chExt cx="7264162" cy="7082836"/>
          </a:xfrm>
        </p:grpSpPr>
        <p:sp>
          <p:nvSpPr>
            <p:cNvPr name="Freeform 19" id="19"/>
            <p:cNvSpPr/>
            <p:nvPr/>
          </p:nvSpPr>
          <p:spPr>
            <a:xfrm flipH="false" flipV="false" rot="0">
              <a:off x="0" y="0"/>
              <a:ext cx="7264162" cy="7082837"/>
            </a:xfrm>
            <a:custGeom>
              <a:avLst/>
              <a:gdLst/>
              <a:ahLst/>
              <a:cxnLst/>
              <a:rect r="r" b="b" t="t" l="l"/>
              <a:pathLst>
                <a:path h="7082837" w="7264162">
                  <a:moveTo>
                    <a:pt x="0" y="0"/>
                  </a:moveTo>
                  <a:lnTo>
                    <a:pt x="7264162" y="0"/>
                  </a:lnTo>
                  <a:lnTo>
                    <a:pt x="7264162" y="7082837"/>
                  </a:lnTo>
                  <a:lnTo>
                    <a:pt x="0" y="7082837"/>
                  </a:lnTo>
                  <a:close/>
                </a:path>
              </a:pathLst>
            </a:custGeom>
            <a:blipFill>
              <a:blip r:embed="rId7"/>
              <a:stretch>
                <a:fillRect l="0" t="0" r="0" b="0"/>
              </a:stretch>
            </a:blipFill>
          </p:spPr>
        </p:sp>
      </p:grpSp>
      <p:grpSp>
        <p:nvGrpSpPr>
          <p:cNvPr name="Group 20" id="20"/>
          <p:cNvGrpSpPr/>
          <p:nvPr/>
        </p:nvGrpSpPr>
        <p:grpSpPr>
          <a:xfrm rot="0">
            <a:off x="8265199" y="4505040"/>
            <a:ext cx="1754029" cy="1487396"/>
            <a:chOff x="0" y="0"/>
            <a:chExt cx="2338706" cy="1983194"/>
          </a:xfrm>
        </p:grpSpPr>
        <p:sp>
          <p:nvSpPr>
            <p:cNvPr name="Freeform 21" id="21"/>
            <p:cNvSpPr/>
            <p:nvPr/>
          </p:nvSpPr>
          <p:spPr>
            <a:xfrm flipH="false" flipV="false" rot="0">
              <a:off x="0" y="0"/>
              <a:ext cx="2338706" cy="1983194"/>
            </a:xfrm>
            <a:custGeom>
              <a:avLst/>
              <a:gdLst/>
              <a:ahLst/>
              <a:cxnLst/>
              <a:rect r="r" b="b" t="t" l="l"/>
              <a:pathLst>
                <a:path h="1983194" w="2338706">
                  <a:moveTo>
                    <a:pt x="0" y="0"/>
                  </a:moveTo>
                  <a:lnTo>
                    <a:pt x="2338706" y="0"/>
                  </a:lnTo>
                  <a:lnTo>
                    <a:pt x="2338706" y="1983194"/>
                  </a:lnTo>
                  <a:lnTo>
                    <a:pt x="0" y="1983194"/>
                  </a:lnTo>
                  <a:close/>
                </a:path>
              </a:pathLst>
            </a:custGeom>
            <a:blipFill>
              <a:blip r:embed="rId8"/>
              <a:stretch>
                <a:fillRect l="0" t="0" r="0" b="0"/>
              </a:stretch>
            </a:blipFill>
          </p:spPr>
        </p:sp>
      </p:grpSp>
      <p:sp>
        <p:nvSpPr>
          <p:cNvPr name="TextBox 22" id="22"/>
          <p:cNvSpPr txBox="true"/>
          <p:nvPr/>
        </p:nvSpPr>
        <p:spPr>
          <a:xfrm rot="0">
            <a:off x="7149211" y="6475202"/>
            <a:ext cx="3986005" cy="428625"/>
          </a:xfrm>
          <a:prstGeom prst="rect">
            <a:avLst/>
          </a:prstGeom>
        </p:spPr>
        <p:txBody>
          <a:bodyPr anchor="t" rtlCol="false" tIns="0" lIns="0" bIns="0" rIns="0">
            <a:spAutoFit/>
          </a:bodyPr>
          <a:lstStyle/>
          <a:p>
            <a:pPr algn="ctr">
              <a:lnSpc>
                <a:spcPts val="3435"/>
              </a:lnSpc>
            </a:pPr>
            <a:r>
              <a:rPr lang="en-US" sz="2862" b="true">
                <a:solidFill>
                  <a:srgbClr val="000000"/>
                </a:solidFill>
                <a:latin typeface="DM Sans Bold"/>
                <a:ea typeface="DM Sans Bold"/>
                <a:cs typeface="DM Sans Bold"/>
                <a:sym typeface="DM Sans Bold"/>
              </a:rPr>
              <a:t>Matias Morales Inzulza</a:t>
            </a:r>
          </a:p>
        </p:txBody>
      </p:sp>
      <p:sp>
        <p:nvSpPr>
          <p:cNvPr name="TextBox 23" id="23"/>
          <p:cNvSpPr txBox="true"/>
          <p:nvPr/>
        </p:nvSpPr>
        <p:spPr>
          <a:xfrm rot="0">
            <a:off x="8173139" y="6942738"/>
            <a:ext cx="1938149" cy="342900"/>
          </a:xfrm>
          <a:prstGeom prst="rect">
            <a:avLst/>
          </a:prstGeom>
        </p:spPr>
        <p:txBody>
          <a:bodyPr anchor="t" rtlCol="false" tIns="0" lIns="0" bIns="0" rIns="0">
            <a:spAutoFit/>
          </a:bodyPr>
          <a:lstStyle/>
          <a:p>
            <a:pPr algn="ctr">
              <a:lnSpc>
                <a:spcPts val="2783"/>
              </a:lnSpc>
            </a:pPr>
            <a:r>
              <a:rPr lang="en-US" sz="2319">
                <a:solidFill>
                  <a:srgbClr val="000000"/>
                </a:solidFill>
                <a:latin typeface="DM Sans"/>
                <a:ea typeface="DM Sans"/>
                <a:cs typeface="DM Sans"/>
                <a:sym typeface="DM Sans"/>
              </a:rPr>
              <a:t>Scrum Master</a:t>
            </a:r>
          </a:p>
        </p:txBody>
      </p:sp>
      <p:sp>
        <p:nvSpPr>
          <p:cNvPr name="TextBox 24" id="24"/>
          <p:cNvSpPr txBox="true"/>
          <p:nvPr/>
        </p:nvSpPr>
        <p:spPr>
          <a:xfrm rot="0">
            <a:off x="6984652" y="7644179"/>
            <a:ext cx="4315125" cy="1076700"/>
          </a:xfrm>
          <a:prstGeom prst="rect">
            <a:avLst/>
          </a:prstGeom>
        </p:spPr>
        <p:txBody>
          <a:bodyPr anchor="t" rtlCol="false" tIns="0" lIns="0" bIns="0" rIns="0">
            <a:spAutoFit/>
          </a:bodyPr>
          <a:lstStyle/>
          <a:p>
            <a:pPr algn="ctr">
              <a:lnSpc>
                <a:spcPts val="2886"/>
              </a:lnSpc>
            </a:pPr>
            <a:r>
              <a:rPr lang="en-US" sz="2220">
                <a:solidFill>
                  <a:srgbClr val="000000"/>
                </a:solidFill>
                <a:latin typeface="DM Sans"/>
                <a:ea typeface="DM Sans"/>
                <a:cs typeface="DM Sans"/>
                <a:sym typeface="DM Sans"/>
              </a:rPr>
              <a:t>Foco: Facilitación, metodologías ágiles, remoción de impedimentos y priorización.</a:t>
            </a:r>
          </a:p>
        </p:txBody>
      </p:sp>
      <p:grpSp>
        <p:nvGrpSpPr>
          <p:cNvPr name="Group 25" id="25"/>
          <p:cNvGrpSpPr/>
          <p:nvPr/>
        </p:nvGrpSpPr>
        <p:grpSpPr>
          <a:xfrm rot="0">
            <a:off x="11746682" y="3867585"/>
            <a:ext cx="5886629" cy="5737097"/>
            <a:chOff x="0" y="0"/>
            <a:chExt cx="7848839" cy="7649463"/>
          </a:xfrm>
        </p:grpSpPr>
        <p:sp>
          <p:nvSpPr>
            <p:cNvPr name="Freeform 26" id="26"/>
            <p:cNvSpPr/>
            <p:nvPr/>
          </p:nvSpPr>
          <p:spPr>
            <a:xfrm flipH="false" flipV="false" rot="0">
              <a:off x="0" y="0"/>
              <a:ext cx="7848839" cy="7649463"/>
            </a:xfrm>
            <a:custGeom>
              <a:avLst/>
              <a:gdLst/>
              <a:ahLst/>
              <a:cxnLst/>
              <a:rect r="r" b="b" t="t" l="l"/>
              <a:pathLst>
                <a:path h="7649463" w="7848839">
                  <a:moveTo>
                    <a:pt x="0" y="0"/>
                  </a:moveTo>
                  <a:lnTo>
                    <a:pt x="7848839" y="0"/>
                  </a:lnTo>
                  <a:lnTo>
                    <a:pt x="7848839" y="7649463"/>
                  </a:lnTo>
                  <a:lnTo>
                    <a:pt x="0" y="7649463"/>
                  </a:lnTo>
                  <a:close/>
                </a:path>
              </a:pathLst>
            </a:custGeom>
            <a:blipFill>
              <a:blip r:embed="rId9"/>
              <a:stretch>
                <a:fillRect l="0" t="0" r="0" b="0"/>
              </a:stretch>
            </a:blipFill>
          </p:spPr>
        </p:sp>
      </p:grpSp>
      <p:grpSp>
        <p:nvGrpSpPr>
          <p:cNvPr name="Group 27" id="27"/>
          <p:cNvGrpSpPr/>
          <p:nvPr/>
        </p:nvGrpSpPr>
        <p:grpSpPr>
          <a:xfrm rot="0">
            <a:off x="11959292" y="4080070"/>
            <a:ext cx="5461410" cy="5312127"/>
            <a:chOff x="0" y="0"/>
            <a:chExt cx="7281880" cy="7082836"/>
          </a:xfrm>
        </p:grpSpPr>
        <p:sp>
          <p:nvSpPr>
            <p:cNvPr name="Freeform 28" id="28"/>
            <p:cNvSpPr/>
            <p:nvPr/>
          </p:nvSpPr>
          <p:spPr>
            <a:xfrm flipH="false" flipV="false" rot="0">
              <a:off x="0" y="0"/>
              <a:ext cx="7281880" cy="7082837"/>
            </a:xfrm>
            <a:custGeom>
              <a:avLst/>
              <a:gdLst/>
              <a:ahLst/>
              <a:cxnLst/>
              <a:rect r="r" b="b" t="t" l="l"/>
              <a:pathLst>
                <a:path h="7082837" w="7281880">
                  <a:moveTo>
                    <a:pt x="0" y="0"/>
                  </a:moveTo>
                  <a:lnTo>
                    <a:pt x="7281880" y="0"/>
                  </a:lnTo>
                  <a:lnTo>
                    <a:pt x="7281880" y="7082837"/>
                  </a:lnTo>
                  <a:lnTo>
                    <a:pt x="0" y="7082837"/>
                  </a:lnTo>
                  <a:close/>
                </a:path>
              </a:pathLst>
            </a:custGeom>
            <a:blipFill>
              <a:blip r:embed="rId10"/>
              <a:stretch>
                <a:fillRect l="0" t="0" r="0" b="0"/>
              </a:stretch>
            </a:blipFill>
          </p:spPr>
        </p:sp>
      </p:grpSp>
      <p:grpSp>
        <p:nvGrpSpPr>
          <p:cNvPr name="Group 29" id="29"/>
          <p:cNvGrpSpPr/>
          <p:nvPr/>
        </p:nvGrpSpPr>
        <p:grpSpPr>
          <a:xfrm rot="0">
            <a:off x="13487423" y="4505040"/>
            <a:ext cx="2405146" cy="1487396"/>
            <a:chOff x="0" y="0"/>
            <a:chExt cx="3206862" cy="1983194"/>
          </a:xfrm>
        </p:grpSpPr>
        <p:sp>
          <p:nvSpPr>
            <p:cNvPr name="Freeform 30" id="30"/>
            <p:cNvSpPr/>
            <p:nvPr/>
          </p:nvSpPr>
          <p:spPr>
            <a:xfrm flipH="false" flipV="false" rot="0">
              <a:off x="0" y="0"/>
              <a:ext cx="3206862" cy="1983194"/>
            </a:xfrm>
            <a:custGeom>
              <a:avLst/>
              <a:gdLst/>
              <a:ahLst/>
              <a:cxnLst/>
              <a:rect r="r" b="b" t="t" l="l"/>
              <a:pathLst>
                <a:path h="1983194" w="3206862">
                  <a:moveTo>
                    <a:pt x="0" y="0"/>
                  </a:moveTo>
                  <a:lnTo>
                    <a:pt x="3206862" y="0"/>
                  </a:lnTo>
                  <a:lnTo>
                    <a:pt x="3206862" y="1983194"/>
                  </a:lnTo>
                  <a:lnTo>
                    <a:pt x="0" y="1983194"/>
                  </a:lnTo>
                  <a:close/>
                </a:path>
              </a:pathLst>
            </a:custGeom>
            <a:blipFill>
              <a:blip r:embed="rId11"/>
              <a:stretch>
                <a:fillRect l="0" t="0" r="0" b="0"/>
              </a:stretch>
            </a:blipFill>
          </p:spPr>
        </p:sp>
      </p:grpSp>
      <p:sp>
        <p:nvSpPr>
          <p:cNvPr name="TextBox 31" id="31"/>
          <p:cNvSpPr txBox="true"/>
          <p:nvPr/>
        </p:nvSpPr>
        <p:spPr>
          <a:xfrm rot="0">
            <a:off x="12908806" y="6475202"/>
            <a:ext cx="3510610" cy="428625"/>
          </a:xfrm>
          <a:prstGeom prst="rect">
            <a:avLst/>
          </a:prstGeom>
        </p:spPr>
        <p:txBody>
          <a:bodyPr anchor="t" rtlCol="false" tIns="0" lIns="0" bIns="0" rIns="0">
            <a:spAutoFit/>
          </a:bodyPr>
          <a:lstStyle/>
          <a:p>
            <a:pPr algn="ctr">
              <a:lnSpc>
                <a:spcPts val="3376"/>
              </a:lnSpc>
            </a:pPr>
            <a:r>
              <a:rPr lang="en-US" sz="2813" b="true">
                <a:solidFill>
                  <a:srgbClr val="000000"/>
                </a:solidFill>
                <a:latin typeface="DM Sans Bold"/>
                <a:ea typeface="DM Sans Bold"/>
                <a:cs typeface="DM Sans Bold"/>
                <a:sym typeface="DM Sans Bold"/>
              </a:rPr>
              <a:t>Ignacio Mesina Luna</a:t>
            </a:r>
          </a:p>
        </p:txBody>
      </p:sp>
      <p:sp>
        <p:nvSpPr>
          <p:cNvPr name="TextBox 32" id="32"/>
          <p:cNvSpPr txBox="true"/>
          <p:nvPr/>
        </p:nvSpPr>
        <p:spPr>
          <a:xfrm rot="0">
            <a:off x="13036797" y="6926573"/>
            <a:ext cx="3218059" cy="352425"/>
          </a:xfrm>
          <a:prstGeom prst="rect">
            <a:avLst/>
          </a:prstGeom>
        </p:spPr>
        <p:txBody>
          <a:bodyPr anchor="t" rtlCol="false" tIns="0" lIns="0" bIns="0" rIns="0">
            <a:spAutoFit/>
          </a:bodyPr>
          <a:lstStyle/>
          <a:p>
            <a:pPr algn="ctr">
              <a:lnSpc>
                <a:spcPts val="2842"/>
              </a:lnSpc>
            </a:pPr>
            <a:r>
              <a:rPr lang="en-US" sz="2368">
                <a:solidFill>
                  <a:srgbClr val="000000"/>
                </a:solidFill>
                <a:latin typeface="DM Sans"/>
                <a:ea typeface="DM Sans"/>
                <a:cs typeface="DM Sans"/>
                <a:sym typeface="DM Sans"/>
              </a:rPr>
              <a:t>Ingeniero en Desarrollo</a:t>
            </a:r>
          </a:p>
        </p:txBody>
      </p:sp>
      <p:sp>
        <p:nvSpPr>
          <p:cNvPr name="TextBox 33" id="33"/>
          <p:cNvSpPr txBox="true"/>
          <p:nvPr/>
        </p:nvSpPr>
        <p:spPr>
          <a:xfrm rot="0">
            <a:off x="12341989" y="7654260"/>
            <a:ext cx="4607676" cy="1058278"/>
          </a:xfrm>
          <a:prstGeom prst="rect">
            <a:avLst/>
          </a:prstGeom>
        </p:spPr>
        <p:txBody>
          <a:bodyPr anchor="t" rtlCol="false" tIns="0" lIns="0" bIns="0" rIns="0">
            <a:spAutoFit/>
          </a:bodyPr>
          <a:lstStyle/>
          <a:p>
            <a:pPr algn="ctr">
              <a:lnSpc>
                <a:spcPts val="2822"/>
              </a:lnSpc>
            </a:pPr>
            <a:r>
              <a:rPr lang="en-US" sz="2171">
                <a:solidFill>
                  <a:srgbClr val="000000"/>
                </a:solidFill>
                <a:latin typeface="DM Sans"/>
                <a:ea typeface="DM Sans"/>
                <a:cs typeface="DM Sans"/>
                <a:sym typeface="DM Sans"/>
              </a:rPr>
              <a:t>Foco: Arquitectura, integración técnica, decisiones de programación y diseño de pruebas.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4428" cy="10242137"/>
            <a:chOff x="0" y="0"/>
            <a:chExt cx="24379238" cy="13656183"/>
          </a:xfrm>
        </p:grpSpPr>
        <p:sp>
          <p:nvSpPr>
            <p:cNvPr name="Freeform 3" id="3"/>
            <p:cNvSpPr/>
            <p:nvPr/>
          </p:nvSpPr>
          <p:spPr>
            <a:xfrm flipH="false" flipV="false" rot="0">
              <a:off x="0" y="0"/>
              <a:ext cx="24379238" cy="13656183"/>
            </a:xfrm>
            <a:custGeom>
              <a:avLst/>
              <a:gdLst/>
              <a:ahLst/>
              <a:cxnLst/>
              <a:rect r="r" b="b" t="t" l="l"/>
              <a:pathLst>
                <a:path h="13656183" w="24379238">
                  <a:moveTo>
                    <a:pt x="0" y="0"/>
                  </a:moveTo>
                  <a:lnTo>
                    <a:pt x="24379238" y="0"/>
                  </a:lnTo>
                  <a:lnTo>
                    <a:pt x="24379238" y="13656183"/>
                  </a:lnTo>
                  <a:lnTo>
                    <a:pt x="0" y="13656183"/>
                  </a:lnTo>
                  <a:close/>
                </a:path>
              </a:pathLst>
            </a:custGeom>
            <a:blipFill>
              <a:blip r:embed="rId2"/>
              <a:stretch>
                <a:fillRect l="-210" t="0" r="-210" b="0"/>
              </a:stretch>
            </a:blipFill>
          </p:spPr>
        </p:sp>
      </p:grpSp>
      <p:sp>
        <p:nvSpPr>
          <p:cNvPr name="TextBox 4" id="4"/>
          <p:cNvSpPr txBox="true"/>
          <p:nvPr/>
        </p:nvSpPr>
        <p:spPr>
          <a:xfrm rot="0">
            <a:off x="716176" y="450989"/>
            <a:ext cx="15614902" cy="676275"/>
          </a:xfrm>
          <a:prstGeom prst="rect">
            <a:avLst/>
          </a:prstGeom>
        </p:spPr>
        <p:txBody>
          <a:bodyPr anchor="t" rtlCol="false" tIns="0" lIns="0" bIns="0" rIns="0">
            <a:spAutoFit/>
          </a:bodyPr>
          <a:lstStyle/>
          <a:p>
            <a:pPr algn="l">
              <a:lnSpc>
                <a:spcPts val="5392"/>
              </a:lnSpc>
            </a:pPr>
            <a:r>
              <a:rPr lang="en-US" sz="4494" b="true">
                <a:solidFill>
                  <a:srgbClr val="26354D"/>
                </a:solidFill>
                <a:latin typeface="DM Sans Bold"/>
                <a:ea typeface="DM Sans Bold"/>
                <a:cs typeface="DM Sans Bold"/>
                <a:sym typeface="DM Sans Bold"/>
              </a:rPr>
              <a:t>El Desafío: De la Dispersión a la Centralización Operativa</a:t>
            </a:r>
          </a:p>
        </p:txBody>
      </p:sp>
      <p:grpSp>
        <p:nvGrpSpPr>
          <p:cNvPr name="Group 5" id="5"/>
          <p:cNvGrpSpPr/>
          <p:nvPr/>
        </p:nvGrpSpPr>
        <p:grpSpPr>
          <a:xfrm rot="0">
            <a:off x="425219" y="1317764"/>
            <a:ext cx="17433990" cy="1912366"/>
            <a:chOff x="0" y="0"/>
            <a:chExt cx="23245319" cy="2549821"/>
          </a:xfrm>
        </p:grpSpPr>
        <p:sp>
          <p:nvSpPr>
            <p:cNvPr name="Freeform 6" id="6"/>
            <p:cNvSpPr/>
            <p:nvPr/>
          </p:nvSpPr>
          <p:spPr>
            <a:xfrm flipH="false" flipV="false" rot="0">
              <a:off x="0" y="0"/>
              <a:ext cx="23245319" cy="2549821"/>
            </a:xfrm>
            <a:custGeom>
              <a:avLst/>
              <a:gdLst/>
              <a:ahLst/>
              <a:cxnLst/>
              <a:rect r="r" b="b" t="t" l="l"/>
              <a:pathLst>
                <a:path h="2549821" w="23245319">
                  <a:moveTo>
                    <a:pt x="0" y="0"/>
                  </a:moveTo>
                  <a:lnTo>
                    <a:pt x="23245319" y="0"/>
                  </a:lnTo>
                  <a:lnTo>
                    <a:pt x="23245319" y="2549821"/>
                  </a:lnTo>
                  <a:lnTo>
                    <a:pt x="0" y="2549821"/>
                  </a:lnTo>
                  <a:close/>
                </a:path>
              </a:pathLst>
            </a:custGeom>
            <a:blipFill>
              <a:blip r:embed="rId3"/>
              <a:stretch>
                <a:fillRect l="0" t="0" r="0" b="0"/>
              </a:stretch>
            </a:blipFill>
          </p:spPr>
        </p:sp>
      </p:grpSp>
      <p:sp>
        <p:nvSpPr>
          <p:cNvPr name="TextBox 7" id="7"/>
          <p:cNvSpPr txBox="true"/>
          <p:nvPr/>
        </p:nvSpPr>
        <p:spPr>
          <a:xfrm rot="0">
            <a:off x="1225057" y="1583230"/>
            <a:ext cx="16072012" cy="1324360"/>
          </a:xfrm>
          <a:prstGeom prst="rect">
            <a:avLst/>
          </a:prstGeom>
        </p:spPr>
        <p:txBody>
          <a:bodyPr anchor="t" rtlCol="false" tIns="0" lIns="0" bIns="0" rIns="0">
            <a:spAutoFit/>
          </a:bodyPr>
          <a:lstStyle/>
          <a:p>
            <a:pPr algn="l">
              <a:lnSpc>
                <a:spcPts val="3519"/>
              </a:lnSpc>
            </a:pPr>
            <a:r>
              <a:rPr lang="en-US" sz="3060" b="true">
                <a:solidFill>
                  <a:srgbClr val="000000"/>
                </a:solidFill>
                <a:latin typeface="DM Sans Bold"/>
                <a:ea typeface="DM Sans Bold"/>
                <a:cs typeface="DM Sans Bold"/>
                <a:sym typeface="DM Sans Bold"/>
              </a:rPr>
              <a:t>HuellApp no busca digitalizar por digitalizar. Busca ordenar procesos que hoy dependen de herramientas dispersas, para que monitores y coordinadores puedan concentrarse en el acompañamiento educativo.</a:t>
            </a:r>
          </a:p>
        </p:txBody>
      </p:sp>
      <p:sp>
        <p:nvSpPr>
          <p:cNvPr name="TextBox 8" id="8"/>
          <p:cNvSpPr txBox="true"/>
          <p:nvPr/>
        </p:nvSpPr>
        <p:spPr>
          <a:xfrm rot="0">
            <a:off x="2614673" y="3213537"/>
            <a:ext cx="4351694" cy="866533"/>
          </a:xfrm>
          <a:prstGeom prst="rect">
            <a:avLst/>
          </a:prstGeom>
        </p:spPr>
        <p:txBody>
          <a:bodyPr anchor="t" rtlCol="false" tIns="0" lIns="0" bIns="0" rIns="0">
            <a:spAutoFit/>
          </a:bodyPr>
          <a:lstStyle/>
          <a:p>
            <a:pPr algn="ctr">
              <a:lnSpc>
                <a:spcPts val="3406"/>
              </a:lnSpc>
            </a:pPr>
            <a:r>
              <a:rPr lang="en-US" sz="2961" b="true">
                <a:solidFill>
                  <a:srgbClr val="37486D"/>
                </a:solidFill>
                <a:latin typeface="DM Sans Bold"/>
                <a:ea typeface="DM Sans Bold"/>
                <a:cs typeface="DM Sans Bold"/>
                <a:sym typeface="DM Sans Bold"/>
              </a:rPr>
              <a:t>El Problema - Dispersión</a:t>
            </a:r>
          </a:p>
        </p:txBody>
      </p:sp>
      <p:grpSp>
        <p:nvGrpSpPr>
          <p:cNvPr name="Group 9" id="9"/>
          <p:cNvGrpSpPr/>
          <p:nvPr/>
        </p:nvGrpSpPr>
        <p:grpSpPr>
          <a:xfrm rot="0">
            <a:off x="1514844" y="4080070"/>
            <a:ext cx="6551034" cy="4674672"/>
            <a:chOff x="0" y="0"/>
            <a:chExt cx="8734712" cy="6232896"/>
          </a:xfrm>
        </p:grpSpPr>
        <p:sp>
          <p:nvSpPr>
            <p:cNvPr name="Freeform 10" id="10"/>
            <p:cNvSpPr/>
            <p:nvPr/>
          </p:nvSpPr>
          <p:spPr>
            <a:xfrm flipH="false" flipV="false" rot="0">
              <a:off x="0" y="0"/>
              <a:ext cx="8734713" cy="6232896"/>
            </a:xfrm>
            <a:custGeom>
              <a:avLst/>
              <a:gdLst/>
              <a:ahLst/>
              <a:cxnLst/>
              <a:rect r="r" b="b" t="t" l="l"/>
              <a:pathLst>
                <a:path h="6232896" w="8734713">
                  <a:moveTo>
                    <a:pt x="0" y="0"/>
                  </a:moveTo>
                  <a:lnTo>
                    <a:pt x="8734713" y="0"/>
                  </a:lnTo>
                  <a:lnTo>
                    <a:pt x="8734713" y="6232896"/>
                  </a:lnTo>
                  <a:lnTo>
                    <a:pt x="0" y="6232896"/>
                  </a:lnTo>
                  <a:close/>
                </a:path>
              </a:pathLst>
            </a:custGeom>
            <a:blipFill>
              <a:blip r:embed="rId4"/>
              <a:stretch>
                <a:fillRect l="0" t="0" r="0" b="0"/>
              </a:stretch>
            </a:blipFill>
          </p:spPr>
        </p:sp>
      </p:grpSp>
      <p:sp>
        <p:nvSpPr>
          <p:cNvPr name="TextBox 11" id="11"/>
          <p:cNvSpPr txBox="true"/>
          <p:nvPr/>
        </p:nvSpPr>
        <p:spPr>
          <a:xfrm rot="0">
            <a:off x="1042212" y="8935641"/>
            <a:ext cx="7496616" cy="1052700"/>
          </a:xfrm>
          <a:prstGeom prst="rect">
            <a:avLst/>
          </a:prstGeom>
        </p:spPr>
        <p:txBody>
          <a:bodyPr anchor="t" rtlCol="false" tIns="0" lIns="0" bIns="0" rIns="0">
            <a:spAutoFit/>
          </a:bodyPr>
          <a:lstStyle/>
          <a:p>
            <a:pPr algn="l">
              <a:lnSpc>
                <a:spcPts val="2775"/>
              </a:lnSpc>
            </a:pPr>
            <a:r>
              <a:rPr lang="en-US" sz="2220">
                <a:solidFill>
                  <a:srgbClr val="000000"/>
                </a:solidFill>
                <a:latin typeface="DM Sans"/>
                <a:ea typeface="DM Sans"/>
                <a:cs typeface="DM Sans"/>
                <a:sym typeface="DM Sans"/>
              </a:rPr>
              <a:t>Falta de trazabilidad, duplicidad de información y pérdida de contexto en la coordinación de más de 20 colegios.</a:t>
            </a:r>
          </a:p>
        </p:txBody>
      </p:sp>
      <p:grpSp>
        <p:nvGrpSpPr>
          <p:cNvPr name="Group 12" id="12"/>
          <p:cNvGrpSpPr/>
          <p:nvPr/>
        </p:nvGrpSpPr>
        <p:grpSpPr>
          <a:xfrm rot="0">
            <a:off x="8265199" y="5779950"/>
            <a:ext cx="1541420" cy="1274911"/>
            <a:chOff x="0" y="0"/>
            <a:chExt cx="2055226" cy="1699881"/>
          </a:xfrm>
        </p:grpSpPr>
        <p:sp>
          <p:nvSpPr>
            <p:cNvPr name="Freeform 13" id="13"/>
            <p:cNvSpPr/>
            <p:nvPr/>
          </p:nvSpPr>
          <p:spPr>
            <a:xfrm flipH="false" flipV="false" rot="0">
              <a:off x="0" y="0"/>
              <a:ext cx="2055226" cy="1699881"/>
            </a:xfrm>
            <a:custGeom>
              <a:avLst/>
              <a:gdLst/>
              <a:ahLst/>
              <a:cxnLst/>
              <a:rect r="r" b="b" t="t" l="l"/>
              <a:pathLst>
                <a:path h="1699881" w="2055226">
                  <a:moveTo>
                    <a:pt x="0" y="0"/>
                  </a:moveTo>
                  <a:lnTo>
                    <a:pt x="2055226" y="0"/>
                  </a:lnTo>
                  <a:lnTo>
                    <a:pt x="2055226" y="1699881"/>
                  </a:lnTo>
                  <a:lnTo>
                    <a:pt x="0" y="1699881"/>
                  </a:lnTo>
                  <a:close/>
                </a:path>
              </a:pathLst>
            </a:custGeom>
            <a:blipFill>
              <a:blip r:embed="rId5"/>
              <a:stretch>
                <a:fillRect l="0" t="0" r="0" b="0"/>
              </a:stretch>
            </a:blipFill>
          </p:spPr>
        </p:sp>
      </p:grpSp>
      <p:sp>
        <p:nvSpPr>
          <p:cNvPr name="TextBox 14" id="14"/>
          <p:cNvSpPr txBox="true"/>
          <p:nvPr/>
        </p:nvSpPr>
        <p:spPr>
          <a:xfrm rot="0">
            <a:off x="11086089" y="3220569"/>
            <a:ext cx="4735667" cy="866533"/>
          </a:xfrm>
          <a:prstGeom prst="rect">
            <a:avLst/>
          </a:prstGeom>
        </p:spPr>
        <p:txBody>
          <a:bodyPr anchor="t" rtlCol="false" tIns="0" lIns="0" bIns="0" rIns="0">
            <a:spAutoFit/>
          </a:bodyPr>
          <a:lstStyle/>
          <a:p>
            <a:pPr algn="ctr">
              <a:lnSpc>
                <a:spcPts val="3406"/>
              </a:lnSpc>
            </a:pPr>
            <a:r>
              <a:rPr lang="en-US" sz="2961" b="true">
                <a:solidFill>
                  <a:srgbClr val="37486D"/>
                </a:solidFill>
                <a:latin typeface="DM Sans Bold"/>
                <a:ea typeface="DM Sans Bold"/>
                <a:cs typeface="DM Sans Bold"/>
                <a:sym typeface="DM Sans Bold"/>
              </a:rPr>
              <a:t>La Solución - El Hub Digital</a:t>
            </a:r>
          </a:p>
        </p:txBody>
      </p:sp>
      <p:grpSp>
        <p:nvGrpSpPr>
          <p:cNvPr name="Group 15" id="15"/>
          <p:cNvGrpSpPr/>
          <p:nvPr/>
        </p:nvGrpSpPr>
        <p:grpSpPr>
          <a:xfrm rot="0">
            <a:off x="10657058" y="4080070"/>
            <a:ext cx="5674019" cy="4674672"/>
            <a:chOff x="0" y="0"/>
            <a:chExt cx="7565359" cy="6232896"/>
          </a:xfrm>
        </p:grpSpPr>
        <p:sp>
          <p:nvSpPr>
            <p:cNvPr name="Freeform 16" id="16"/>
            <p:cNvSpPr/>
            <p:nvPr/>
          </p:nvSpPr>
          <p:spPr>
            <a:xfrm flipH="false" flipV="false" rot="0">
              <a:off x="0" y="0"/>
              <a:ext cx="7565359" cy="6232896"/>
            </a:xfrm>
            <a:custGeom>
              <a:avLst/>
              <a:gdLst/>
              <a:ahLst/>
              <a:cxnLst/>
              <a:rect r="r" b="b" t="t" l="l"/>
              <a:pathLst>
                <a:path h="6232896" w="7565359">
                  <a:moveTo>
                    <a:pt x="0" y="0"/>
                  </a:moveTo>
                  <a:lnTo>
                    <a:pt x="7565359" y="0"/>
                  </a:lnTo>
                  <a:lnTo>
                    <a:pt x="7565359" y="6232896"/>
                  </a:lnTo>
                  <a:lnTo>
                    <a:pt x="0" y="6232896"/>
                  </a:lnTo>
                  <a:close/>
                </a:path>
              </a:pathLst>
            </a:custGeom>
            <a:blipFill>
              <a:blip r:embed="rId6"/>
              <a:stretch>
                <a:fillRect l="0" t="0" r="0" b="0"/>
              </a:stretch>
            </a:blipFill>
          </p:spPr>
        </p:sp>
      </p:grpSp>
      <p:sp>
        <p:nvSpPr>
          <p:cNvPr name="TextBox 17" id="17"/>
          <p:cNvSpPr txBox="true"/>
          <p:nvPr/>
        </p:nvSpPr>
        <p:spPr>
          <a:xfrm rot="0">
            <a:off x="11226639" y="6210141"/>
            <a:ext cx="1718736" cy="437908"/>
          </a:xfrm>
          <a:prstGeom prst="rect">
            <a:avLst/>
          </a:prstGeom>
        </p:spPr>
        <p:txBody>
          <a:bodyPr anchor="t" rtlCol="false" tIns="0" lIns="0" bIns="0" rIns="0">
            <a:spAutoFit/>
          </a:bodyPr>
          <a:lstStyle/>
          <a:p>
            <a:pPr algn="ctr">
              <a:lnSpc>
                <a:spcPts val="3406"/>
              </a:lnSpc>
            </a:pPr>
            <a:r>
              <a:rPr lang="en-US" sz="2961" b="true">
                <a:solidFill>
                  <a:srgbClr val="E1B5A1"/>
                </a:solidFill>
                <a:latin typeface="DM Sans Bold"/>
                <a:ea typeface="DM Sans Bold"/>
                <a:cs typeface="DM Sans Bold"/>
                <a:sym typeface="DM Sans Bold"/>
              </a:rPr>
              <a:t>HuellApp</a:t>
            </a:r>
          </a:p>
        </p:txBody>
      </p:sp>
      <p:sp>
        <p:nvSpPr>
          <p:cNvPr name="TextBox 18" id="18"/>
          <p:cNvSpPr txBox="true"/>
          <p:nvPr/>
        </p:nvSpPr>
        <p:spPr>
          <a:xfrm rot="0">
            <a:off x="15066369" y="4714547"/>
            <a:ext cx="1051355" cy="219289"/>
          </a:xfrm>
          <a:prstGeom prst="rect">
            <a:avLst/>
          </a:prstGeom>
        </p:spPr>
        <p:txBody>
          <a:bodyPr anchor="t" rtlCol="false" tIns="0" lIns="0" bIns="0" rIns="0">
            <a:spAutoFit/>
          </a:bodyPr>
          <a:lstStyle/>
          <a:p>
            <a:pPr algn="ctr">
              <a:lnSpc>
                <a:spcPts val="1757"/>
              </a:lnSpc>
            </a:pPr>
            <a:r>
              <a:rPr lang="en-US" sz="1528" b="true">
                <a:solidFill>
                  <a:srgbClr val="E1B5A1"/>
                </a:solidFill>
                <a:latin typeface="DM Sans Bold"/>
                <a:ea typeface="DM Sans Bold"/>
                <a:cs typeface="DM Sans Bold"/>
                <a:sym typeface="DM Sans Bold"/>
              </a:rPr>
              <a:t>Ejecutivos</a:t>
            </a:r>
          </a:p>
        </p:txBody>
      </p:sp>
      <p:sp>
        <p:nvSpPr>
          <p:cNvPr name="TextBox 19" id="19"/>
          <p:cNvSpPr txBox="true"/>
          <p:nvPr/>
        </p:nvSpPr>
        <p:spPr>
          <a:xfrm rot="0">
            <a:off x="14965804" y="7913128"/>
            <a:ext cx="1151919" cy="219818"/>
          </a:xfrm>
          <a:prstGeom prst="rect">
            <a:avLst/>
          </a:prstGeom>
        </p:spPr>
        <p:txBody>
          <a:bodyPr anchor="t" rtlCol="false" tIns="0" lIns="0" bIns="0" rIns="0">
            <a:spAutoFit/>
          </a:bodyPr>
          <a:lstStyle/>
          <a:p>
            <a:pPr algn="ctr">
              <a:lnSpc>
                <a:spcPts val="1871"/>
              </a:lnSpc>
            </a:pPr>
            <a:r>
              <a:rPr lang="en-US" sz="1627" b="true">
                <a:solidFill>
                  <a:srgbClr val="E1B5A1"/>
                </a:solidFill>
                <a:latin typeface="DM Sans Bold"/>
                <a:ea typeface="DM Sans Bold"/>
                <a:cs typeface="DM Sans Bold"/>
                <a:sym typeface="DM Sans Bold"/>
              </a:rPr>
              <a:t>Monitores</a:t>
            </a:r>
          </a:p>
        </p:txBody>
      </p:sp>
      <p:sp>
        <p:nvSpPr>
          <p:cNvPr name="TextBox 20" id="20"/>
          <p:cNvSpPr txBox="true"/>
          <p:nvPr/>
        </p:nvSpPr>
        <p:spPr>
          <a:xfrm rot="0">
            <a:off x="9910160" y="8935641"/>
            <a:ext cx="7350340" cy="1052700"/>
          </a:xfrm>
          <a:prstGeom prst="rect">
            <a:avLst/>
          </a:prstGeom>
        </p:spPr>
        <p:txBody>
          <a:bodyPr anchor="t" rtlCol="false" tIns="0" lIns="0" bIns="0" rIns="0">
            <a:spAutoFit/>
          </a:bodyPr>
          <a:lstStyle/>
          <a:p>
            <a:pPr algn="l">
              <a:lnSpc>
                <a:spcPts val="2775"/>
              </a:lnSpc>
            </a:pPr>
            <a:r>
              <a:rPr lang="en-US" sz="2220">
                <a:solidFill>
                  <a:srgbClr val="000000"/>
                </a:solidFill>
                <a:latin typeface="DM Sans"/>
                <a:ea typeface="DM Sans"/>
                <a:cs typeface="DM Sans"/>
                <a:sym typeface="DM Sans"/>
              </a:rPr>
              <a:t>Un MVP web responsivo que centraliza procesos críticos y genera indicadores base para la toma de decisiones.</a:t>
            </a:r>
          </a:p>
        </p:txBody>
      </p:sp>
      <p:sp>
        <p:nvSpPr>
          <p:cNvPr name="TextBox 21" id="21"/>
          <p:cNvSpPr txBox="true"/>
          <p:nvPr/>
        </p:nvSpPr>
        <p:spPr>
          <a:xfrm rot="0">
            <a:off x="14828671" y="6314878"/>
            <a:ext cx="1426185" cy="218909"/>
          </a:xfrm>
          <a:prstGeom prst="rect">
            <a:avLst/>
          </a:prstGeom>
        </p:spPr>
        <p:txBody>
          <a:bodyPr anchor="t" rtlCol="false" tIns="0" lIns="0" bIns="0" rIns="0">
            <a:spAutoFit/>
          </a:bodyPr>
          <a:lstStyle/>
          <a:p>
            <a:pPr algn="ctr">
              <a:lnSpc>
                <a:spcPts val="1700"/>
              </a:lnSpc>
            </a:pPr>
            <a:r>
              <a:rPr lang="en-US" sz="1479" b="true">
                <a:solidFill>
                  <a:srgbClr val="E1B5A1"/>
                </a:solidFill>
                <a:latin typeface="DM Sans Bold"/>
                <a:ea typeface="DM Sans Bold"/>
                <a:cs typeface="DM Sans Bold"/>
                <a:sym typeface="DM Sans Bold"/>
              </a:rPr>
              <a:t>Coordinadores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2" y="0"/>
            <a:ext cx="18284428" cy="10243142"/>
            <a:chOff x="0" y="0"/>
            <a:chExt cx="24379238" cy="13657523"/>
          </a:xfrm>
        </p:grpSpPr>
        <p:sp>
          <p:nvSpPr>
            <p:cNvPr name="Freeform 3" id="3"/>
            <p:cNvSpPr/>
            <p:nvPr/>
          </p:nvSpPr>
          <p:spPr>
            <a:xfrm flipH="false" flipV="false" rot="0">
              <a:off x="0" y="0"/>
              <a:ext cx="24379238" cy="13657523"/>
            </a:xfrm>
            <a:custGeom>
              <a:avLst/>
              <a:gdLst/>
              <a:ahLst/>
              <a:cxnLst/>
              <a:rect r="r" b="b" t="t" l="l"/>
              <a:pathLst>
                <a:path h="13657523" w="24379238">
                  <a:moveTo>
                    <a:pt x="0" y="0"/>
                  </a:moveTo>
                  <a:lnTo>
                    <a:pt x="24379238" y="0"/>
                  </a:lnTo>
                  <a:lnTo>
                    <a:pt x="24379238" y="13657523"/>
                  </a:lnTo>
                  <a:lnTo>
                    <a:pt x="0" y="13657523"/>
                  </a:lnTo>
                  <a:close/>
                </a:path>
              </a:pathLst>
            </a:custGeom>
            <a:blipFill>
              <a:blip r:embed="rId2"/>
              <a:stretch>
                <a:fillRect l="-215" t="0" r="-215" b="0"/>
              </a:stretch>
            </a:blipFill>
          </p:spPr>
        </p:sp>
      </p:grpSp>
      <p:sp>
        <p:nvSpPr>
          <p:cNvPr name="TextBox 4" id="4"/>
          <p:cNvSpPr txBox="true"/>
          <p:nvPr/>
        </p:nvSpPr>
        <p:spPr>
          <a:xfrm rot="0">
            <a:off x="2288968" y="555695"/>
            <a:ext cx="13713636" cy="1275699"/>
          </a:xfrm>
          <a:prstGeom prst="rect">
            <a:avLst/>
          </a:prstGeom>
        </p:spPr>
        <p:txBody>
          <a:bodyPr anchor="t" rtlCol="false" tIns="0" lIns="0" bIns="0" rIns="0">
            <a:spAutoFit/>
          </a:bodyPr>
          <a:lstStyle/>
          <a:p>
            <a:pPr algn="ctr">
              <a:lnSpc>
                <a:spcPts val="5060"/>
              </a:lnSpc>
            </a:pPr>
            <a:r>
              <a:rPr lang="en-US" sz="4216">
                <a:solidFill>
                  <a:srgbClr val="21294D"/>
                </a:solidFill>
                <a:latin typeface="Varela Round"/>
                <a:ea typeface="Varela Round"/>
                <a:cs typeface="Varela Round"/>
                <a:sym typeface="Varela Round"/>
              </a:rPr>
              <a:t>Alcance del Proyecto: El Producto Mínimo Viable (MVP)</a:t>
            </a:r>
          </a:p>
        </p:txBody>
      </p:sp>
      <p:grpSp>
        <p:nvGrpSpPr>
          <p:cNvPr name="Group 5" id="5"/>
          <p:cNvGrpSpPr/>
          <p:nvPr/>
        </p:nvGrpSpPr>
        <p:grpSpPr>
          <a:xfrm rot="0">
            <a:off x="863727" y="1955219"/>
            <a:ext cx="8278487" cy="3824732"/>
            <a:chOff x="0" y="0"/>
            <a:chExt cx="11037983" cy="5099642"/>
          </a:xfrm>
        </p:grpSpPr>
        <p:sp>
          <p:nvSpPr>
            <p:cNvPr name="Freeform 6" id="6"/>
            <p:cNvSpPr/>
            <p:nvPr/>
          </p:nvSpPr>
          <p:spPr>
            <a:xfrm flipH="false" flipV="false" rot="0">
              <a:off x="0" y="0"/>
              <a:ext cx="11037984" cy="5099642"/>
            </a:xfrm>
            <a:custGeom>
              <a:avLst/>
              <a:gdLst/>
              <a:ahLst/>
              <a:cxnLst/>
              <a:rect r="r" b="b" t="t" l="l"/>
              <a:pathLst>
                <a:path h="5099642" w="11037984">
                  <a:moveTo>
                    <a:pt x="0" y="0"/>
                  </a:moveTo>
                  <a:lnTo>
                    <a:pt x="11037984" y="0"/>
                  </a:lnTo>
                  <a:lnTo>
                    <a:pt x="11037984" y="5099642"/>
                  </a:lnTo>
                  <a:lnTo>
                    <a:pt x="0" y="5099642"/>
                  </a:lnTo>
                  <a:close/>
                </a:path>
              </a:pathLst>
            </a:custGeom>
            <a:blipFill>
              <a:blip r:embed="rId3"/>
              <a:stretch>
                <a:fillRect l="0" t="0" r="0" b="0"/>
              </a:stretch>
            </a:blipFill>
          </p:spPr>
        </p:sp>
      </p:grpSp>
      <p:grpSp>
        <p:nvGrpSpPr>
          <p:cNvPr name="Group 7" id="7"/>
          <p:cNvGrpSpPr/>
          <p:nvPr/>
        </p:nvGrpSpPr>
        <p:grpSpPr>
          <a:xfrm rot="0">
            <a:off x="4051706" y="2063084"/>
            <a:ext cx="1528132" cy="1487396"/>
            <a:chOff x="0" y="0"/>
            <a:chExt cx="2037509" cy="1983194"/>
          </a:xfrm>
        </p:grpSpPr>
        <p:sp>
          <p:nvSpPr>
            <p:cNvPr name="Freeform 8" id="8"/>
            <p:cNvSpPr/>
            <p:nvPr/>
          </p:nvSpPr>
          <p:spPr>
            <a:xfrm flipH="false" flipV="false" rot="0">
              <a:off x="0" y="0"/>
              <a:ext cx="2037509" cy="1983194"/>
            </a:xfrm>
            <a:custGeom>
              <a:avLst/>
              <a:gdLst/>
              <a:ahLst/>
              <a:cxnLst/>
              <a:rect r="r" b="b" t="t" l="l"/>
              <a:pathLst>
                <a:path h="1983194" w="2037509">
                  <a:moveTo>
                    <a:pt x="0" y="0"/>
                  </a:moveTo>
                  <a:lnTo>
                    <a:pt x="2037509" y="0"/>
                  </a:lnTo>
                  <a:lnTo>
                    <a:pt x="2037509" y="1983194"/>
                  </a:lnTo>
                  <a:lnTo>
                    <a:pt x="0" y="1983194"/>
                  </a:lnTo>
                  <a:close/>
                </a:path>
              </a:pathLst>
            </a:custGeom>
            <a:blipFill>
              <a:blip r:embed="rId4"/>
              <a:stretch>
                <a:fillRect l="0" t="0" r="0" b="0"/>
              </a:stretch>
            </a:blipFill>
          </p:spPr>
        </p:sp>
      </p:grpSp>
      <p:sp>
        <p:nvSpPr>
          <p:cNvPr name="TextBox 9" id="9"/>
          <p:cNvSpPr txBox="true"/>
          <p:nvPr/>
        </p:nvSpPr>
        <p:spPr>
          <a:xfrm rot="0">
            <a:off x="3398728" y="3550480"/>
            <a:ext cx="2834086" cy="895350"/>
          </a:xfrm>
          <a:prstGeom prst="rect">
            <a:avLst/>
          </a:prstGeom>
        </p:spPr>
        <p:txBody>
          <a:bodyPr anchor="t" rtlCol="false" tIns="0" lIns="0" bIns="0" rIns="0">
            <a:spAutoFit/>
          </a:bodyPr>
          <a:lstStyle/>
          <a:p>
            <a:pPr algn="ctr">
              <a:lnSpc>
                <a:spcPts val="3554"/>
              </a:lnSpc>
            </a:pPr>
            <a:r>
              <a:rPr lang="en-US" sz="2961">
                <a:solidFill>
                  <a:srgbClr val="21294D"/>
                </a:solidFill>
                <a:latin typeface="Varela Round"/>
                <a:ea typeface="Varela Round"/>
                <a:cs typeface="Varela Round"/>
                <a:sym typeface="Varela Round"/>
              </a:rPr>
              <a:t>Accesos por Rol</a:t>
            </a:r>
          </a:p>
        </p:txBody>
      </p:sp>
      <p:sp>
        <p:nvSpPr>
          <p:cNvPr name="TextBox 10" id="10"/>
          <p:cNvSpPr txBox="true"/>
          <p:nvPr/>
        </p:nvSpPr>
        <p:spPr>
          <a:xfrm rot="0">
            <a:off x="1554176" y="4545067"/>
            <a:ext cx="6856661" cy="724275"/>
          </a:xfrm>
          <a:prstGeom prst="rect">
            <a:avLst/>
          </a:prstGeom>
        </p:spPr>
        <p:txBody>
          <a:bodyPr anchor="t" rtlCol="false" tIns="0" lIns="0" bIns="0" rIns="0">
            <a:spAutoFit/>
          </a:bodyPr>
          <a:lstStyle/>
          <a:p>
            <a:pPr algn="ctr">
              <a:lnSpc>
                <a:spcPts val="2886"/>
              </a:lnSpc>
            </a:pPr>
            <a:r>
              <a:rPr lang="en-US" sz="2220">
                <a:solidFill>
                  <a:srgbClr val="21294D"/>
                </a:solidFill>
                <a:latin typeface="Roboto"/>
                <a:ea typeface="Roboto"/>
                <a:cs typeface="Roboto"/>
                <a:sym typeface="Roboto"/>
              </a:rPr>
              <a:t>Autenticación segura para Dirección Ejecutiva, Coordinadores y Monitores con permisos específicos.</a:t>
            </a:r>
          </a:p>
        </p:txBody>
      </p:sp>
      <p:grpSp>
        <p:nvGrpSpPr>
          <p:cNvPr name="Group 11" id="11"/>
          <p:cNvGrpSpPr/>
          <p:nvPr/>
        </p:nvGrpSpPr>
        <p:grpSpPr>
          <a:xfrm rot="0">
            <a:off x="9142214" y="1955219"/>
            <a:ext cx="8278487" cy="3824732"/>
            <a:chOff x="0" y="0"/>
            <a:chExt cx="11037983" cy="5099642"/>
          </a:xfrm>
        </p:grpSpPr>
        <p:sp>
          <p:nvSpPr>
            <p:cNvPr name="Freeform 12" id="12"/>
            <p:cNvSpPr/>
            <p:nvPr/>
          </p:nvSpPr>
          <p:spPr>
            <a:xfrm flipH="false" flipV="false" rot="0">
              <a:off x="0" y="0"/>
              <a:ext cx="11037984" cy="5099642"/>
            </a:xfrm>
            <a:custGeom>
              <a:avLst/>
              <a:gdLst/>
              <a:ahLst/>
              <a:cxnLst/>
              <a:rect r="r" b="b" t="t" l="l"/>
              <a:pathLst>
                <a:path h="5099642" w="11037984">
                  <a:moveTo>
                    <a:pt x="0" y="0"/>
                  </a:moveTo>
                  <a:lnTo>
                    <a:pt x="11037984" y="0"/>
                  </a:lnTo>
                  <a:lnTo>
                    <a:pt x="11037984" y="5099642"/>
                  </a:lnTo>
                  <a:lnTo>
                    <a:pt x="0" y="5099642"/>
                  </a:lnTo>
                  <a:close/>
                </a:path>
              </a:pathLst>
            </a:custGeom>
            <a:blipFill>
              <a:blip r:embed="rId5"/>
              <a:stretch>
                <a:fillRect l="0" t="0" r="0" b="0"/>
              </a:stretch>
            </a:blipFill>
          </p:spPr>
        </p:sp>
      </p:grpSp>
      <p:grpSp>
        <p:nvGrpSpPr>
          <p:cNvPr name="Group 13" id="13"/>
          <p:cNvGrpSpPr/>
          <p:nvPr/>
        </p:nvGrpSpPr>
        <p:grpSpPr>
          <a:xfrm rot="0">
            <a:off x="12623697" y="1978190"/>
            <a:ext cx="1315522" cy="1487396"/>
            <a:chOff x="0" y="0"/>
            <a:chExt cx="1754029" cy="1983194"/>
          </a:xfrm>
        </p:grpSpPr>
        <p:sp>
          <p:nvSpPr>
            <p:cNvPr name="Freeform 14" id="14"/>
            <p:cNvSpPr/>
            <p:nvPr/>
          </p:nvSpPr>
          <p:spPr>
            <a:xfrm flipH="false" flipV="false" rot="0">
              <a:off x="0" y="0"/>
              <a:ext cx="1754029" cy="1983194"/>
            </a:xfrm>
            <a:custGeom>
              <a:avLst/>
              <a:gdLst/>
              <a:ahLst/>
              <a:cxnLst/>
              <a:rect r="r" b="b" t="t" l="l"/>
              <a:pathLst>
                <a:path h="1983194" w="1754029">
                  <a:moveTo>
                    <a:pt x="0" y="0"/>
                  </a:moveTo>
                  <a:lnTo>
                    <a:pt x="1754029" y="0"/>
                  </a:lnTo>
                  <a:lnTo>
                    <a:pt x="1754029" y="1983194"/>
                  </a:lnTo>
                  <a:lnTo>
                    <a:pt x="0" y="1983194"/>
                  </a:lnTo>
                  <a:close/>
                </a:path>
              </a:pathLst>
            </a:custGeom>
            <a:blipFill>
              <a:blip r:embed="rId6"/>
              <a:stretch>
                <a:fillRect l="0" t="0" r="0" b="0"/>
              </a:stretch>
            </a:blipFill>
          </p:spPr>
        </p:sp>
      </p:grpSp>
      <p:sp>
        <p:nvSpPr>
          <p:cNvPr name="TextBox 15" id="15"/>
          <p:cNvSpPr txBox="true"/>
          <p:nvPr/>
        </p:nvSpPr>
        <p:spPr>
          <a:xfrm rot="0">
            <a:off x="11082211" y="3494572"/>
            <a:ext cx="4260272" cy="895350"/>
          </a:xfrm>
          <a:prstGeom prst="rect">
            <a:avLst/>
          </a:prstGeom>
        </p:spPr>
        <p:txBody>
          <a:bodyPr anchor="t" rtlCol="false" tIns="0" lIns="0" bIns="0" rIns="0">
            <a:spAutoFit/>
          </a:bodyPr>
          <a:lstStyle/>
          <a:p>
            <a:pPr algn="ctr">
              <a:lnSpc>
                <a:spcPts val="3554"/>
              </a:lnSpc>
            </a:pPr>
            <a:r>
              <a:rPr lang="en-US" sz="2961">
                <a:solidFill>
                  <a:srgbClr val="21294D"/>
                </a:solidFill>
                <a:latin typeface="Varela Round"/>
                <a:ea typeface="Varela Round"/>
                <a:cs typeface="Varela Round"/>
                <a:sym typeface="Varela Round"/>
              </a:rPr>
              <a:t>Calendario Centralizado</a:t>
            </a:r>
          </a:p>
        </p:txBody>
      </p:sp>
      <p:sp>
        <p:nvSpPr>
          <p:cNvPr name="TextBox 16" id="16"/>
          <p:cNvSpPr txBox="true"/>
          <p:nvPr/>
        </p:nvSpPr>
        <p:spPr>
          <a:xfrm rot="0">
            <a:off x="10202711" y="4545067"/>
            <a:ext cx="6234990" cy="724275"/>
          </a:xfrm>
          <a:prstGeom prst="rect">
            <a:avLst/>
          </a:prstGeom>
        </p:spPr>
        <p:txBody>
          <a:bodyPr anchor="t" rtlCol="false" tIns="0" lIns="0" bIns="0" rIns="0">
            <a:spAutoFit/>
          </a:bodyPr>
          <a:lstStyle/>
          <a:p>
            <a:pPr algn="ctr">
              <a:lnSpc>
                <a:spcPts val="2886"/>
              </a:lnSpc>
            </a:pPr>
            <a:r>
              <a:rPr lang="en-US" sz="2220">
                <a:solidFill>
                  <a:srgbClr val="21294D"/>
                </a:solidFill>
                <a:latin typeface="Roboto"/>
                <a:ea typeface="Roboto"/>
                <a:cs typeface="Roboto"/>
                <a:sym typeface="Roboto"/>
              </a:rPr>
              <a:t>Visualización unificada de espacios de reflexión, horarios y colegios en tiempo real.</a:t>
            </a:r>
          </a:p>
        </p:txBody>
      </p:sp>
      <p:grpSp>
        <p:nvGrpSpPr>
          <p:cNvPr name="Group 17" id="17"/>
          <p:cNvGrpSpPr/>
          <p:nvPr/>
        </p:nvGrpSpPr>
        <p:grpSpPr>
          <a:xfrm rot="0">
            <a:off x="863727" y="5779950"/>
            <a:ext cx="8278487" cy="4037217"/>
            <a:chOff x="0" y="0"/>
            <a:chExt cx="11037983" cy="5382956"/>
          </a:xfrm>
        </p:grpSpPr>
        <p:sp>
          <p:nvSpPr>
            <p:cNvPr name="Freeform 18" id="18"/>
            <p:cNvSpPr/>
            <p:nvPr/>
          </p:nvSpPr>
          <p:spPr>
            <a:xfrm flipH="false" flipV="false" rot="0">
              <a:off x="0" y="0"/>
              <a:ext cx="11037984" cy="5382956"/>
            </a:xfrm>
            <a:custGeom>
              <a:avLst/>
              <a:gdLst/>
              <a:ahLst/>
              <a:cxnLst/>
              <a:rect r="r" b="b" t="t" l="l"/>
              <a:pathLst>
                <a:path h="5382956" w="11037984">
                  <a:moveTo>
                    <a:pt x="0" y="0"/>
                  </a:moveTo>
                  <a:lnTo>
                    <a:pt x="11037984" y="0"/>
                  </a:lnTo>
                  <a:lnTo>
                    <a:pt x="11037984" y="5382956"/>
                  </a:lnTo>
                  <a:lnTo>
                    <a:pt x="0" y="5382956"/>
                  </a:lnTo>
                  <a:close/>
                </a:path>
              </a:pathLst>
            </a:custGeom>
            <a:blipFill>
              <a:blip r:embed="rId7"/>
              <a:stretch>
                <a:fillRect l="0" t="0" r="0" b="0"/>
              </a:stretch>
            </a:blipFill>
          </p:spPr>
        </p:sp>
      </p:grpSp>
      <p:grpSp>
        <p:nvGrpSpPr>
          <p:cNvPr name="Group 19" id="19"/>
          <p:cNvGrpSpPr/>
          <p:nvPr/>
        </p:nvGrpSpPr>
        <p:grpSpPr>
          <a:xfrm rot="0">
            <a:off x="4158010" y="6170475"/>
            <a:ext cx="1315522" cy="1274911"/>
            <a:chOff x="0" y="0"/>
            <a:chExt cx="1754029" cy="1699881"/>
          </a:xfrm>
        </p:grpSpPr>
        <p:sp>
          <p:nvSpPr>
            <p:cNvPr name="Freeform 20" id="20"/>
            <p:cNvSpPr/>
            <p:nvPr/>
          </p:nvSpPr>
          <p:spPr>
            <a:xfrm flipH="false" flipV="false" rot="0">
              <a:off x="0" y="0"/>
              <a:ext cx="1754029" cy="1699881"/>
            </a:xfrm>
            <a:custGeom>
              <a:avLst/>
              <a:gdLst/>
              <a:ahLst/>
              <a:cxnLst/>
              <a:rect r="r" b="b" t="t" l="l"/>
              <a:pathLst>
                <a:path h="1699881" w="1754029">
                  <a:moveTo>
                    <a:pt x="0" y="0"/>
                  </a:moveTo>
                  <a:lnTo>
                    <a:pt x="1754029" y="0"/>
                  </a:lnTo>
                  <a:lnTo>
                    <a:pt x="1754029" y="1699881"/>
                  </a:lnTo>
                  <a:lnTo>
                    <a:pt x="0" y="1699881"/>
                  </a:lnTo>
                  <a:close/>
                </a:path>
              </a:pathLst>
            </a:custGeom>
            <a:blipFill>
              <a:blip r:embed="rId8"/>
              <a:stretch>
                <a:fillRect l="0" t="0" r="0" b="0"/>
              </a:stretch>
            </a:blipFill>
          </p:spPr>
        </p:sp>
      </p:grpSp>
      <p:sp>
        <p:nvSpPr>
          <p:cNvPr name="TextBox 21" id="21"/>
          <p:cNvSpPr txBox="true"/>
          <p:nvPr/>
        </p:nvSpPr>
        <p:spPr>
          <a:xfrm rot="0">
            <a:off x="2164529" y="7569211"/>
            <a:ext cx="5302484" cy="895350"/>
          </a:xfrm>
          <a:prstGeom prst="rect">
            <a:avLst/>
          </a:prstGeom>
        </p:spPr>
        <p:txBody>
          <a:bodyPr anchor="t" rtlCol="false" tIns="0" lIns="0" bIns="0" rIns="0">
            <a:spAutoFit/>
          </a:bodyPr>
          <a:lstStyle/>
          <a:p>
            <a:pPr algn="ctr">
              <a:lnSpc>
                <a:spcPts val="3554"/>
              </a:lnSpc>
            </a:pPr>
            <a:r>
              <a:rPr lang="en-US" sz="2961">
                <a:solidFill>
                  <a:srgbClr val="21294D"/>
                </a:solidFill>
                <a:latin typeface="Varela Round"/>
                <a:ea typeface="Varela Round"/>
                <a:cs typeface="Varela Round"/>
                <a:sym typeface="Varela Round"/>
              </a:rPr>
              <a:t>Asignación y Reprogramación</a:t>
            </a:r>
          </a:p>
        </p:txBody>
      </p:sp>
      <p:sp>
        <p:nvSpPr>
          <p:cNvPr name="TextBox 22" id="22"/>
          <p:cNvSpPr txBox="true"/>
          <p:nvPr/>
        </p:nvSpPr>
        <p:spPr>
          <a:xfrm rot="0">
            <a:off x="1718736" y="8559811"/>
            <a:ext cx="6527541" cy="724275"/>
          </a:xfrm>
          <a:prstGeom prst="rect">
            <a:avLst/>
          </a:prstGeom>
        </p:spPr>
        <p:txBody>
          <a:bodyPr anchor="t" rtlCol="false" tIns="0" lIns="0" bIns="0" rIns="0">
            <a:spAutoFit/>
          </a:bodyPr>
          <a:lstStyle/>
          <a:p>
            <a:pPr algn="ctr">
              <a:lnSpc>
                <a:spcPts val="2886"/>
              </a:lnSpc>
            </a:pPr>
            <a:r>
              <a:rPr lang="en-US" sz="2220">
                <a:solidFill>
                  <a:srgbClr val="21294D"/>
                </a:solidFill>
                <a:latin typeface="Roboto"/>
                <a:ea typeface="Roboto"/>
                <a:cs typeface="Roboto"/>
                <a:sym typeface="Roboto"/>
              </a:rPr>
              <a:t>Gestión ágil de monitores a los distintos espacios, mitigando cambios de última hora.</a:t>
            </a:r>
          </a:p>
        </p:txBody>
      </p:sp>
      <p:grpSp>
        <p:nvGrpSpPr>
          <p:cNvPr name="Group 23" id="23"/>
          <p:cNvGrpSpPr/>
          <p:nvPr/>
        </p:nvGrpSpPr>
        <p:grpSpPr>
          <a:xfrm rot="0">
            <a:off x="9142214" y="5779950"/>
            <a:ext cx="8278487" cy="4037217"/>
            <a:chOff x="0" y="0"/>
            <a:chExt cx="11037983" cy="5382956"/>
          </a:xfrm>
        </p:grpSpPr>
        <p:sp>
          <p:nvSpPr>
            <p:cNvPr name="Freeform 24" id="24"/>
            <p:cNvSpPr/>
            <p:nvPr/>
          </p:nvSpPr>
          <p:spPr>
            <a:xfrm flipH="false" flipV="false" rot="0">
              <a:off x="0" y="0"/>
              <a:ext cx="11037984" cy="5382956"/>
            </a:xfrm>
            <a:custGeom>
              <a:avLst/>
              <a:gdLst/>
              <a:ahLst/>
              <a:cxnLst/>
              <a:rect r="r" b="b" t="t" l="l"/>
              <a:pathLst>
                <a:path h="5382956" w="11037984">
                  <a:moveTo>
                    <a:pt x="0" y="0"/>
                  </a:moveTo>
                  <a:lnTo>
                    <a:pt x="11037984" y="0"/>
                  </a:lnTo>
                  <a:lnTo>
                    <a:pt x="11037984" y="5382956"/>
                  </a:lnTo>
                  <a:lnTo>
                    <a:pt x="0" y="5382956"/>
                  </a:lnTo>
                  <a:close/>
                </a:path>
              </a:pathLst>
            </a:custGeom>
            <a:blipFill>
              <a:blip r:embed="rId9"/>
              <a:stretch>
                <a:fillRect l="0" t="0" r="0" b="0"/>
              </a:stretch>
            </a:blipFill>
          </p:spPr>
        </p:sp>
      </p:grpSp>
      <p:grpSp>
        <p:nvGrpSpPr>
          <p:cNvPr name="Group 25" id="25"/>
          <p:cNvGrpSpPr/>
          <p:nvPr/>
        </p:nvGrpSpPr>
        <p:grpSpPr>
          <a:xfrm rot="0">
            <a:off x="12836306" y="5960925"/>
            <a:ext cx="1102912" cy="1274911"/>
            <a:chOff x="0" y="0"/>
            <a:chExt cx="1470550" cy="1699881"/>
          </a:xfrm>
        </p:grpSpPr>
        <p:sp>
          <p:nvSpPr>
            <p:cNvPr name="Freeform 26" id="26"/>
            <p:cNvSpPr/>
            <p:nvPr/>
          </p:nvSpPr>
          <p:spPr>
            <a:xfrm flipH="false" flipV="false" rot="0">
              <a:off x="0" y="0"/>
              <a:ext cx="1470550" cy="1699881"/>
            </a:xfrm>
            <a:custGeom>
              <a:avLst/>
              <a:gdLst/>
              <a:ahLst/>
              <a:cxnLst/>
              <a:rect r="r" b="b" t="t" l="l"/>
              <a:pathLst>
                <a:path h="1699881" w="1470550">
                  <a:moveTo>
                    <a:pt x="0" y="0"/>
                  </a:moveTo>
                  <a:lnTo>
                    <a:pt x="1470550" y="0"/>
                  </a:lnTo>
                  <a:lnTo>
                    <a:pt x="1470550" y="1699881"/>
                  </a:lnTo>
                  <a:lnTo>
                    <a:pt x="0" y="1699881"/>
                  </a:lnTo>
                  <a:close/>
                </a:path>
              </a:pathLst>
            </a:custGeom>
            <a:blipFill>
              <a:blip r:embed="rId10"/>
              <a:stretch>
                <a:fillRect l="0" t="0" r="0" b="0"/>
              </a:stretch>
            </a:blipFill>
          </p:spPr>
        </p:sp>
      </p:grpSp>
      <p:sp>
        <p:nvSpPr>
          <p:cNvPr name="TextBox 27" id="27"/>
          <p:cNvSpPr txBox="true"/>
          <p:nvPr/>
        </p:nvSpPr>
        <p:spPr>
          <a:xfrm rot="0">
            <a:off x="10396545" y="7350884"/>
            <a:ext cx="5631604" cy="895350"/>
          </a:xfrm>
          <a:prstGeom prst="rect">
            <a:avLst/>
          </a:prstGeom>
        </p:spPr>
        <p:txBody>
          <a:bodyPr anchor="t" rtlCol="false" tIns="0" lIns="0" bIns="0" rIns="0">
            <a:spAutoFit/>
          </a:bodyPr>
          <a:lstStyle/>
          <a:p>
            <a:pPr algn="ctr">
              <a:lnSpc>
                <a:spcPts val="3554"/>
              </a:lnSpc>
            </a:pPr>
            <a:r>
              <a:rPr lang="en-US" sz="2961">
                <a:solidFill>
                  <a:srgbClr val="21294D"/>
                </a:solidFill>
                <a:latin typeface="Varela Round"/>
                <a:ea typeface="Varela Round"/>
                <a:cs typeface="Varela Round"/>
                <a:sym typeface="Varela Round"/>
              </a:rPr>
              <a:t>Seguimiento y Tickets de Salida</a:t>
            </a:r>
          </a:p>
        </p:txBody>
      </p:sp>
      <p:sp>
        <p:nvSpPr>
          <p:cNvPr name="TextBox 28" id="28"/>
          <p:cNvSpPr txBox="true"/>
          <p:nvPr/>
        </p:nvSpPr>
        <p:spPr>
          <a:xfrm rot="0">
            <a:off x="10166142" y="8308603"/>
            <a:ext cx="6289843" cy="724275"/>
          </a:xfrm>
          <a:prstGeom prst="rect">
            <a:avLst/>
          </a:prstGeom>
        </p:spPr>
        <p:txBody>
          <a:bodyPr anchor="t" rtlCol="false" tIns="0" lIns="0" bIns="0" rIns="0">
            <a:spAutoFit/>
          </a:bodyPr>
          <a:lstStyle/>
          <a:p>
            <a:pPr algn="ctr">
              <a:lnSpc>
                <a:spcPts val="2886"/>
              </a:lnSpc>
            </a:pPr>
            <a:r>
              <a:rPr lang="en-US" sz="2220">
                <a:solidFill>
                  <a:srgbClr val="21294D"/>
                </a:solidFill>
                <a:latin typeface="Roboto"/>
                <a:ea typeface="Roboto"/>
                <a:cs typeface="Roboto"/>
                <a:sym typeface="Roboto"/>
              </a:rPr>
              <a:t>Registro estandarizado post-actividad para mantener la trazabilidad del impacto educativo.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2853"/>
            <a:ext cx="18284428" cy="10199284"/>
            <a:chOff x="0" y="0"/>
            <a:chExt cx="24379238" cy="13599046"/>
          </a:xfrm>
        </p:grpSpPr>
        <p:sp>
          <p:nvSpPr>
            <p:cNvPr name="Freeform 3" id="3"/>
            <p:cNvSpPr/>
            <p:nvPr/>
          </p:nvSpPr>
          <p:spPr>
            <a:xfrm flipH="false" flipV="false" rot="0">
              <a:off x="0" y="0"/>
              <a:ext cx="24379238" cy="13599046"/>
            </a:xfrm>
            <a:custGeom>
              <a:avLst/>
              <a:gdLst/>
              <a:ahLst/>
              <a:cxnLst/>
              <a:rect r="r" b="b" t="t" l="l"/>
              <a:pathLst>
                <a:path h="13599046" w="24379238">
                  <a:moveTo>
                    <a:pt x="0" y="0"/>
                  </a:moveTo>
                  <a:lnTo>
                    <a:pt x="24379238" y="0"/>
                  </a:lnTo>
                  <a:lnTo>
                    <a:pt x="24379238" y="13599046"/>
                  </a:lnTo>
                  <a:lnTo>
                    <a:pt x="0" y="13599046"/>
                  </a:lnTo>
                  <a:close/>
                </a:path>
              </a:pathLst>
            </a:custGeom>
            <a:blipFill>
              <a:blip r:embed="rId2"/>
              <a:stretch>
                <a:fillRect l="0" t="0" r="0" b="0"/>
              </a:stretch>
            </a:blipFill>
          </p:spPr>
        </p:sp>
      </p:grpSp>
      <p:sp>
        <p:nvSpPr>
          <p:cNvPr name="TextBox 4" id="4"/>
          <p:cNvSpPr txBox="true"/>
          <p:nvPr/>
        </p:nvSpPr>
        <p:spPr>
          <a:xfrm rot="0">
            <a:off x="969075" y="827757"/>
            <a:ext cx="11702034" cy="771525"/>
          </a:xfrm>
          <a:prstGeom prst="rect">
            <a:avLst/>
          </a:prstGeom>
        </p:spPr>
        <p:txBody>
          <a:bodyPr anchor="t" rtlCol="false" tIns="0" lIns="0" bIns="0" rIns="0">
            <a:spAutoFit/>
          </a:bodyPr>
          <a:lstStyle/>
          <a:p>
            <a:pPr algn="l">
              <a:lnSpc>
                <a:spcPts val="6045"/>
              </a:lnSpc>
            </a:pPr>
            <a:r>
              <a:rPr lang="en-US" sz="5037">
                <a:solidFill>
                  <a:srgbClr val="2D4263"/>
                </a:solidFill>
                <a:latin typeface="ABeeZee Bold"/>
                <a:ea typeface="ABeeZee Bold"/>
                <a:cs typeface="ABeeZee Bold"/>
                <a:sym typeface="ABeeZee Bold"/>
              </a:rPr>
              <a:t>Delimitación del Alcance y Proyección</a:t>
            </a:r>
          </a:p>
        </p:txBody>
      </p:sp>
      <p:grpSp>
        <p:nvGrpSpPr>
          <p:cNvPr name="Group 5" id="5"/>
          <p:cNvGrpSpPr/>
          <p:nvPr/>
        </p:nvGrpSpPr>
        <p:grpSpPr>
          <a:xfrm rot="0">
            <a:off x="651117" y="1955219"/>
            <a:ext cx="8491097" cy="1912366"/>
            <a:chOff x="0" y="0"/>
            <a:chExt cx="11321463" cy="2549821"/>
          </a:xfrm>
        </p:grpSpPr>
        <p:sp>
          <p:nvSpPr>
            <p:cNvPr name="Freeform 6" id="6"/>
            <p:cNvSpPr/>
            <p:nvPr/>
          </p:nvSpPr>
          <p:spPr>
            <a:xfrm flipH="false" flipV="false" rot="0">
              <a:off x="0" y="0"/>
              <a:ext cx="11321462" cy="2549821"/>
            </a:xfrm>
            <a:custGeom>
              <a:avLst/>
              <a:gdLst/>
              <a:ahLst/>
              <a:cxnLst/>
              <a:rect r="r" b="b" t="t" l="l"/>
              <a:pathLst>
                <a:path h="2549821" w="11321462">
                  <a:moveTo>
                    <a:pt x="0" y="0"/>
                  </a:moveTo>
                  <a:lnTo>
                    <a:pt x="11321462" y="0"/>
                  </a:lnTo>
                  <a:lnTo>
                    <a:pt x="11321462" y="2549821"/>
                  </a:lnTo>
                  <a:lnTo>
                    <a:pt x="0" y="2549821"/>
                  </a:lnTo>
                  <a:close/>
                </a:path>
              </a:pathLst>
            </a:custGeom>
            <a:blipFill>
              <a:blip r:embed="rId3"/>
              <a:stretch>
                <a:fillRect l="0" t="0" r="0" b="0"/>
              </a:stretch>
            </a:blipFill>
          </p:spPr>
        </p:sp>
      </p:grpSp>
      <p:grpSp>
        <p:nvGrpSpPr>
          <p:cNvPr name="Group 7" id="7"/>
          <p:cNvGrpSpPr/>
          <p:nvPr/>
        </p:nvGrpSpPr>
        <p:grpSpPr>
          <a:xfrm rot="0">
            <a:off x="863727" y="1955219"/>
            <a:ext cx="8278487" cy="1699881"/>
            <a:chOff x="0" y="0"/>
            <a:chExt cx="11037983" cy="2266508"/>
          </a:xfrm>
        </p:grpSpPr>
        <p:sp>
          <p:nvSpPr>
            <p:cNvPr name="Freeform 8" id="8"/>
            <p:cNvSpPr/>
            <p:nvPr/>
          </p:nvSpPr>
          <p:spPr>
            <a:xfrm flipH="false" flipV="false" rot="0">
              <a:off x="0" y="0"/>
              <a:ext cx="11037984" cy="2266508"/>
            </a:xfrm>
            <a:custGeom>
              <a:avLst/>
              <a:gdLst/>
              <a:ahLst/>
              <a:cxnLst/>
              <a:rect r="r" b="b" t="t" l="l"/>
              <a:pathLst>
                <a:path h="2266508" w="11037984">
                  <a:moveTo>
                    <a:pt x="0" y="0"/>
                  </a:moveTo>
                  <a:lnTo>
                    <a:pt x="11037984" y="0"/>
                  </a:lnTo>
                  <a:lnTo>
                    <a:pt x="11037984" y="2266508"/>
                  </a:lnTo>
                  <a:lnTo>
                    <a:pt x="0" y="2266508"/>
                  </a:lnTo>
                  <a:close/>
                </a:path>
              </a:pathLst>
            </a:custGeom>
            <a:blipFill>
              <a:blip r:embed="rId4"/>
              <a:stretch>
                <a:fillRect l="0" t="0" r="0" b="0"/>
              </a:stretch>
            </a:blipFill>
          </p:spPr>
        </p:sp>
      </p:grpSp>
      <p:grpSp>
        <p:nvGrpSpPr>
          <p:cNvPr name="Group 9" id="9"/>
          <p:cNvGrpSpPr/>
          <p:nvPr/>
        </p:nvGrpSpPr>
        <p:grpSpPr>
          <a:xfrm rot="0">
            <a:off x="9142214" y="1955219"/>
            <a:ext cx="8491097" cy="1912366"/>
            <a:chOff x="0" y="0"/>
            <a:chExt cx="11321463" cy="2549821"/>
          </a:xfrm>
        </p:grpSpPr>
        <p:sp>
          <p:nvSpPr>
            <p:cNvPr name="Freeform 10" id="10"/>
            <p:cNvSpPr/>
            <p:nvPr/>
          </p:nvSpPr>
          <p:spPr>
            <a:xfrm flipH="false" flipV="false" rot="0">
              <a:off x="0" y="0"/>
              <a:ext cx="11321462" cy="2549821"/>
            </a:xfrm>
            <a:custGeom>
              <a:avLst/>
              <a:gdLst/>
              <a:ahLst/>
              <a:cxnLst/>
              <a:rect r="r" b="b" t="t" l="l"/>
              <a:pathLst>
                <a:path h="2549821" w="11321462">
                  <a:moveTo>
                    <a:pt x="0" y="0"/>
                  </a:moveTo>
                  <a:lnTo>
                    <a:pt x="11321462" y="0"/>
                  </a:lnTo>
                  <a:lnTo>
                    <a:pt x="11321462" y="2549821"/>
                  </a:lnTo>
                  <a:lnTo>
                    <a:pt x="0" y="2549821"/>
                  </a:lnTo>
                  <a:close/>
                </a:path>
              </a:pathLst>
            </a:custGeom>
            <a:blipFill>
              <a:blip r:embed="rId5"/>
              <a:stretch>
                <a:fillRect l="0" t="0" r="0" b="0"/>
              </a:stretch>
            </a:blipFill>
          </p:spPr>
        </p:sp>
      </p:grpSp>
      <p:grpSp>
        <p:nvGrpSpPr>
          <p:cNvPr name="Group 11" id="11"/>
          <p:cNvGrpSpPr/>
          <p:nvPr/>
        </p:nvGrpSpPr>
        <p:grpSpPr>
          <a:xfrm rot="0">
            <a:off x="9354824" y="1955219"/>
            <a:ext cx="8065878" cy="1699881"/>
            <a:chOff x="0" y="0"/>
            <a:chExt cx="10754504" cy="2266508"/>
          </a:xfrm>
        </p:grpSpPr>
        <p:sp>
          <p:nvSpPr>
            <p:cNvPr name="Freeform 12" id="12"/>
            <p:cNvSpPr/>
            <p:nvPr/>
          </p:nvSpPr>
          <p:spPr>
            <a:xfrm flipH="false" flipV="false" rot="0">
              <a:off x="0" y="0"/>
              <a:ext cx="10754504" cy="2266508"/>
            </a:xfrm>
            <a:custGeom>
              <a:avLst/>
              <a:gdLst/>
              <a:ahLst/>
              <a:cxnLst/>
              <a:rect r="r" b="b" t="t" l="l"/>
              <a:pathLst>
                <a:path h="2266508" w="10754504">
                  <a:moveTo>
                    <a:pt x="0" y="0"/>
                  </a:moveTo>
                  <a:lnTo>
                    <a:pt x="10754504" y="0"/>
                  </a:lnTo>
                  <a:lnTo>
                    <a:pt x="10754504" y="2266508"/>
                  </a:lnTo>
                  <a:lnTo>
                    <a:pt x="0" y="2266508"/>
                  </a:lnTo>
                  <a:close/>
                </a:path>
              </a:pathLst>
            </a:custGeom>
            <a:blipFill>
              <a:blip r:embed="rId6"/>
              <a:stretch>
                <a:fillRect l="0" t="0" r="0" b="0"/>
              </a:stretch>
            </a:blipFill>
          </p:spPr>
        </p:sp>
      </p:grpSp>
      <p:sp>
        <p:nvSpPr>
          <p:cNvPr name="TextBox 13" id="13"/>
          <p:cNvSpPr txBox="true"/>
          <p:nvPr/>
        </p:nvSpPr>
        <p:spPr>
          <a:xfrm rot="0">
            <a:off x="9471334" y="2254753"/>
            <a:ext cx="7734313" cy="1266825"/>
          </a:xfrm>
          <a:prstGeom prst="rect">
            <a:avLst/>
          </a:prstGeom>
        </p:spPr>
        <p:txBody>
          <a:bodyPr anchor="t" rtlCol="false" tIns="0" lIns="0" bIns="0" rIns="0">
            <a:spAutoFit/>
          </a:bodyPr>
          <a:lstStyle/>
          <a:p>
            <a:pPr algn="ctr">
              <a:lnSpc>
                <a:spcPts val="4977"/>
              </a:lnSpc>
            </a:pPr>
            <a:r>
              <a:rPr lang="en-US" sz="4148">
                <a:solidFill>
                  <a:srgbClr val="FFFFFF"/>
                </a:solidFill>
                <a:latin typeface="ABeeZee Bold"/>
                <a:ea typeface="ABeeZee Bold"/>
                <a:cs typeface="ABeeZee Bold"/>
                <a:sym typeface="ABeeZee Bold"/>
              </a:rPr>
              <a:t>Horizontes Futuros - Fuera del</a:t>
            </a:r>
          </a:p>
          <a:p>
            <a:pPr algn="ctr">
              <a:lnSpc>
                <a:spcPts val="4977"/>
              </a:lnSpc>
            </a:pPr>
            <a:r>
              <a:rPr lang="en-US" sz="4148">
                <a:solidFill>
                  <a:srgbClr val="FFFFFF"/>
                </a:solidFill>
                <a:latin typeface="ABeeZee Bold"/>
                <a:ea typeface="ABeeZee Bold"/>
                <a:cs typeface="ABeeZee Bold"/>
                <a:sym typeface="ABeeZee Bold"/>
              </a:rPr>
              <a:t>Alcance Inicial</a:t>
            </a:r>
          </a:p>
        </p:txBody>
      </p:sp>
      <p:grpSp>
        <p:nvGrpSpPr>
          <p:cNvPr name="Group 14" id="14"/>
          <p:cNvGrpSpPr/>
          <p:nvPr/>
        </p:nvGrpSpPr>
        <p:grpSpPr>
          <a:xfrm rot="0">
            <a:off x="651117" y="3655099"/>
            <a:ext cx="8491097" cy="6162068"/>
            <a:chOff x="0" y="0"/>
            <a:chExt cx="11321463" cy="8216090"/>
          </a:xfrm>
        </p:grpSpPr>
        <p:sp>
          <p:nvSpPr>
            <p:cNvPr name="Freeform 15" id="15"/>
            <p:cNvSpPr/>
            <p:nvPr/>
          </p:nvSpPr>
          <p:spPr>
            <a:xfrm flipH="false" flipV="false" rot="0">
              <a:off x="0" y="0"/>
              <a:ext cx="11321462" cy="8216090"/>
            </a:xfrm>
            <a:custGeom>
              <a:avLst/>
              <a:gdLst/>
              <a:ahLst/>
              <a:cxnLst/>
              <a:rect r="r" b="b" t="t" l="l"/>
              <a:pathLst>
                <a:path h="8216090" w="11321462">
                  <a:moveTo>
                    <a:pt x="0" y="0"/>
                  </a:moveTo>
                  <a:lnTo>
                    <a:pt x="11321462" y="0"/>
                  </a:lnTo>
                  <a:lnTo>
                    <a:pt x="11321462" y="8216090"/>
                  </a:lnTo>
                  <a:lnTo>
                    <a:pt x="0" y="8216090"/>
                  </a:lnTo>
                  <a:close/>
                </a:path>
              </a:pathLst>
            </a:custGeom>
            <a:blipFill>
              <a:blip r:embed="rId7"/>
              <a:stretch>
                <a:fillRect l="0" t="0" r="0" b="0"/>
              </a:stretch>
            </a:blipFill>
          </p:spPr>
        </p:sp>
      </p:grpSp>
      <p:grpSp>
        <p:nvGrpSpPr>
          <p:cNvPr name="Group 16" id="16"/>
          <p:cNvGrpSpPr/>
          <p:nvPr/>
        </p:nvGrpSpPr>
        <p:grpSpPr>
          <a:xfrm rot="0">
            <a:off x="863727" y="3655099"/>
            <a:ext cx="8278487" cy="5949582"/>
            <a:chOff x="0" y="0"/>
            <a:chExt cx="11037983" cy="7932777"/>
          </a:xfrm>
        </p:grpSpPr>
        <p:sp>
          <p:nvSpPr>
            <p:cNvPr name="Freeform 17" id="17"/>
            <p:cNvSpPr/>
            <p:nvPr/>
          </p:nvSpPr>
          <p:spPr>
            <a:xfrm flipH="false" flipV="false" rot="0">
              <a:off x="0" y="0"/>
              <a:ext cx="11037984" cy="7932777"/>
            </a:xfrm>
            <a:custGeom>
              <a:avLst/>
              <a:gdLst/>
              <a:ahLst/>
              <a:cxnLst/>
              <a:rect r="r" b="b" t="t" l="l"/>
              <a:pathLst>
                <a:path h="7932777" w="11037984">
                  <a:moveTo>
                    <a:pt x="0" y="0"/>
                  </a:moveTo>
                  <a:lnTo>
                    <a:pt x="11037984" y="0"/>
                  </a:lnTo>
                  <a:lnTo>
                    <a:pt x="11037984" y="7932777"/>
                  </a:lnTo>
                  <a:lnTo>
                    <a:pt x="0" y="7932777"/>
                  </a:lnTo>
                  <a:close/>
                </a:path>
              </a:pathLst>
            </a:custGeom>
            <a:blipFill>
              <a:blip r:embed="rId8"/>
              <a:stretch>
                <a:fillRect l="0" t="0" r="0" b="0"/>
              </a:stretch>
            </a:blipFill>
          </p:spPr>
        </p:sp>
      </p:grpSp>
      <p:grpSp>
        <p:nvGrpSpPr>
          <p:cNvPr name="Group 18" id="18"/>
          <p:cNvGrpSpPr/>
          <p:nvPr/>
        </p:nvGrpSpPr>
        <p:grpSpPr>
          <a:xfrm rot="0">
            <a:off x="1302234" y="4292555"/>
            <a:ext cx="664405" cy="424970"/>
            <a:chOff x="0" y="0"/>
            <a:chExt cx="885873" cy="566627"/>
          </a:xfrm>
        </p:grpSpPr>
        <p:sp>
          <p:nvSpPr>
            <p:cNvPr name="Freeform 19" id="19"/>
            <p:cNvSpPr/>
            <p:nvPr/>
          </p:nvSpPr>
          <p:spPr>
            <a:xfrm flipH="false" flipV="false" rot="0">
              <a:off x="0" y="0"/>
              <a:ext cx="885873" cy="566627"/>
            </a:xfrm>
            <a:custGeom>
              <a:avLst/>
              <a:gdLst/>
              <a:ahLst/>
              <a:cxnLst/>
              <a:rect r="r" b="b" t="t" l="l"/>
              <a:pathLst>
                <a:path h="566627" w="885873">
                  <a:moveTo>
                    <a:pt x="0" y="0"/>
                  </a:moveTo>
                  <a:lnTo>
                    <a:pt x="885873" y="0"/>
                  </a:lnTo>
                  <a:lnTo>
                    <a:pt x="885873" y="566627"/>
                  </a:lnTo>
                  <a:lnTo>
                    <a:pt x="0" y="566627"/>
                  </a:lnTo>
                  <a:close/>
                </a:path>
              </a:pathLst>
            </a:custGeom>
            <a:blipFill>
              <a:blip r:embed="rId9"/>
              <a:stretch>
                <a:fillRect l="0" t="0" r="0" b="0"/>
              </a:stretch>
            </a:blipFill>
          </p:spPr>
        </p:sp>
      </p:grpSp>
      <p:sp>
        <p:nvSpPr>
          <p:cNvPr name="TextBox 20" id="20"/>
          <p:cNvSpPr txBox="true"/>
          <p:nvPr/>
        </p:nvSpPr>
        <p:spPr>
          <a:xfrm rot="0">
            <a:off x="2230700" y="4287067"/>
            <a:ext cx="6033861" cy="495300"/>
          </a:xfrm>
          <a:prstGeom prst="rect">
            <a:avLst/>
          </a:prstGeom>
        </p:spPr>
        <p:txBody>
          <a:bodyPr anchor="t" rtlCol="false" tIns="0" lIns="0" bIns="0" rIns="0">
            <a:spAutoFit/>
          </a:bodyPr>
          <a:lstStyle/>
          <a:p>
            <a:pPr algn="l">
              <a:lnSpc>
                <a:spcPts val="3850"/>
              </a:lnSpc>
            </a:pPr>
            <a:r>
              <a:rPr lang="en-US" sz="3208">
                <a:solidFill>
                  <a:srgbClr val="000000"/>
                </a:solidFill>
                <a:latin typeface="ABeeZee"/>
                <a:ea typeface="ABeeZee"/>
                <a:cs typeface="ABeeZee"/>
                <a:sym typeface="ABeeZee"/>
              </a:rPr>
              <a:t>- Plataforma Web Responsiva.</a:t>
            </a:r>
          </a:p>
        </p:txBody>
      </p:sp>
      <p:grpSp>
        <p:nvGrpSpPr>
          <p:cNvPr name="Group 21" id="21"/>
          <p:cNvGrpSpPr/>
          <p:nvPr/>
        </p:nvGrpSpPr>
        <p:grpSpPr>
          <a:xfrm rot="0">
            <a:off x="1302234" y="5142495"/>
            <a:ext cx="664405" cy="637455"/>
            <a:chOff x="0" y="0"/>
            <a:chExt cx="885873" cy="849940"/>
          </a:xfrm>
        </p:grpSpPr>
        <p:sp>
          <p:nvSpPr>
            <p:cNvPr name="Freeform 22" id="22"/>
            <p:cNvSpPr/>
            <p:nvPr/>
          </p:nvSpPr>
          <p:spPr>
            <a:xfrm flipH="false" flipV="false" rot="0">
              <a:off x="0" y="0"/>
              <a:ext cx="885873" cy="849940"/>
            </a:xfrm>
            <a:custGeom>
              <a:avLst/>
              <a:gdLst/>
              <a:ahLst/>
              <a:cxnLst/>
              <a:rect r="r" b="b" t="t" l="l"/>
              <a:pathLst>
                <a:path h="849940" w="885873">
                  <a:moveTo>
                    <a:pt x="0" y="0"/>
                  </a:moveTo>
                  <a:lnTo>
                    <a:pt x="885873" y="0"/>
                  </a:lnTo>
                  <a:lnTo>
                    <a:pt x="885873" y="849940"/>
                  </a:lnTo>
                  <a:lnTo>
                    <a:pt x="0" y="849940"/>
                  </a:lnTo>
                  <a:close/>
                </a:path>
              </a:pathLst>
            </a:custGeom>
            <a:blipFill>
              <a:blip r:embed="rId10"/>
              <a:stretch>
                <a:fillRect l="0" t="0" r="0" b="0"/>
              </a:stretch>
            </a:blipFill>
          </p:spPr>
        </p:sp>
      </p:grpSp>
      <p:sp>
        <p:nvSpPr>
          <p:cNvPr name="TextBox 23" id="23"/>
          <p:cNvSpPr txBox="true"/>
          <p:nvPr/>
        </p:nvSpPr>
        <p:spPr>
          <a:xfrm rot="0">
            <a:off x="2230700" y="5321215"/>
            <a:ext cx="6033861" cy="798360"/>
          </a:xfrm>
          <a:prstGeom prst="rect">
            <a:avLst/>
          </a:prstGeom>
        </p:spPr>
        <p:txBody>
          <a:bodyPr anchor="t" rtlCol="false" tIns="0" lIns="0" bIns="0" rIns="0">
            <a:spAutoFit/>
          </a:bodyPr>
          <a:lstStyle/>
          <a:p>
            <a:pPr algn="l">
              <a:lnSpc>
                <a:spcPts val="3149"/>
              </a:lnSpc>
            </a:pPr>
            <a:r>
              <a:rPr lang="en-US" sz="2862">
                <a:solidFill>
                  <a:srgbClr val="000000"/>
                </a:solidFill>
                <a:latin typeface="ABeeZee"/>
                <a:ea typeface="ABeeZee"/>
                <a:cs typeface="ABeeZee"/>
                <a:sym typeface="ABeeZee"/>
              </a:rPr>
              <a:t>- Flujos prioritarios críticos (Roles, Calendario, Asignación, Tickets).</a:t>
            </a:r>
          </a:p>
        </p:txBody>
      </p:sp>
      <p:grpSp>
        <p:nvGrpSpPr>
          <p:cNvPr name="Group 24" id="24"/>
          <p:cNvGrpSpPr/>
          <p:nvPr/>
        </p:nvGrpSpPr>
        <p:grpSpPr>
          <a:xfrm rot="0">
            <a:off x="1302234" y="6629891"/>
            <a:ext cx="664405" cy="637455"/>
            <a:chOff x="0" y="0"/>
            <a:chExt cx="885873" cy="849940"/>
          </a:xfrm>
        </p:grpSpPr>
        <p:sp>
          <p:nvSpPr>
            <p:cNvPr name="Freeform 25" id="25"/>
            <p:cNvSpPr/>
            <p:nvPr/>
          </p:nvSpPr>
          <p:spPr>
            <a:xfrm flipH="false" flipV="false" rot="0">
              <a:off x="0" y="0"/>
              <a:ext cx="885873" cy="849940"/>
            </a:xfrm>
            <a:custGeom>
              <a:avLst/>
              <a:gdLst/>
              <a:ahLst/>
              <a:cxnLst/>
              <a:rect r="r" b="b" t="t" l="l"/>
              <a:pathLst>
                <a:path h="849940" w="885873">
                  <a:moveTo>
                    <a:pt x="0" y="0"/>
                  </a:moveTo>
                  <a:lnTo>
                    <a:pt x="885873" y="0"/>
                  </a:lnTo>
                  <a:lnTo>
                    <a:pt x="885873" y="849940"/>
                  </a:lnTo>
                  <a:lnTo>
                    <a:pt x="0" y="849940"/>
                  </a:lnTo>
                  <a:close/>
                </a:path>
              </a:pathLst>
            </a:custGeom>
            <a:blipFill>
              <a:blip r:embed="rId11"/>
              <a:stretch>
                <a:fillRect l="0" t="0" r="0" b="0"/>
              </a:stretch>
            </a:blipFill>
          </p:spPr>
        </p:sp>
      </p:grpSp>
      <p:sp>
        <p:nvSpPr>
          <p:cNvPr name="TextBox 26" id="26"/>
          <p:cNvSpPr txBox="true"/>
          <p:nvPr/>
        </p:nvSpPr>
        <p:spPr>
          <a:xfrm rot="0">
            <a:off x="2230700" y="6700064"/>
            <a:ext cx="6033861" cy="457200"/>
          </a:xfrm>
          <a:prstGeom prst="rect">
            <a:avLst/>
          </a:prstGeom>
        </p:spPr>
        <p:txBody>
          <a:bodyPr anchor="t" rtlCol="false" tIns="0" lIns="0" bIns="0" rIns="0">
            <a:spAutoFit/>
          </a:bodyPr>
          <a:lstStyle/>
          <a:p>
            <a:pPr algn="l">
              <a:lnSpc>
                <a:spcPts val="3672"/>
              </a:lnSpc>
            </a:pPr>
            <a:r>
              <a:rPr lang="en-US" sz="3060">
                <a:solidFill>
                  <a:srgbClr val="000000"/>
                </a:solidFill>
                <a:latin typeface="ABeeZee"/>
                <a:ea typeface="ABeeZee"/>
                <a:cs typeface="ABeeZee"/>
                <a:sym typeface="ABeeZee"/>
              </a:rPr>
              <a:t>- Validación breve con usuarios.</a:t>
            </a:r>
          </a:p>
        </p:txBody>
      </p:sp>
      <p:grpSp>
        <p:nvGrpSpPr>
          <p:cNvPr name="Group 27" id="27"/>
          <p:cNvGrpSpPr/>
          <p:nvPr/>
        </p:nvGrpSpPr>
        <p:grpSpPr>
          <a:xfrm rot="0">
            <a:off x="1302234" y="7692316"/>
            <a:ext cx="664405" cy="424970"/>
            <a:chOff x="0" y="0"/>
            <a:chExt cx="885873" cy="566627"/>
          </a:xfrm>
        </p:grpSpPr>
        <p:sp>
          <p:nvSpPr>
            <p:cNvPr name="Freeform 28" id="28"/>
            <p:cNvSpPr/>
            <p:nvPr/>
          </p:nvSpPr>
          <p:spPr>
            <a:xfrm flipH="false" flipV="false" rot="0">
              <a:off x="0" y="0"/>
              <a:ext cx="885873" cy="566627"/>
            </a:xfrm>
            <a:custGeom>
              <a:avLst/>
              <a:gdLst/>
              <a:ahLst/>
              <a:cxnLst/>
              <a:rect r="r" b="b" t="t" l="l"/>
              <a:pathLst>
                <a:path h="566627" w="885873">
                  <a:moveTo>
                    <a:pt x="0" y="0"/>
                  </a:moveTo>
                  <a:lnTo>
                    <a:pt x="885873" y="0"/>
                  </a:lnTo>
                  <a:lnTo>
                    <a:pt x="885873" y="566627"/>
                  </a:lnTo>
                  <a:lnTo>
                    <a:pt x="0" y="566627"/>
                  </a:lnTo>
                  <a:close/>
                </a:path>
              </a:pathLst>
            </a:custGeom>
            <a:blipFill>
              <a:blip r:embed="rId12"/>
              <a:stretch>
                <a:fillRect l="0" t="0" r="0" b="0"/>
              </a:stretch>
            </a:blipFill>
          </p:spPr>
        </p:sp>
      </p:grpSp>
      <p:sp>
        <p:nvSpPr>
          <p:cNvPr name="TextBox 29" id="29"/>
          <p:cNvSpPr txBox="true"/>
          <p:nvPr/>
        </p:nvSpPr>
        <p:spPr>
          <a:xfrm rot="0">
            <a:off x="2230700" y="7643906"/>
            <a:ext cx="6033861" cy="1466850"/>
          </a:xfrm>
          <a:prstGeom prst="rect">
            <a:avLst/>
          </a:prstGeom>
        </p:spPr>
        <p:txBody>
          <a:bodyPr anchor="t" rtlCol="false" tIns="0" lIns="0" bIns="0" rIns="0">
            <a:spAutoFit/>
          </a:bodyPr>
          <a:lstStyle/>
          <a:p>
            <a:pPr algn="l">
              <a:lnSpc>
                <a:spcPts val="3850"/>
              </a:lnSpc>
            </a:pPr>
            <a:r>
              <a:rPr lang="en-US" sz="3208">
                <a:solidFill>
                  <a:srgbClr val="000000"/>
                </a:solidFill>
                <a:latin typeface="ABeeZee"/>
                <a:ea typeface="ABeeZee"/>
                <a:cs typeface="ABeeZee"/>
                <a:sym typeface="ABeeZee"/>
              </a:rPr>
              <a:t>- Desarrollo sin costo para la Fundación durante la etapa académica.</a:t>
            </a:r>
          </a:p>
        </p:txBody>
      </p:sp>
      <p:grpSp>
        <p:nvGrpSpPr>
          <p:cNvPr name="Group 30" id="30"/>
          <p:cNvGrpSpPr/>
          <p:nvPr/>
        </p:nvGrpSpPr>
        <p:grpSpPr>
          <a:xfrm rot="0">
            <a:off x="9142214" y="3655099"/>
            <a:ext cx="8491097" cy="6162068"/>
            <a:chOff x="0" y="0"/>
            <a:chExt cx="11321463" cy="8216090"/>
          </a:xfrm>
        </p:grpSpPr>
        <p:sp>
          <p:nvSpPr>
            <p:cNvPr name="Freeform 31" id="31"/>
            <p:cNvSpPr/>
            <p:nvPr/>
          </p:nvSpPr>
          <p:spPr>
            <a:xfrm flipH="false" flipV="false" rot="0">
              <a:off x="0" y="0"/>
              <a:ext cx="11321462" cy="8216090"/>
            </a:xfrm>
            <a:custGeom>
              <a:avLst/>
              <a:gdLst/>
              <a:ahLst/>
              <a:cxnLst/>
              <a:rect r="r" b="b" t="t" l="l"/>
              <a:pathLst>
                <a:path h="8216090" w="11321462">
                  <a:moveTo>
                    <a:pt x="0" y="0"/>
                  </a:moveTo>
                  <a:lnTo>
                    <a:pt x="11321462" y="0"/>
                  </a:lnTo>
                  <a:lnTo>
                    <a:pt x="11321462" y="8216090"/>
                  </a:lnTo>
                  <a:lnTo>
                    <a:pt x="0" y="8216090"/>
                  </a:lnTo>
                  <a:close/>
                </a:path>
              </a:pathLst>
            </a:custGeom>
            <a:blipFill>
              <a:blip r:embed="rId13"/>
              <a:stretch>
                <a:fillRect l="0" t="0" r="0" b="0"/>
              </a:stretch>
            </a:blipFill>
          </p:spPr>
        </p:sp>
      </p:grpSp>
      <p:grpSp>
        <p:nvGrpSpPr>
          <p:cNvPr name="Group 32" id="32"/>
          <p:cNvGrpSpPr/>
          <p:nvPr/>
        </p:nvGrpSpPr>
        <p:grpSpPr>
          <a:xfrm rot="0">
            <a:off x="9354824" y="3655099"/>
            <a:ext cx="8065878" cy="5949582"/>
            <a:chOff x="0" y="0"/>
            <a:chExt cx="10754504" cy="7932777"/>
          </a:xfrm>
        </p:grpSpPr>
        <p:sp>
          <p:nvSpPr>
            <p:cNvPr name="Freeform 33" id="33"/>
            <p:cNvSpPr/>
            <p:nvPr/>
          </p:nvSpPr>
          <p:spPr>
            <a:xfrm flipH="false" flipV="false" rot="0">
              <a:off x="0" y="0"/>
              <a:ext cx="10754504" cy="7932777"/>
            </a:xfrm>
            <a:custGeom>
              <a:avLst/>
              <a:gdLst/>
              <a:ahLst/>
              <a:cxnLst/>
              <a:rect r="r" b="b" t="t" l="l"/>
              <a:pathLst>
                <a:path h="7932777" w="10754504">
                  <a:moveTo>
                    <a:pt x="0" y="0"/>
                  </a:moveTo>
                  <a:lnTo>
                    <a:pt x="10754504" y="0"/>
                  </a:lnTo>
                  <a:lnTo>
                    <a:pt x="10754504" y="7932777"/>
                  </a:lnTo>
                  <a:lnTo>
                    <a:pt x="0" y="7932777"/>
                  </a:lnTo>
                  <a:close/>
                </a:path>
              </a:pathLst>
            </a:custGeom>
            <a:blipFill>
              <a:blip r:embed="rId14"/>
              <a:stretch>
                <a:fillRect l="0" t="0" r="0" b="0"/>
              </a:stretch>
            </a:blipFill>
          </p:spPr>
        </p:sp>
      </p:grpSp>
      <p:grpSp>
        <p:nvGrpSpPr>
          <p:cNvPr name="Group 34" id="34"/>
          <p:cNvGrpSpPr/>
          <p:nvPr/>
        </p:nvGrpSpPr>
        <p:grpSpPr>
          <a:xfrm rot="0">
            <a:off x="9567433" y="4080070"/>
            <a:ext cx="890303" cy="849940"/>
            <a:chOff x="0" y="0"/>
            <a:chExt cx="1187070" cy="1133254"/>
          </a:xfrm>
        </p:grpSpPr>
        <p:sp>
          <p:nvSpPr>
            <p:cNvPr name="Freeform 35" id="35"/>
            <p:cNvSpPr/>
            <p:nvPr/>
          </p:nvSpPr>
          <p:spPr>
            <a:xfrm flipH="false" flipV="false" rot="0">
              <a:off x="0" y="0"/>
              <a:ext cx="1187070" cy="1133254"/>
            </a:xfrm>
            <a:custGeom>
              <a:avLst/>
              <a:gdLst/>
              <a:ahLst/>
              <a:cxnLst/>
              <a:rect r="r" b="b" t="t" l="l"/>
              <a:pathLst>
                <a:path h="1133254" w="1187070">
                  <a:moveTo>
                    <a:pt x="0" y="0"/>
                  </a:moveTo>
                  <a:lnTo>
                    <a:pt x="1187070" y="0"/>
                  </a:lnTo>
                  <a:lnTo>
                    <a:pt x="1187070" y="1133254"/>
                  </a:lnTo>
                  <a:lnTo>
                    <a:pt x="0" y="1133254"/>
                  </a:lnTo>
                  <a:close/>
                </a:path>
              </a:pathLst>
            </a:custGeom>
            <a:blipFill>
              <a:blip r:embed="rId15"/>
              <a:stretch>
                <a:fillRect l="0" t="0" r="0" b="0"/>
              </a:stretch>
            </a:blipFill>
          </p:spPr>
        </p:sp>
      </p:grpSp>
      <p:sp>
        <p:nvSpPr>
          <p:cNvPr name="TextBox 36" id="36"/>
          <p:cNvSpPr txBox="true"/>
          <p:nvPr/>
        </p:nvSpPr>
        <p:spPr>
          <a:xfrm rot="0">
            <a:off x="10732959" y="4287067"/>
            <a:ext cx="6033861" cy="495300"/>
          </a:xfrm>
          <a:prstGeom prst="rect">
            <a:avLst/>
          </a:prstGeom>
        </p:spPr>
        <p:txBody>
          <a:bodyPr anchor="t" rtlCol="false" tIns="0" lIns="0" bIns="0" rIns="0">
            <a:spAutoFit/>
          </a:bodyPr>
          <a:lstStyle/>
          <a:p>
            <a:pPr algn="l">
              <a:lnSpc>
                <a:spcPts val="3850"/>
              </a:lnSpc>
            </a:pPr>
            <a:r>
              <a:rPr lang="en-US" sz="3208">
                <a:solidFill>
                  <a:srgbClr val="000000"/>
                </a:solidFill>
                <a:latin typeface="ABeeZee"/>
                <a:ea typeface="ABeeZee"/>
                <a:cs typeface="ABeeZee"/>
                <a:sym typeface="ABeeZee"/>
              </a:rPr>
              <a:t>- Aplicación Móvil Nativa.</a:t>
            </a:r>
          </a:p>
        </p:txBody>
      </p:sp>
      <p:grpSp>
        <p:nvGrpSpPr>
          <p:cNvPr name="Group 37" id="37"/>
          <p:cNvGrpSpPr/>
          <p:nvPr/>
        </p:nvGrpSpPr>
        <p:grpSpPr>
          <a:xfrm rot="0">
            <a:off x="9567433" y="5142495"/>
            <a:ext cx="890303" cy="849940"/>
            <a:chOff x="0" y="0"/>
            <a:chExt cx="1187070" cy="1133254"/>
          </a:xfrm>
        </p:grpSpPr>
        <p:sp>
          <p:nvSpPr>
            <p:cNvPr name="Freeform 38" id="38"/>
            <p:cNvSpPr/>
            <p:nvPr/>
          </p:nvSpPr>
          <p:spPr>
            <a:xfrm flipH="false" flipV="false" rot="0">
              <a:off x="0" y="0"/>
              <a:ext cx="1187070" cy="1133254"/>
            </a:xfrm>
            <a:custGeom>
              <a:avLst/>
              <a:gdLst/>
              <a:ahLst/>
              <a:cxnLst/>
              <a:rect r="r" b="b" t="t" l="l"/>
              <a:pathLst>
                <a:path h="1133254" w="1187070">
                  <a:moveTo>
                    <a:pt x="0" y="0"/>
                  </a:moveTo>
                  <a:lnTo>
                    <a:pt x="1187070" y="0"/>
                  </a:lnTo>
                  <a:lnTo>
                    <a:pt x="1187070" y="1133254"/>
                  </a:lnTo>
                  <a:lnTo>
                    <a:pt x="0" y="1133254"/>
                  </a:lnTo>
                  <a:close/>
                </a:path>
              </a:pathLst>
            </a:custGeom>
            <a:blipFill>
              <a:blip r:embed="rId16"/>
              <a:stretch>
                <a:fillRect l="0" t="0" r="0" b="0"/>
              </a:stretch>
            </a:blipFill>
          </p:spPr>
        </p:sp>
      </p:grpSp>
      <p:sp>
        <p:nvSpPr>
          <p:cNvPr name="TextBox 39" id="39"/>
          <p:cNvSpPr txBox="true"/>
          <p:nvPr/>
        </p:nvSpPr>
        <p:spPr>
          <a:xfrm rot="0">
            <a:off x="10732959" y="5279177"/>
            <a:ext cx="6033861" cy="917054"/>
          </a:xfrm>
          <a:prstGeom prst="rect">
            <a:avLst/>
          </a:prstGeom>
        </p:spPr>
        <p:txBody>
          <a:bodyPr anchor="t" rtlCol="false" tIns="0" lIns="0" bIns="0" rIns="0">
            <a:spAutoFit/>
          </a:bodyPr>
          <a:lstStyle/>
          <a:p>
            <a:pPr algn="l">
              <a:lnSpc>
                <a:spcPts val="3529"/>
              </a:lnSpc>
            </a:pPr>
            <a:r>
              <a:rPr lang="en-US" sz="3208">
                <a:solidFill>
                  <a:srgbClr val="000000"/>
                </a:solidFill>
                <a:latin typeface="ABeeZee"/>
                <a:ea typeface="ABeeZee"/>
                <a:cs typeface="ABeeZee"/>
                <a:sym typeface="ABeeZee"/>
              </a:rPr>
              <a:t>- Plataforma completa de</a:t>
            </a:r>
          </a:p>
          <a:p>
            <a:pPr algn="l">
              <a:lnSpc>
                <a:spcPts val="3529"/>
              </a:lnSpc>
            </a:pPr>
            <a:r>
              <a:rPr lang="en-US" sz="3208">
                <a:solidFill>
                  <a:srgbClr val="000000"/>
                </a:solidFill>
                <a:latin typeface="ABeeZee"/>
                <a:ea typeface="ABeeZee"/>
                <a:cs typeface="ABeeZee"/>
                <a:sym typeface="ABeeZee"/>
              </a:rPr>
              <a:t>E-learning y Gamificación.</a:t>
            </a:r>
          </a:p>
        </p:txBody>
      </p:sp>
      <p:grpSp>
        <p:nvGrpSpPr>
          <p:cNvPr name="Group 40" id="40"/>
          <p:cNvGrpSpPr/>
          <p:nvPr/>
        </p:nvGrpSpPr>
        <p:grpSpPr>
          <a:xfrm rot="0">
            <a:off x="9567433" y="6629891"/>
            <a:ext cx="890303" cy="637455"/>
            <a:chOff x="0" y="0"/>
            <a:chExt cx="1187070" cy="849940"/>
          </a:xfrm>
        </p:grpSpPr>
        <p:sp>
          <p:nvSpPr>
            <p:cNvPr name="Freeform 41" id="41"/>
            <p:cNvSpPr/>
            <p:nvPr/>
          </p:nvSpPr>
          <p:spPr>
            <a:xfrm flipH="false" flipV="false" rot="0">
              <a:off x="0" y="0"/>
              <a:ext cx="1187070" cy="849940"/>
            </a:xfrm>
            <a:custGeom>
              <a:avLst/>
              <a:gdLst/>
              <a:ahLst/>
              <a:cxnLst/>
              <a:rect r="r" b="b" t="t" l="l"/>
              <a:pathLst>
                <a:path h="849940" w="1187070">
                  <a:moveTo>
                    <a:pt x="0" y="0"/>
                  </a:moveTo>
                  <a:lnTo>
                    <a:pt x="1187070" y="0"/>
                  </a:lnTo>
                  <a:lnTo>
                    <a:pt x="1187070" y="849940"/>
                  </a:lnTo>
                  <a:lnTo>
                    <a:pt x="0" y="849940"/>
                  </a:lnTo>
                  <a:close/>
                </a:path>
              </a:pathLst>
            </a:custGeom>
            <a:blipFill>
              <a:blip r:embed="rId17"/>
              <a:stretch>
                <a:fillRect l="0" t="0" r="0" b="0"/>
              </a:stretch>
            </a:blipFill>
          </p:spPr>
        </p:sp>
      </p:grpSp>
      <p:sp>
        <p:nvSpPr>
          <p:cNvPr name="TextBox 42" id="42"/>
          <p:cNvSpPr txBox="true"/>
          <p:nvPr/>
        </p:nvSpPr>
        <p:spPr>
          <a:xfrm rot="0">
            <a:off x="10732959" y="6710459"/>
            <a:ext cx="6033861" cy="438150"/>
          </a:xfrm>
          <a:prstGeom prst="rect">
            <a:avLst/>
          </a:prstGeom>
        </p:spPr>
        <p:txBody>
          <a:bodyPr anchor="t" rtlCol="false" tIns="0" lIns="0" bIns="0" rIns="0">
            <a:spAutoFit/>
          </a:bodyPr>
          <a:lstStyle/>
          <a:p>
            <a:pPr algn="l">
              <a:lnSpc>
                <a:spcPts val="3376"/>
              </a:lnSpc>
            </a:pPr>
            <a:r>
              <a:rPr lang="en-US" sz="2813">
                <a:solidFill>
                  <a:srgbClr val="000000"/>
                </a:solidFill>
                <a:latin typeface="ABeeZee"/>
                <a:ea typeface="ABeeZee"/>
                <a:cs typeface="ABeeZee"/>
                <a:sym typeface="ABeeZee"/>
              </a:rPr>
              <a:t>- Analítica avanzada de datos (IA).</a:t>
            </a:r>
          </a:p>
        </p:txBody>
      </p:sp>
      <p:grpSp>
        <p:nvGrpSpPr>
          <p:cNvPr name="Group 43" id="43"/>
          <p:cNvGrpSpPr/>
          <p:nvPr/>
        </p:nvGrpSpPr>
        <p:grpSpPr>
          <a:xfrm rot="0">
            <a:off x="9567433" y="7479831"/>
            <a:ext cx="890303" cy="849940"/>
            <a:chOff x="0" y="0"/>
            <a:chExt cx="1187070" cy="1133254"/>
          </a:xfrm>
        </p:grpSpPr>
        <p:sp>
          <p:nvSpPr>
            <p:cNvPr name="Freeform 44" id="44"/>
            <p:cNvSpPr/>
            <p:nvPr/>
          </p:nvSpPr>
          <p:spPr>
            <a:xfrm flipH="false" flipV="false" rot="0">
              <a:off x="0" y="0"/>
              <a:ext cx="1187070" cy="1133254"/>
            </a:xfrm>
            <a:custGeom>
              <a:avLst/>
              <a:gdLst/>
              <a:ahLst/>
              <a:cxnLst/>
              <a:rect r="r" b="b" t="t" l="l"/>
              <a:pathLst>
                <a:path h="1133254" w="1187070">
                  <a:moveTo>
                    <a:pt x="0" y="0"/>
                  </a:moveTo>
                  <a:lnTo>
                    <a:pt x="1187070" y="0"/>
                  </a:lnTo>
                  <a:lnTo>
                    <a:pt x="1187070" y="1133254"/>
                  </a:lnTo>
                  <a:lnTo>
                    <a:pt x="0" y="1133254"/>
                  </a:lnTo>
                  <a:close/>
                </a:path>
              </a:pathLst>
            </a:custGeom>
            <a:blipFill>
              <a:blip r:embed="rId18"/>
              <a:stretch>
                <a:fillRect l="0" t="0" r="0" b="0"/>
              </a:stretch>
            </a:blipFill>
          </p:spPr>
        </p:sp>
      </p:grpSp>
      <p:sp>
        <p:nvSpPr>
          <p:cNvPr name="TextBox 45" id="45"/>
          <p:cNvSpPr txBox="true"/>
          <p:nvPr/>
        </p:nvSpPr>
        <p:spPr>
          <a:xfrm rot="0">
            <a:off x="10732959" y="7676009"/>
            <a:ext cx="6033861" cy="917054"/>
          </a:xfrm>
          <a:prstGeom prst="rect">
            <a:avLst/>
          </a:prstGeom>
        </p:spPr>
        <p:txBody>
          <a:bodyPr anchor="t" rtlCol="false" tIns="0" lIns="0" bIns="0" rIns="0">
            <a:spAutoFit/>
          </a:bodyPr>
          <a:lstStyle/>
          <a:p>
            <a:pPr algn="l">
              <a:lnSpc>
                <a:spcPts val="3529"/>
              </a:lnSpc>
            </a:pPr>
            <a:r>
              <a:rPr lang="en-US" sz="3208">
                <a:solidFill>
                  <a:srgbClr val="000000"/>
                </a:solidFill>
                <a:latin typeface="ABeeZee"/>
                <a:ea typeface="ABeeZee"/>
                <a:cs typeface="ABeeZee"/>
                <a:sym typeface="ABeeZee"/>
              </a:rPr>
              <a:t>- Costos de hosting productivo y SLA de soporte continuo.</a:t>
            </a:r>
          </a:p>
        </p:txBody>
      </p:sp>
      <p:sp>
        <p:nvSpPr>
          <p:cNvPr name="TextBox 46" id="46"/>
          <p:cNvSpPr txBox="true"/>
          <p:nvPr/>
        </p:nvSpPr>
        <p:spPr>
          <a:xfrm rot="0">
            <a:off x="1078781" y="2214912"/>
            <a:ext cx="7734313" cy="1343025"/>
          </a:xfrm>
          <a:prstGeom prst="rect">
            <a:avLst/>
          </a:prstGeom>
        </p:spPr>
        <p:txBody>
          <a:bodyPr anchor="t" rtlCol="false" tIns="0" lIns="0" bIns="0" rIns="0">
            <a:spAutoFit/>
          </a:bodyPr>
          <a:lstStyle/>
          <a:p>
            <a:pPr algn="ctr">
              <a:lnSpc>
                <a:spcPts val="5274"/>
              </a:lnSpc>
            </a:pPr>
            <a:r>
              <a:rPr lang="en-US" sz="4395">
                <a:solidFill>
                  <a:srgbClr val="FFFFFF"/>
                </a:solidFill>
                <a:latin typeface="ABeeZee Bold"/>
                <a:ea typeface="ABeeZee Bold"/>
                <a:cs typeface="ABeeZee Bold"/>
                <a:sym typeface="ABeeZee Bold"/>
              </a:rPr>
              <a:t>Incluido en el MVP - Capstone Apt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1640"/>
            <a:ext cx="18284428" cy="10393778"/>
            <a:chOff x="0" y="0"/>
            <a:chExt cx="24379238" cy="13858370"/>
          </a:xfrm>
        </p:grpSpPr>
        <p:sp>
          <p:nvSpPr>
            <p:cNvPr name="Freeform 3" id="3"/>
            <p:cNvSpPr/>
            <p:nvPr/>
          </p:nvSpPr>
          <p:spPr>
            <a:xfrm flipH="false" flipV="false" rot="0">
              <a:off x="0" y="0"/>
              <a:ext cx="24379238" cy="13858371"/>
            </a:xfrm>
            <a:custGeom>
              <a:avLst/>
              <a:gdLst/>
              <a:ahLst/>
              <a:cxnLst/>
              <a:rect r="r" b="b" t="t" l="l"/>
              <a:pathLst>
                <a:path h="13858371" w="24379238">
                  <a:moveTo>
                    <a:pt x="0" y="0"/>
                  </a:moveTo>
                  <a:lnTo>
                    <a:pt x="24379238" y="0"/>
                  </a:lnTo>
                  <a:lnTo>
                    <a:pt x="24379238" y="13858371"/>
                  </a:lnTo>
                  <a:lnTo>
                    <a:pt x="0" y="13858371"/>
                  </a:lnTo>
                  <a:close/>
                </a:path>
              </a:pathLst>
            </a:custGeom>
            <a:blipFill>
              <a:blip r:embed="rId2"/>
              <a:stretch>
                <a:fillRect l="-953" t="0" r="-953" b="0"/>
              </a:stretch>
            </a:blipFill>
          </p:spPr>
        </p:sp>
      </p:grpSp>
      <p:grpSp>
        <p:nvGrpSpPr>
          <p:cNvPr name="Group 4" id="4"/>
          <p:cNvGrpSpPr/>
          <p:nvPr/>
        </p:nvGrpSpPr>
        <p:grpSpPr>
          <a:xfrm rot="0">
            <a:off x="651117" y="2167704"/>
            <a:ext cx="16982194" cy="7649463"/>
            <a:chOff x="0" y="0"/>
            <a:chExt cx="22642926" cy="10199284"/>
          </a:xfrm>
        </p:grpSpPr>
        <p:sp>
          <p:nvSpPr>
            <p:cNvPr name="Freeform 5" id="5"/>
            <p:cNvSpPr/>
            <p:nvPr/>
          </p:nvSpPr>
          <p:spPr>
            <a:xfrm flipH="false" flipV="false" rot="0">
              <a:off x="0" y="0"/>
              <a:ext cx="22642925" cy="10199284"/>
            </a:xfrm>
            <a:custGeom>
              <a:avLst/>
              <a:gdLst/>
              <a:ahLst/>
              <a:cxnLst/>
              <a:rect r="r" b="b" t="t" l="l"/>
              <a:pathLst>
                <a:path h="10199284" w="22642925">
                  <a:moveTo>
                    <a:pt x="0" y="0"/>
                  </a:moveTo>
                  <a:lnTo>
                    <a:pt x="22642925" y="0"/>
                  </a:lnTo>
                  <a:lnTo>
                    <a:pt x="22642925" y="10199284"/>
                  </a:lnTo>
                  <a:lnTo>
                    <a:pt x="0" y="10199284"/>
                  </a:lnTo>
                  <a:close/>
                </a:path>
              </a:pathLst>
            </a:custGeom>
            <a:blipFill>
              <a:blip r:embed="rId3"/>
              <a:stretch>
                <a:fillRect l="0" t="0" r="0" b="0"/>
              </a:stretch>
            </a:blipFill>
          </p:spPr>
        </p:sp>
      </p:grpSp>
      <p:sp>
        <p:nvSpPr>
          <p:cNvPr name="TextBox 6" id="6"/>
          <p:cNvSpPr txBox="true"/>
          <p:nvPr/>
        </p:nvSpPr>
        <p:spPr>
          <a:xfrm rot="0">
            <a:off x="1023928" y="957513"/>
            <a:ext cx="15852599" cy="711679"/>
          </a:xfrm>
          <a:prstGeom prst="rect">
            <a:avLst/>
          </a:prstGeom>
        </p:spPr>
        <p:txBody>
          <a:bodyPr anchor="t" rtlCol="false" tIns="0" lIns="0" bIns="0" rIns="0">
            <a:spAutoFit/>
          </a:bodyPr>
          <a:lstStyle/>
          <a:p>
            <a:pPr algn="l">
              <a:lnSpc>
                <a:spcPts val="5541"/>
              </a:lnSpc>
            </a:pPr>
            <a:r>
              <a:rPr lang="en-US" sz="5037" b="true">
                <a:solidFill>
                  <a:srgbClr val="213142"/>
                </a:solidFill>
                <a:latin typeface="TT Interphases Bold"/>
                <a:ea typeface="TT Interphases Bold"/>
                <a:cs typeface="TT Interphases Bold"/>
                <a:sym typeface="TT Interphases Bold"/>
              </a:rPr>
              <a:t>Alineación Académica: Perfil de Egreso en Acción</a:t>
            </a:r>
          </a:p>
        </p:txBody>
      </p:sp>
      <p:sp>
        <p:nvSpPr>
          <p:cNvPr name="TextBox 7" id="7"/>
          <p:cNvSpPr txBox="true"/>
          <p:nvPr/>
        </p:nvSpPr>
        <p:spPr>
          <a:xfrm rot="0">
            <a:off x="1627314" y="2876726"/>
            <a:ext cx="2578104" cy="449701"/>
          </a:xfrm>
          <a:prstGeom prst="rect">
            <a:avLst/>
          </a:prstGeom>
        </p:spPr>
        <p:txBody>
          <a:bodyPr anchor="t" rtlCol="false" tIns="0" lIns="0" bIns="0" rIns="0">
            <a:spAutoFit/>
          </a:bodyPr>
          <a:lstStyle/>
          <a:p>
            <a:pPr algn="l">
              <a:lnSpc>
                <a:spcPts val="3475"/>
              </a:lnSpc>
            </a:pPr>
            <a:r>
              <a:rPr lang="en-US" sz="3159" b="true">
                <a:solidFill>
                  <a:srgbClr val="37578D"/>
                </a:solidFill>
                <a:latin typeface="TT Interphases Bold"/>
                <a:ea typeface="TT Interphases Bold"/>
                <a:cs typeface="TT Interphases Bold"/>
                <a:sym typeface="TT Interphases Bold"/>
              </a:rPr>
              <a:t>Competencia</a:t>
            </a:r>
          </a:p>
        </p:txBody>
      </p:sp>
      <p:grpSp>
        <p:nvGrpSpPr>
          <p:cNvPr name="Group 8" id="8"/>
          <p:cNvGrpSpPr/>
          <p:nvPr/>
        </p:nvGrpSpPr>
        <p:grpSpPr>
          <a:xfrm rot="0">
            <a:off x="1514844" y="3230129"/>
            <a:ext cx="3494771" cy="424970"/>
            <a:chOff x="0" y="0"/>
            <a:chExt cx="4659694" cy="566627"/>
          </a:xfrm>
        </p:grpSpPr>
        <p:sp>
          <p:nvSpPr>
            <p:cNvPr name="Freeform 9" id="9"/>
            <p:cNvSpPr/>
            <p:nvPr/>
          </p:nvSpPr>
          <p:spPr>
            <a:xfrm flipH="false" flipV="false" rot="0">
              <a:off x="0" y="0"/>
              <a:ext cx="4659694" cy="566627"/>
            </a:xfrm>
            <a:custGeom>
              <a:avLst/>
              <a:gdLst/>
              <a:ahLst/>
              <a:cxnLst/>
              <a:rect r="r" b="b" t="t" l="l"/>
              <a:pathLst>
                <a:path h="566627" w="4659694">
                  <a:moveTo>
                    <a:pt x="0" y="0"/>
                  </a:moveTo>
                  <a:lnTo>
                    <a:pt x="4659694" y="0"/>
                  </a:lnTo>
                  <a:lnTo>
                    <a:pt x="4659694" y="566627"/>
                  </a:lnTo>
                  <a:lnTo>
                    <a:pt x="0" y="566627"/>
                  </a:lnTo>
                  <a:close/>
                </a:path>
              </a:pathLst>
            </a:custGeom>
            <a:blipFill>
              <a:blip r:embed="rId4"/>
              <a:stretch>
                <a:fillRect l="0" t="0" r="0" b="0"/>
              </a:stretch>
            </a:blipFill>
          </p:spPr>
        </p:sp>
      </p:grpSp>
      <p:sp>
        <p:nvSpPr>
          <p:cNvPr name="TextBox 10" id="10"/>
          <p:cNvSpPr txBox="true"/>
          <p:nvPr/>
        </p:nvSpPr>
        <p:spPr>
          <a:xfrm rot="0">
            <a:off x="1627314" y="3772254"/>
            <a:ext cx="1828443" cy="748852"/>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Gestión de Proyectos</a:t>
            </a:r>
          </a:p>
        </p:txBody>
      </p:sp>
      <p:grpSp>
        <p:nvGrpSpPr>
          <p:cNvPr name="Group 11" id="11"/>
          <p:cNvGrpSpPr/>
          <p:nvPr/>
        </p:nvGrpSpPr>
        <p:grpSpPr>
          <a:xfrm rot="0">
            <a:off x="1302234" y="4717525"/>
            <a:ext cx="15679960" cy="212485"/>
            <a:chOff x="0" y="0"/>
            <a:chExt cx="20906614" cy="283313"/>
          </a:xfrm>
        </p:grpSpPr>
        <p:sp>
          <p:nvSpPr>
            <p:cNvPr name="Freeform 12" id="12"/>
            <p:cNvSpPr/>
            <p:nvPr/>
          </p:nvSpPr>
          <p:spPr>
            <a:xfrm flipH="false" flipV="false" rot="0">
              <a:off x="0" y="0"/>
              <a:ext cx="20906614" cy="283313"/>
            </a:xfrm>
            <a:custGeom>
              <a:avLst/>
              <a:gdLst/>
              <a:ahLst/>
              <a:cxnLst/>
              <a:rect r="r" b="b" t="t" l="l"/>
              <a:pathLst>
                <a:path h="283313" w="20906614">
                  <a:moveTo>
                    <a:pt x="0" y="0"/>
                  </a:moveTo>
                  <a:lnTo>
                    <a:pt x="20906614" y="0"/>
                  </a:lnTo>
                  <a:lnTo>
                    <a:pt x="20906614" y="283313"/>
                  </a:lnTo>
                  <a:lnTo>
                    <a:pt x="0" y="283313"/>
                  </a:lnTo>
                  <a:close/>
                </a:path>
              </a:pathLst>
            </a:custGeom>
            <a:blipFill>
              <a:blip r:embed="rId5"/>
              <a:stretch>
                <a:fillRect l="0" t="0" r="0" b="0"/>
              </a:stretch>
            </a:blipFill>
          </p:spPr>
        </p:sp>
      </p:grpSp>
      <p:sp>
        <p:nvSpPr>
          <p:cNvPr name="TextBox 13" id="13"/>
          <p:cNvSpPr txBox="true"/>
          <p:nvPr/>
        </p:nvSpPr>
        <p:spPr>
          <a:xfrm rot="0">
            <a:off x="1627314" y="5200153"/>
            <a:ext cx="2779233" cy="748852"/>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Modelamiento de Datos</a:t>
            </a:r>
          </a:p>
        </p:txBody>
      </p:sp>
      <p:grpSp>
        <p:nvGrpSpPr>
          <p:cNvPr name="Group 14" id="14"/>
          <p:cNvGrpSpPr/>
          <p:nvPr/>
        </p:nvGrpSpPr>
        <p:grpSpPr>
          <a:xfrm rot="0">
            <a:off x="1302234" y="6204921"/>
            <a:ext cx="15679960" cy="212485"/>
            <a:chOff x="0" y="0"/>
            <a:chExt cx="20906614" cy="283313"/>
          </a:xfrm>
        </p:grpSpPr>
        <p:sp>
          <p:nvSpPr>
            <p:cNvPr name="Freeform 15" id="15"/>
            <p:cNvSpPr/>
            <p:nvPr/>
          </p:nvSpPr>
          <p:spPr>
            <a:xfrm flipH="false" flipV="false" rot="0">
              <a:off x="0" y="0"/>
              <a:ext cx="20906614" cy="283313"/>
            </a:xfrm>
            <a:custGeom>
              <a:avLst/>
              <a:gdLst/>
              <a:ahLst/>
              <a:cxnLst/>
              <a:rect r="r" b="b" t="t" l="l"/>
              <a:pathLst>
                <a:path h="283313" w="20906614">
                  <a:moveTo>
                    <a:pt x="0" y="0"/>
                  </a:moveTo>
                  <a:lnTo>
                    <a:pt x="20906614" y="0"/>
                  </a:lnTo>
                  <a:lnTo>
                    <a:pt x="20906614" y="283313"/>
                  </a:lnTo>
                  <a:lnTo>
                    <a:pt x="0" y="283313"/>
                  </a:lnTo>
                  <a:close/>
                </a:path>
              </a:pathLst>
            </a:custGeom>
            <a:blipFill>
              <a:blip r:embed="rId6"/>
              <a:stretch>
                <a:fillRect l="0" t="0" r="0" b="0"/>
              </a:stretch>
            </a:blipFill>
          </p:spPr>
        </p:sp>
      </p:grpSp>
      <p:sp>
        <p:nvSpPr>
          <p:cNvPr name="TextBox 16" id="16"/>
          <p:cNvSpPr txBox="true"/>
          <p:nvPr/>
        </p:nvSpPr>
        <p:spPr>
          <a:xfrm rot="0">
            <a:off x="1627314" y="6648452"/>
            <a:ext cx="2157563" cy="748852"/>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Desarrollo de Software</a:t>
            </a:r>
          </a:p>
        </p:txBody>
      </p:sp>
      <p:grpSp>
        <p:nvGrpSpPr>
          <p:cNvPr name="Group 17" id="17"/>
          <p:cNvGrpSpPr/>
          <p:nvPr/>
        </p:nvGrpSpPr>
        <p:grpSpPr>
          <a:xfrm rot="0">
            <a:off x="1302234" y="7692316"/>
            <a:ext cx="15679960" cy="212485"/>
            <a:chOff x="0" y="0"/>
            <a:chExt cx="20906614" cy="283313"/>
          </a:xfrm>
        </p:grpSpPr>
        <p:sp>
          <p:nvSpPr>
            <p:cNvPr name="Freeform 18" id="18"/>
            <p:cNvSpPr/>
            <p:nvPr/>
          </p:nvSpPr>
          <p:spPr>
            <a:xfrm flipH="false" flipV="false" rot="0">
              <a:off x="0" y="0"/>
              <a:ext cx="20906614" cy="283313"/>
            </a:xfrm>
            <a:custGeom>
              <a:avLst/>
              <a:gdLst/>
              <a:ahLst/>
              <a:cxnLst/>
              <a:rect r="r" b="b" t="t" l="l"/>
              <a:pathLst>
                <a:path h="283313" w="20906614">
                  <a:moveTo>
                    <a:pt x="0" y="0"/>
                  </a:moveTo>
                  <a:lnTo>
                    <a:pt x="20906614" y="0"/>
                  </a:lnTo>
                  <a:lnTo>
                    <a:pt x="20906614" y="283313"/>
                  </a:lnTo>
                  <a:lnTo>
                    <a:pt x="0" y="283313"/>
                  </a:lnTo>
                  <a:close/>
                </a:path>
              </a:pathLst>
            </a:custGeom>
            <a:blipFill>
              <a:blip r:embed="rId7"/>
              <a:stretch>
                <a:fillRect l="0" t="0" r="0" b="0"/>
              </a:stretch>
            </a:blipFill>
          </p:spPr>
        </p:sp>
      </p:grpSp>
      <p:sp>
        <p:nvSpPr>
          <p:cNvPr name="TextBox 19" id="19"/>
          <p:cNvSpPr txBox="true"/>
          <p:nvPr/>
        </p:nvSpPr>
        <p:spPr>
          <a:xfrm rot="0">
            <a:off x="1627314" y="8096750"/>
            <a:ext cx="3163206" cy="748852"/>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Calidad de Software (QA)</a:t>
            </a:r>
          </a:p>
        </p:txBody>
      </p:sp>
      <p:grpSp>
        <p:nvGrpSpPr>
          <p:cNvPr name="Group 20" id="20"/>
          <p:cNvGrpSpPr/>
          <p:nvPr/>
        </p:nvGrpSpPr>
        <p:grpSpPr>
          <a:xfrm rot="0">
            <a:off x="4996326" y="2592674"/>
            <a:ext cx="239186" cy="6587038"/>
            <a:chOff x="0" y="0"/>
            <a:chExt cx="318914" cy="8782717"/>
          </a:xfrm>
        </p:grpSpPr>
        <p:sp>
          <p:nvSpPr>
            <p:cNvPr name="Freeform 21" id="21"/>
            <p:cNvSpPr/>
            <p:nvPr/>
          </p:nvSpPr>
          <p:spPr>
            <a:xfrm flipH="false" flipV="false" rot="0">
              <a:off x="0" y="0"/>
              <a:ext cx="318914" cy="8782717"/>
            </a:xfrm>
            <a:custGeom>
              <a:avLst/>
              <a:gdLst/>
              <a:ahLst/>
              <a:cxnLst/>
              <a:rect r="r" b="b" t="t" l="l"/>
              <a:pathLst>
                <a:path h="8782717" w="318914">
                  <a:moveTo>
                    <a:pt x="0" y="0"/>
                  </a:moveTo>
                  <a:lnTo>
                    <a:pt x="318914" y="0"/>
                  </a:lnTo>
                  <a:lnTo>
                    <a:pt x="318914" y="8782717"/>
                  </a:lnTo>
                  <a:lnTo>
                    <a:pt x="0" y="8782717"/>
                  </a:lnTo>
                  <a:close/>
                </a:path>
              </a:pathLst>
            </a:custGeom>
            <a:blipFill>
              <a:blip r:embed="rId8"/>
              <a:stretch>
                <a:fillRect l="0" t="0" r="0" b="0"/>
              </a:stretch>
            </a:blipFill>
          </p:spPr>
        </p:sp>
      </p:grpSp>
      <p:sp>
        <p:nvSpPr>
          <p:cNvPr name="TextBox 22" id="22"/>
          <p:cNvSpPr txBox="true"/>
          <p:nvPr/>
        </p:nvSpPr>
        <p:spPr>
          <a:xfrm rot="0">
            <a:off x="5357337" y="2878983"/>
            <a:ext cx="4534538" cy="450957"/>
          </a:xfrm>
          <a:prstGeom prst="rect">
            <a:avLst/>
          </a:prstGeom>
        </p:spPr>
        <p:txBody>
          <a:bodyPr anchor="t" rtlCol="false" tIns="0" lIns="0" bIns="0" rIns="0">
            <a:spAutoFit/>
          </a:bodyPr>
          <a:lstStyle/>
          <a:p>
            <a:pPr algn="l">
              <a:lnSpc>
                <a:spcPts val="3584"/>
              </a:lnSpc>
            </a:pPr>
            <a:r>
              <a:rPr lang="en-US" sz="3258" b="true">
                <a:solidFill>
                  <a:srgbClr val="37578D"/>
                </a:solidFill>
                <a:latin typeface="TT Interphases Bold"/>
                <a:ea typeface="TT Interphases Bold"/>
                <a:cs typeface="TT Interphases Bold"/>
                <a:sym typeface="TT Interphases Bold"/>
              </a:rPr>
              <a:t>Aplicación en HuellApp</a:t>
            </a:r>
          </a:p>
        </p:txBody>
      </p:sp>
      <p:grpSp>
        <p:nvGrpSpPr>
          <p:cNvPr name="Group 23" id="23"/>
          <p:cNvGrpSpPr/>
          <p:nvPr/>
        </p:nvGrpSpPr>
        <p:grpSpPr>
          <a:xfrm rot="0">
            <a:off x="5222224" y="3230129"/>
            <a:ext cx="5886629" cy="424970"/>
            <a:chOff x="0" y="0"/>
            <a:chExt cx="7848839" cy="566627"/>
          </a:xfrm>
        </p:grpSpPr>
        <p:sp>
          <p:nvSpPr>
            <p:cNvPr name="Freeform 24" id="24"/>
            <p:cNvSpPr/>
            <p:nvPr/>
          </p:nvSpPr>
          <p:spPr>
            <a:xfrm flipH="false" flipV="false" rot="0">
              <a:off x="0" y="0"/>
              <a:ext cx="7848839" cy="566627"/>
            </a:xfrm>
            <a:custGeom>
              <a:avLst/>
              <a:gdLst/>
              <a:ahLst/>
              <a:cxnLst/>
              <a:rect r="r" b="b" t="t" l="l"/>
              <a:pathLst>
                <a:path h="566627" w="7848839">
                  <a:moveTo>
                    <a:pt x="0" y="0"/>
                  </a:moveTo>
                  <a:lnTo>
                    <a:pt x="7848839" y="0"/>
                  </a:lnTo>
                  <a:lnTo>
                    <a:pt x="7848839" y="566627"/>
                  </a:lnTo>
                  <a:lnTo>
                    <a:pt x="0" y="566627"/>
                  </a:lnTo>
                  <a:close/>
                </a:path>
              </a:pathLst>
            </a:custGeom>
            <a:blipFill>
              <a:blip r:embed="rId9"/>
              <a:stretch>
                <a:fillRect l="0" t="0" r="0" b="0"/>
              </a:stretch>
            </a:blipFill>
          </p:spPr>
        </p:sp>
      </p:grpSp>
      <p:sp>
        <p:nvSpPr>
          <p:cNvPr name="TextBox 25" id="25"/>
          <p:cNvSpPr txBox="true"/>
          <p:nvPr/>
        </p:nvSpPr>
        <p:spPr>
          <a:xfrm rot="0">
            <a:off x="5357337" y="3772254"/>
            <a:ext cx="5521897" cy="748852"/>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Planificación, priorización y control de riesgos.</a:t>
            </a:r>
          </a:p>
        </p:txBody>
      </p:sp>
      <p:sp>
        <p:nvSpPr>
          <p:cNvPr name="TextBox 26" id="26"/>
          <p:cNvSpPr txBox="true"/>
          <p:nvPr/>
        </p:nvSpPr>
        <p:spPr>
          <a:xfrm rot="0">
            <a:off x="5357337" y="4993830"/>
            <a:ext cx="5448760" cy="1120327"/>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Estructuración de usuarios, roles, colegios y asignaciones con reglas de integridad.</a:t>
            </a:r>
          </a:p>
        </p:txBody>
      </p:sp>
      <p:sp>
        <p:nvSpPr>
          <p:cNvPr name="TextBox 27" id="27"/>
          <p:cNvSpPr txBox="true"/>
          <p:nvPr/>
        </p:nvSpPr>
        <p:spPr>
          <a:xfrm rot="0">
            <a:off x="5357337" y="6648452"/>
            <a:ext cx="5521897" cy="748852"/>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Construcción iterativa del MVP web manteniendo trazabilidad.</a:t>
            </a:r>
          </a:p>
        </p:txBody>
      </p:sp>
      <p:sp>
        <p:nvSpPr>
          <p:cNvPr name="TextBox 28" id="28"/>
          <p:cNvSpPr txBox="true"/>
          <p:nvPr/>
        </p:nvSpPr>
        <p:spPr>
          <a:xfrm rot="0">
            <a:off x="5357337" y="8096750"/>
            <a:ext cx="4900227" cy="748852"/>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Diseño y ejecución de pruebas sobre flujos críticos.</a:t>
            </a:r>
          </a:p>
        </p:txBody>
      </p:sp>
      <p:grpSp>
        <p:nvGrpSpPr>
          <p:cNvPr name="Group 29" id="29"/>
          <p:cNvGrpSpPr/>
          <p:nvPr/>
        </p:nvGrpSpPr>
        <p:grpSpPr>
          <a:xfrm rot="0">
            <a:off x="11095565" y="2592674"/>
            <a:ext cx="225898" cy="6587038"/>
            <a:chOff x="0" y="0"/>
            <a:chExt cx="301197" cy="8782717"/>
          </a:xfrm>
        </p:grpSpPr>
        <p:sp>
          <p:nvSpPr>
            <p:cNvPr name="Freeform 30" id="30"/>
            <p:cNvSpPr/>
            <p:nvPr/>
          </p:nvSpPr>
          <p:spPr>
            <a:xfrm flipH="false" flipV="false" rot="0">
              <a:off x="0" y="0"/>
              <a:ext cx="301197" cy="8782717"/>
            </a:xfrm>
            <a:custGeom>
              <a:avLst/>
              <a:gdLst/>
              <a:ahLst/>
              <a:cxnLst/>
              <a:rect r="r" b="b" t="t" l="l"/>
              <a:pathLst>
                <a:path h="8782717" w="301197">
                  <a:moveTo>
                    <a:pt x="0" y="0"/>
                  </a:moveTo>
                  <a:lnTo>
                    <a:pt x="301197" y="0"/>
                  </a:lnTo>
                  <a:lnTo>
                    <a:pt x="301197" y="8782717"/>
                  </a:lnTo>
                  <a:lnTo>
                    <a:pt x="0" y="8782717"/>
                  </a:lnTo>
                  <a:close/>
                </a:path>
              </a:pathLst>
            </a:custGeom>
            <a:blipFill>
              <a:blip r:embed="rId10"/>
              <a:stretch>
                <a:fillRect l="0" t="0" r="0" b="0"/>
              </a:stretch>
            </a:blipFill>
          </p:spPr>
        </p:sp>
      </p:grpSp>
      <p:sp>
        <p:nvSpPr>
          <p:cNvPr name="TextBox 31" id="31"/>
          <p:cNvSpPr txBox="true"/>
          <p:nvPr/>
        </p:nvSpPr>
        <p:spPr>
          <a:xfrm rot="0">
            <a:off x="11409483" y="2885937"/>
            <a:ext cx="4113996" cy="450329"/>
          </a:xfrm>
          <a:prstGeom prst="rect">
            <a:avLst/>
          </a:prstGeom>
        </p:spPr>
        <p:txBody>
          <a:bodyPr anchor="t" rtlCol="false" tIns="0" lIns="0" bIns="0" rIns="0">
            <a:spAutoFit/>
          </a:bodyPr>
          <a:lstStyle/>
          <a:p>
            <a:pPr algn="l">
              <a:lnSpc>
                <a:spcPts val="3529"/>
              </a:lnSpc>
            </a:pPr>
            <a:r>
              <a:rPr lang="en-US" sz="3208" b="true">
                <a:solidFill>
                  <a:srgbClr val="37578D"/>
                </a:solidFill>
                <a:latin typeface="TT Interphases Bold"/>
                <a:ea typeface="TT Interphases Bold"/>
                <a:cs typeface="TT Interphases Bold"/>
                <a:sym typeface="TT Interphases Bold"/>
              </a:rPr>
              <a:t>Evidencia Entregable</a:t>
            </a:r>
          </a:p>
        </p:txBody>
      </p:sp>
      <p:grpSp>
        <p:nvGrpSpPr>
          <p:cNvPr name="Group 32" id="32"/>
          <p:cNvGrpSpPr/>
          <p:nvPr/>
        </p:nvGrpSpPr>
        <p:grpSpPr>
          <a:xfrm rot="0">
            <a:off x="11308175" y="3230129"/>
            <a:ext cx="5461410" cy="424970"/>
            <a:chOff x="0" y="0"/>
            <a:chExt cx="7281880" cy="566627"/>
          </a:xfrm>
        </p:grpSpPr>
        <p:sp>
          <p:nvSpPr>
            <p:cNvPr name="Freeform 33" id="33"/>
            <p:cNvSpPr/>
            <p:nvPr/>
          </p:nvSpPr>
          <p:spPr>
            <a:xfrm flipH="false" flipV="false" rot="0">
              <a:off x="0" y="0"/>
              <a:ext cx="7281880" cy="566627"/>
            </a:xfrm>
            <a:custGeom>
              <a:avLst/>
              <a:gdLst/>
              <a:ahLst/>
              <a:cxnLst/>
              <a:rect r="r" b="b" t="t" l="l"/>
              <a:pathLst>
                <a:path h="566627" w="7281880">
                  <a:moveTo>
                    <a:pt x="0" y="0"/>
                  </a:moveTo>
                  <a:lnTo>
                    <a:pt x="7281880" y="0"/>
                  </a:lnTo>
                  <a:lnTo>
                    <a:pt x="7281880" y="566627"/>
                  </a:lnTo>
                  <a:lnTo>
                    <a:pt x="0" y="566627"/>
                  </a:lnTo>
                  <a:close/>
                </a:path>
              </a:pathLst>
            </a:custGeom>
            <a:blipFill>
              <a:blip r:embed="rId11"/>
              <a:stretch>
                <a:fillRect l="0" t="0" r="0" b="0"/>
              </a:stretch>
            </a:blipFill>
          </p:spPr>
        </p:sp>
      </p:grpSp>
      <p:sp>
        <p:nvSpPr>
          <p:cNvPr name="TextBox 34" id="34"/>
          <p:cNvSpPr txBox="true"/>
          <p:nvPr/>
        </p:nvSpPr>
        <p:spPr>
          <a:xfrm rot="0">
            <a:off x="11409483" y="3772254"/>
            <a:ext cx="5083071" cy="748852"/>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Backlog, Carta Gantt, Tablero de tareas, Mínutas.</a:t>
            </a:r>
          </a:p>
        </p:txBody>
      </p:sp>
      <p:sp>
        <p:nvSpPr>
          <p:cNvPr name="TextBox 35" id="35"/>
          <p:cNvSpPr txBox="true"/>
          <p:nvPr/>
        </p:nvSpPr>
        <p:spPr>
          <a:xfrm rot="0">
            <a:off x="11409483" y="5200153"/>
            <a:ext cx="4077427" cy="748852"/>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Modelo Entidad-Relación, Dicionario de Datos.</a:t>
            </a:r>
          </a:p>
        </p:txBody>
      </p:sp>
      <p:sp>
        <p:nvSpPr>
          <p:cNvPr name="TextBox 36" id="36"/>
          <p:cNvSpPr txBox="true"/>
          <p:nvPr/>
        </p:nvSpPr>
        <p:spPr>
          <a:xfrm rot="0">
            <a:off x="11409483" y="6648452"/>
            <a:ext cx="5174493" cy="748852"/>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Repositorio (Git), Registro de versiones, Prototipos navegables.</a:t>
            </a:r>
          </a:p>
        </p:txBody>
      </p:sp>
      <p:sp>
        <p:nvSpPr>
          <p:cNvPr name="TextBox 37" id="37"/>
          <p:cNvSpPr txBox="true"/>
          <p:nvPr/>
        </p:nvSpPr>
        <p:spPr>
          <a:xfrm rot="0">
            <a:off x="11409483" y="7900626"/>
            <a:ext cx="4900227" cy="1120327"/>
          </a:xfrm>
          <a:prstGeom prst="rect">
            <a:avLst/>
          </a:prstGeom>
        </p:spPr>
        <p:txBody>
          <a:bodyPr anchor="t" rtlCol="false" tIns="0" lIns="0" bIns="0" rIns="0">
            <a:spAutoFit/>
          </a:bodyPr>
          <a:lstStyle/>
          <a:p>
            <a:pPr algn="l">
              <a:lnSpc>
                <a:spcPts val="2986"/>
              </a:lnSpc>
            </a:pPr>
            <a:r>
              <a:rPr lang="en-US" sz="2714">
                <a:solidFill>
                  <a:srgbClr val="000001"/>
                </a:solidFill>
                <a:latin typeface="TT Interphases"/>
                <a:ea typeface="TT Interphases"/>
                <a:cs typeface="TT Interphases"/>
                <a:sym typeface="TT Interphases"/>
              </a:rPr>
              <a:t>Plan de pruebas, Casos de uso, Registro de incidencias y correcciones.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2853"/>
            <a:ext cx="18284428" cy="10199284"/>
            <a:chOff x="0" y="0"/>
            <a:chExt cx="24379238" cy="13599046"/>
          </a:xfrm>
        </p:grpSpPr>
        <p:sp>
          <p:nvSpPr>
            <p:cNvPr name="Freeform 3" id="3"/>
            <p:cNvSpPr/>
            <p:nvPr/>
          </p:nvSpPr>
          <p:spPr>
            <a:xfrm flipH="false" flipV="false" rot="0">
              <a:off x="0" y="0"/>
              <a:ext cx="24379238" cy="13599046"/>
            </a:xfrm>
            <a:custGeom>
              <a:avLst/>
              <a:gdLst/>
              <a:ahLst/>
              <a:cxnLst/>
              <a:rect r="r" b="b" t="t" l="l"/>
              <a:pathLst>
                <a:path h="13599046" w="24379238">
                  <a:moveTo>
                    <a:pt x="0" y="0"/>
                  </a:moveTo>
                  <a:lnTo>
                    <a:pt x="24379238" y="0"/>
                  </a:lnTo>
                  <a:lnTo>
                    <a:pt x="24379238" y="13599046"/>
                  </a:lnTo>
                  <a:lnTo>
                    <a:pt x="0" y="13599046"/>
                  </a:lnTo>
                  <a:close/>
                </a:path>
              </a:pathLst>
            </a:custGeom>
            <a:blipFill>
              <a:blip r:embed="rId2"/>
              <a:stretch>
                <a:fillRect l="0" t="0" r="0" b="0"/>
              </a:stretch>
            </a:blipFill>
          </p:spPr>
        </p:sp>
      </p:grpSp>
      <p:sp>
        <p:nvSpPr>
          <p:cNvPr name="TextBox 4" id="4"/>
          <p:cNvSpPr txBox="true"/>
          <p:nvPr/>
        </p:nvSpPr>
        <p:spPr>
          <a:xfrm rot="0">
            <a:off x="1170203" y="1061666"/>
            <a:ext cx="14883524" cy="762000"/>
          </a:xfrm>
          <a:prstGeom prst="rect">
            <a:avLst/>
          </a:prstGeom>
        </p:spPr>
        <p:txBody>
          <a:bodyPr anchor="t" rtlCol="false" tIns="0" lIns="0" bIns="0" rIns="0">
            <a:spAutoFit/>
          </a:bodyPr>
          <a:lstStyle/>
          <a:p>
            <a:pPr algn="l">
              <a:lnSpc>
                <a:spcPts val="6045"/>
              </a:lnSpc>
            </a:pPr>
            <a:r>
              <a:rPr lang="en-US" sz="5037" b="true">
                <a:solidFill>
                  <a:srgbClr val="223C4D"/>
                </a:solidFill>
                <a:latin typeface="HK Grotesk Bold"/>
                <a:ea typeface="HK Grotesk Bold"/>
                <a:cs typeface="HK Grotesk Bold"/>
                <a:sym typeface="HK Grotesk Bold"/>
              </a:rPr>
              <a:t>Diagnóstico de Factibilidad y Mitigación de Riesgos</a:t>
            </a:r>
          </a:p>
        </p:txBody>
      </p:sp>
      <p:sp>
        <p:nvSpPr>
          <p:cNvPr name="TextBox 5" id="5"/>
          <p:cNvSpPr txBox="true"/>
          <p:nvPr/>
        </p:nvSpPr>
        <p:spPr>
          <a:xfrm rot="0">
            <a:off x="1170203" y="2020489"/>
            <a:ext cx="15669755" cy="866775"/>
          </a:xfrm>
          <a:prstGeom prst="rect">
            <a:avLst/>
          </a:prstGeom>
        </p:spPr>
        <p:txBody>
          <a:bodyPr anchor="t" rtlCol="false" tIns="0" lIns="0" bIns="0" rIns="0">
            <a:spAutoFit/>
          </a:bodyPr>
          <a:lstStyle/>
          <a:p>
            <a:pPr algn="l">
              <a:lnSpc>
                <a:spcPts val="3435"/>
              </a:lnSpc>
            </a:pPr>
            <a:r>
              <a:rPr lang="en-US" sz="2862" b="true">
                <a:solidFill>
                  <a:srgbClr val="223C4D"/>
                </a:solidFill>
                <a:latin typeface="HK Grotesk Medium"/>
                <a:ea typeface="HK Grotesk Medium"/>
                <a:cs typeface="HK Grotesk Medium"/>
                <a:sym typeface="HK Grotesk Medium"/>
              </a:rPr>
              <a:t>El proyecto es altamente viable manteniendo el enfoque en el MVP. Las restricciones identificadas se abordan de la siguiente manera:</a:t>
            </a:r>
          </a:p>
        </p:txBody>
      </p:sp>
      <p:grpSp>
        <p:nvGrpSpPr>
          <p:cNvPr name="Group 6" id="6"/>
          <p:cNvGrpSpPr/>
          <p:nvPr/>
        </p:nvGrpSpPr>
        <p:grpSpPr>
          <a:xfrm rot="0">
            <a:off x="1076336" y="3017644"/>
            <a:ext cx="7202151" cy="1699881"/>
            <a:chOff x="0" y="0"/>
            <a:chExt cx="9602868" cy="2266508"/>
          </a:xfrm>
        </p:grpSpPr>
        <p:sp>
          <p:nvSpPr>
            <p:cNvPr name="Freeform 7" id="7"/>
            <p:cNvSpPr/>
            <p:nvPr/>
          </p:nvSpPr>
          <p:spPr>
            <a:xfrm flipH="false" flipV="false" rot="0">
              <a:off x="0" y="0"/>
              <a:ext cx="9602868" cy="2266508"/>
            </a:xfrm>
            <a:custGeom>
              <a:avLst/>
              <a:gdLst/>
              <a:ahLst/>
              <a:cxnLst/>
              <a:rect r="r" b="b" t="t" l="l"/>
              <a:pathLst>
                <a:path h="2266508" w="9602868">
                  <a:moveTo>
                    <a:pt x="0" y="0"/>
                  </a:moveTo>
                  <a:lnTo>
                    <a:pt x="9602868" y="0"/>
                  </a:lnTo>
                  <a:lnTo>
                    <a:pt x="9602868" y="2266508"/>
                  </a:lnTo>
                  <a:lnTo>
                    <a:pt x="0" y="2266508"/>
                  </a:lnTo>
                  <a:close/>
                </a:path>
              </a:pathLst>
            </a:custGeom>
            <a:blipFill>
              <a:blip r:embed="rId3"/>
              <a:stretch>
                <a:fillRect l="0" t="0" r="0" b="0"/>
              </a:stretch>
            </a:blipFill>
          </p:spPr>
        </p:sp>
      </p:grpSp>
      <p:grpSp>
        <p:nvGrpSpPr>
          <p:cNvPr name="Group 8" id="8"/>
          <p:cNvGrpSpPr/>
          <p:nvPr/>
        </p:nvGrpSpPr>
        <p:grpSpPr>
          <a:xfrm rot="0">
            <a:off x="1302234" y="3442614"/>
            <a:ext cx="877015" cy="849940"/>
            <a:chOff x="0" y="0"/>
            <a:chExt cx="1169353" cy="1133254"/>
          </a:xfrm>
        </p:grpSpPr>
        <p:sp>
          <p:nvSpPr>
            <p:cNvPr name="Freeform 9" id="9"/>
            <p:cNvSpPr/>
            <p:nvPr/>
          </p:nvSpPr>
          <p:spPr>
            <a:xfrm flipH="false" flipV="false" rot="0">
              <a:off x="0" y="0"/>
              <a:ext cx="1169353" cy="1133254"/>
            </a:xfrm>
            <a:custGeom>
              <a:avLst/>
              <a:gdLst/>
              <a:ahLst/>
              <a:cxnLst/>
              <a:rect r="r" b="b" t="t" l="l"/>
              <a:pathLst>
                <a:path h="1133254" w="1169353">
                  <a:moveTo>
                    <a:pt x="0" y="0"/>
                  </a:moveTo>
                  <a:lnTo>
                    <a:pt x="1169353" y="0"/>
                  </a:lnTo>
                  <a:lnTo>
                    <a:pt x="1169353" y="1133254"/>
                  </a:lnTo>
                  <a:lnTo>
                    <a:pt x="0" y="1133254"/>
                  </a:lnTo>
                  <a:close/>
                </a:path>
              </a:pathLst>
            </a:custGeom>
            <a:blipFill>
              <a:blip r:embed="rId4"/>
              <a:stretch>
                <a:fillRect l="0" t="0" r="0" b="0"/>
              </a:stretch>
            </a:blipFill>
          </p:spPr>
        </p:sp>
      </p:grpSp>
      <p:grpSp>
        <p:nvGrpSpPr>
          <p:cNvPr name="Group 10" id="10"/>
          <p:cNvGrpSpPr/>
          <p:nvPr/>
        </p:nvGrpSpPr>
        <p:grpSpPr>
          <a:xfrm rot="0">
            <a:off x="8477809" y="3442614"/>
            <a:ext cx="451795" cy="849940"/>
            <a:chOff x="0" y="0"/>
            <a:chExt cx="602394" cy="1133254"/>
          </a:xfrm>
        </p:grpSpPr>
        <p:sp>
          <p:nvSpPr>
            <p:cNvPr name="Freeform 11" id="11"/>
            <p:cNvSpPr/>
            <p:nvPr/>
          </p:nvSpPr>
          <p:spPr>
            <a:xfrm flipH="false" flipV="false" rot="0">
              <a:off x="0" y="0"/>
              <a:ext cx="602394" cy="1133254"/>
            </a:xfrm>
            <a:custGeom>
              <a:avLst/>
              <a:gdLst/>
              <a:ahLst/>
              <a:cxnLst/>
              <a:rect r="r" b="b" t="t" l="l"/>
              <a:pathLst>
                <a:path h="1133254" w="602394">
                  <a:moveTo>
                    <a:pt x="0" y="0"/>
                  </a:moveTo>
                  <a:lnTo>
                    <a:pt x="602394" y="0"/>
                  </a:lnTo>
                  <a:lnTo>
                    <a:pt x="602394" y="1133254"/>
                  </a:lnTo>
                  <a:lnTo>
                    <a:pt x="0" y="1133254"/>
                  </a:lnTo>
                  <a:close/>
                </a:path>
              </a:pathLst>
            </a:custGeom>
            <a:blipFill>
              <a:blip r:embed="rId5"/>
              <a:stretch>
                <a:fillRect l="0" t="0" r="0" b="0"/>
              </a:stretch>
            </a:blipFill>
          </p:spPr>
        </p:sp>
      </p:grpSp>
      <p:grpSp>
        <p:nvGrpSpPr>
          <p:cNvPr name="Group 12" id="12"/>
          <p:cNvGrpSpPr/>
          <p:nvPr/>
        </p:nvGrpSpPr>
        <p:grpSpPr>
          <a:xfrm rot="0">
            <a:off x="9142214" y="3017644"/>
            <a:ext cx="8065878" cy="1699881"/>
            <a:chOff x="0" y="0"/>
            <a:chExt cx="10754504" cy="2266508"/>
          </a:xfrm>
        </p:grpSpPr>
        <p:sp>
          <p:nvSpPr>
            <p:cNvPr name="Freeform 13" id="13"/>
            <p:cNvSpPr/>
            <p:nvPr/>
          </p:nvSpPr>
          <p:spPr>
            <a:xfrm flipH="false" flipV="false" rot="0">
              <a:off x="0" y="0"/>
              <a:ext cx="10754504" cy="2266508"/>
            </a:xfrm>
            <a:custGeom>
              <a:avLst/>
              <a:gdLst/>
              <a:ahLst/>
              <a:cxnLst/>
              <a:rect r="r" b="b" t="t" l="l"/>
              <a:pathLst>
                <a:path h="2266508" w="10754504">
                  <a:moveTo>
                    <a:pt x="0" y="0"/>
                  </a:moveTo>
                  <a:lnTo>
                    <a:pt x="10754504" y="0"/>
                  </a:lnTo>
                  <a:lnTo>
                    <a:pt x="10754504" y="2266508"/>
                  </a:lnTo>
                  <a:lnTo>
                    <a:pt x="0" y="2266508"/>
                  </a:lnTo>
                  <a:close/>
                </a:path>
              </a:pathLst>
            </a:custGeom>
            <a:blipFill>
              <a:blip r:embed="rId6"/>
              <a:stretch>
                <a:fillRect l="0" t="0" r="0" b="0"/>
              </a:stretch>
            </a:blipFill>
          </p:spPr>
        </p:sp>
      </p:grpSp>
      <p:grpSp>
        <p:nvGrpSpPr>
          <p:cNvPr name="Group 14" id="14"/>
          <p:cNvGrpSpPr/>
          <p:nvPr/>
        </p:nvGrpSpPr>
        <p:grpSpPr>
          <a:xfrm rot="0">
            <a:off x="9567433" y="3442614"/>
            <a:ext cx="664405" cy="849940"/>
            <a:chOff x="0" y="0"/>
            <a:chExt cx="885873" cy="1133254"/>
          </a:xfrm>
        </p:grpSpPr>
        <p:sp>
          <p:nvSpPr>
            <p:cNvPr name="Freeform 15" id="15"/>
            <p:cNvSpPr/>
            <p:nvPr/>
          </p:nvSpPr>
          <p:spPr>
            <a:xfrm flipH="false" flipV="false" rot="0">
              <a:off x="0" y="0"/>
              <a:ext cx="885873" cy="1133254"/>
            </a:xfrm>
            <a:custGeom>
              <a:avLst/>
              <a:gdLst/>
              <a:ahLst/>
              <a:cxnLst/>
              <a:rect r="r" b="b" t="t" l="l"/>
              <a:pathLst>
                <a:path h="1133254" w="885873">
                  <a:moveTo>
                    <a:pt x="0" y="0"/>
                  </a:moveTo>
                  <a:lnTo>
                    <a:pt x="885873" y="0"/>
                  </a:lnTo>
                  <a:lnTo>
                    <a:pt x="885873" y="1133254"/>
                  </a:lnTo>
                  <a:lnTo>
                    <a:pt x="0" y="1133254"/>
                  </a:lnTo>
                  <a:close/>
                </a:path>
              </a:pathLst>
            </a:custGeom>
            <a:blipFill>
              <a:blip r:embed="rId7"/>
              <a:stretch>
                <a:fillRect l="0" t="0" r="0" b="0"/>
              </a:stretch>
            </a:blipFill>
          </p:spPr>
        </p:sp>
      </p:grpSp>
      <p:sp>
        <p:nvSpPr>
          <p:cNvPr name="TextBox 16" id="16"/>
          <p:cNvSpPr txBox="true"/>
          <p:nvPr/>
        </p:nvSpPr>
        <p:spPr>
          <a:xfrm rot="0">
            <a:off x="10440408" y="3370247"/>
            <a:ext cx="5851017" cy="1009650"/>
          </a:xfrm>
          <a:prstGeom prst="rect">
            <a:avLst/>
          </a:prstGeom>
        </p:spPr>
        <p:txBody>
          <a:bodyPr anchor="t" rtlCol="false" tIns="0" lIns="0" bIns="0" rIns="0">
            <a:spAutoFit/>
          </a:bodyPr>
          <a:lstStyle/>
          <a:p>
            <a:pPr algn="l">
              <a:lnSpc>
                <a:spcPts val="2664"/>
              </a:lnSpc>
            </a:pPr>
            <a:r>
              <a:rPr lang="en-US" sz="2220" b="true">
                <a:solidFill>
                  <a:srgbClr val="000000"/>
                </a:solidFill>
                <a:latin typeface="HK Grotesk Bold"/>
                <a:ea typeface="HK Grotesk Bold"/>
                <a:cs typeface="HK Grotesk Bold"/>
                <a:sym typeface="HK Grotesk Bold"/>
              </a:rPr>
              <a:t>Mitigación</a:t>
            </a:r>
          </a:p>
          <a:p>
            <a:pPr algn="l">
              <a:lnSpc>
                <a:spcPts val="2664"/>
              </a:lnSpc>
            </a:pPr>
            <a:r>
              <a:rPr lang="en-US" sz="2220" b="true">
                <a:solidFill>
                  <a:srgbClr val="000000"/>
                </a:solidFill>
                <a:latin typeface="HK Grotesk Medium"/>
                <a:ea typeface="HK Grotesk Medium"/>
                <a:cs typeface="HK Grotesk Medium"/>
                <a:sym typeface="HK Grotesk Medium"/>
              </a:rPr>
              <a:t>Backlog priorizado e iteraciones cortas.</a:t>
            </a:r>
          </a:p>
          <a:p>
            <a:pPr algn="l">
              <a:lnSpc>
                <a:spcPts val="2664"/>
              </a:lnSpc>
            </a:pPr>
            <a:r>
              <a:rPr lang="en-US" sz="2220" b="true">
                <a:solidFill>
                  <a:srgbClr val="000000"/>
                </a:solidFill>
                <a:latin typeface="HK Grotesk Medium"/>
                <a:ea typeface="HK Grotesk Medium"/>
                <a:cs typeface="HK Grotesk Medium"/>
                <a:sym typeface="HK Grotesk Medium"/>
              </a:rPr>
              <a:t>Postergación explícita de funciones no críticas.</a:t>
            </a:r>
          </a:p>
        </p:txBody>
      </p:sp>
      <p:grpSp>
        <p:nvGrpSpPr>
          <p:cNvPr name="Group 17" id="17"/>
          <p:cNvGrpSpPr/>
          <p:nvPr/>
        </p:nvGrpSpPr>
        <p:grpSpPr>
          <a:xfrm rot="0">
            <a:off x="1076336" y="4717525"/>
            <a:ext cx="7202151" cy="1699881"/>
            <a:chOff x="0" y="0"/>
            <a:chExt cx="9602868" cy="2266508"/>
          </a:xfrm>
        </p:grpSpPr>
        <p:sp>
          <p:nvSpPr>
            <p:cNvPr name="Freeform 18" id="18"/>
            <p:cNvSpPr/>
            <p:nvPr/>
          </p:nvSpPr>
          <p:spPr>
            <a:xfrm flipH="false" flipV="false" rot="0">
              <a:off x="0" y="0"/>
              <a:ext cx="9602868" cy="2266508"/>
            </a:xfrm>
            <a:custGeom>
              <a:avLst/>
              <a:gdLst/>
              <a:ahLst/>
              <a:cxnLst/>
              <a:rect r="r" b="b" t="t" l="l"/>
              <a:pathLst>
                <a:path h="2266508" w="9602868">
                  <a:moveTo>
                    <a:pt x="0" y="0"/>
                  </a:moveTo>
                  <a:lnTo>
                    <a:pt x="9602868" y="0"/>
                  </a:lnTo>
                  <a:lnTo>
                    <a:pt x="9602868" y="2266508"/>
                  </a:lnTo>
                  <a:lnTo>
                    <a:pt x="0" y="2266508"/>
                  </a:lnTo>
                  <a:close/>
                </a:path>
              </a:pathLst>
            </a:custGeom>
            <a:blipFill>
              <a:blip r:embed="rId8"/>
              <a:stretch>
                <a:fillRect l="0" t="0" r="0" b="0"/>
              </a:stretch>
            </a:blipFill>
          </p:spPr>
        </p:sp>
      </p:grpSp>
      <p:grpSp>
        <p:nvGrpSpPr>
          <p:cNvPr name="Group 19" id="19"/>
          <p:cNvGrpSpPr/>
          <p:nvPr/>
        </p:nvGrpSpPr>
        <p:grpSpPr>
          <a:xfrm rot="0">
            <a:off x="1302234" y="5142495"/>
            <a:ext cx="877015" cy="637455"/>
            <a:chOff x="0" y="0"/>
            <a:chExt cx="1169353" cy="849940"/>
          </a:xfrm>
        </p:grpSpPr>
        <p:sp>
          <p:nvSpPr>
            <p:cNvPr name="Freeform 20" id="20"/>
            <p:cNvSpPr/>
            <p:nvPr/>
          </p:nvSpPr>
          <p:spPr>
            <a:xfrm flipH="false" flipV="false" rot="0">
              <a:off x="0" y="0"/>
              <a:ext cx="1169353" cy="849940"/>
            </a:xfrm>
            <a:custGeom>
              <a:avLst/>
              <a:gdLst/>
              <a:ahLst/>
              <a:cxnLst/>
              <a:rect r="r" b="b" t="t" l="l"/>
              <a:pathLst>
                <a:path h="849940" w="1169353">
                  <a:moveTo>
                    <a:pt x="0" y="0"/>
                  </a:moveTo>
                  <a:lnTo>
                    <a:pt x="1169353" y="0"/>
                  </a:lnTo>
                  <a:lnTo>
                    <a:pt x="1169353" y="849940"/>
                  </a:lnTo>
                  <a:lnTo>
                    <a:pt x="0" y="849940"/>
                  </a:lnTo>
                  <a:close/>
                </a:path>
              </a:pathLst>
            </a:custGeom>
            <a:blipFill>
              <a:blip r:embed="rId9"/>
              <a:stretch>
                <a:fillRect l="0" t="0" r="0" b="0"/>
              </a:stretch>
            </a:blipFill>
          </p:spPr>
        </p:sp>
      </p:grpSp>
      <p:sp>
        <p:nvSpPr>
          <p:cNvPr name="TextBox 21" id="21"/>
          <p:cNvSpPr txBox="true"/>
          <p:nvPr/>
        </p:nvSpPr>
        <p:spPr>
          <a:xfrm rot="0">
            <a:off x="2413545" y="5118096"/>
            <a:ext cx="3474041" cy="771525"/>
          </a:xfrm>
          <a:prstGeom prst="rect">
            <a:avLst/>
          </a:prstGeom>
        </p:spPr>
        <p:txBody>
          <a:bodyPr anchor="t" rtlCol="false" tIns="0" lIns="0" bIns="0" rIns="0">
            <a:spAutoFit/>
          </a:bodyPr>
          <a:lstStyle/>
          <a:p>
            <a:pPr algn="l">
              <a:lnSpc>
                <a:spcPts val="3020"/>
              </a:lnSpc>
            </a:pPr>
            <a:r>
              <a:rPr lang="en-US" sz="2517" b="true">
                <a:solidFill>
                  <a:srgbClr val="000000"/>
                </a:solidFill>
                <a:latin typeface="HK Grotesk Semi-Bold"/>
                <a:ea typeface="HK Grotesk Semi-Bold"/>
                <a:cs typeface="HK Grotesk Semi-Bold"/>
                <a:sym typeface="HK Grotesk Semi-Bold"/>
              </a:rPr>
              <a:t>Riesgo</a:t>
            </a:r>
          </a:p>
          <a:p>
            <a:pPr algn="l">
              <a:lnSpc>
                <a:spcPts val="3020"/>
              </a:lnSpc>
            </a:pPr>
            <a:r>
              <a:rPr lang="en-US" sz="2517">
                <a:solidFill>
                  <a:srgbClr val="000000"/>
                </a:solidFill>
                <a:latin typeface="HK Grotesk"/>
                <a:ea typeface="HK Grotesk"/>
                <a:cs typeface="HK Grotesk"/>
                <a:sym typeface="HK Grotesk"/>
              </a:rPr>
              <a:t>Crecimiento del Alcance</a:t>
            </a:r>
          </a:p>
        </p:txBody>
      </p:sp>
      <p:grpSp>
        <p:nvGrpSpPr>
          <p:cNvPr name="Group 22" id="22"/>
          <p:cNvGrpSpPr/>
          <p:nvPr/>
        </p:nvGrpSpPr>
        <p:grpSpPr>
          <a:xfrm rot="0">
            <a:off x="8477809" y="5142495"/>
            <a:ext cx="451795" cy="849940"/>
            <a:chOff x="0" y="0"/>
            <a:chExt cx="602394" cy="1133254"/>
          </a:xfrm>
        </p:grpSpPr>
        <p:sp>
          <p:nvSpPr>
            <p:cNvPr name="Freeform 23" id="23"/>
            <p:cNvSpPr/>
            <p:nvPr/>
          </p:nvSpPr>
          <p:spPr>
            <a:xfrm flipH="false" flipV="false" rot="0">
              <a:off x="0" y="0"/>
              <a:ext cx="602394" cy="1133254"/>
            </a:xfrm>
            <a:custGeom>
              <a:avLst/>
              <a:gdLst/>
              <a:ahLst/>
              <a:cxnLst/>
              <a:rect r="r" b="b" t="t" l="l"/>
              <a:pathLst>
                <a:path h="1133254" w="602394">
                  <a:moveTo>
                    <a:pt x="0" y="0"/>
                  </a:moveTo>
                  <a:lnTo>
                    <a:pt x="602394" y="0"/>
                  </a:lnTo>
                  <a:lnTo>
                    <a:pt x="602394" y="1133254"/>
                  </a:lnTo>
                  <a:lnTo>
                    <a:pt x="0" y="1133254"/>
                  </a:lnTo>
                  <a:close/>
                </a:path>
              </a:pathLst>
            </a:custGeom>
            <a:blipFill>
              <a:blip r:embed="rId10"/>
              <a:stretch>
                <a:fillRect l="0" t="0" r="0" b="0"/>
              </a:stretch>
            </a:blipFill>
          </p:spPr>
        </p:sp>
      </p:grpSp>
      <p:grpSp>
        <p:nvGrpSpPr>
          <p:cNvPr name="Group 24" id="24"/>
          <p:cNvGrpSpPr/>
          <p:nvPr/>
        </p:nvGrpSpPr>
        <p:grpSpPr>
          <a:xfrm rot="0">
            <a:off x="9142214" y="4717525"/>
            <a:ext cx="8065878" cy="1699881"/>
            <a:chOff x="0" y="0"/>
            <a:chExt cx="10754504" cy="2266508"/>
          </a:xfrm>
        </p:grpSpPr>
        <p:sp>
          <p:nvSpPr>
            <p:cNvPr name="Freeform 25" id="25"/>
            <p:cNvSpPr/>
            <p:nvPr/>
          </p:nvSpPr>
          <p:spPr>
            <a:xfrm flipH="false" flipV="false" rot="0">
              <a:off x="0" y="0"/>
              <a:ext cx="10754504" cy="2266508"/>
            </a:xfrm>
            <a:custGeom>
              <a:avLst/>
              <a:gdLst/>
              <a:ahLst/>
              <a:cxnLst/>
              <a:rect r="r" b="b" t="t" l="l"/>
              <a:pathLst>
                <a:path h="2266508" w="10754504">
                  <a:moveTo>
                    <a:pt x="0" y="0"/>
                  </a:moveTo>
                  <a:lnTo>
                    <a:pt x="10754504" y="0"/>
                  </a:lnTo>
                  <a:lnTo>
                    <a:pt x="10754504" y="2266508"/>
                  </a:lnTo>
                  <a:lnTo>
                    <a:pt x="0" y="2266508"/>
                  </a:lnTo>
                  <a:close/>
                </a:path>
              </a:pathLst>
            </a:custGeom>
            <a:blipFill>
              <a:blip r:embed="rId11"/>
              <a:stretch>
                <a:fillRect l="0" t="0" r="0" b="0"/>
              </a:stretch>
            </a:blipFill>
          </p:spPr>
        </p:sp>
      </p:grpSp>
      <p:grpSp>
        <p:nvGrpSpPr>
          <p:cNvPr name="Group 26" id="26"/>
          <p:cNvGrpSpPr/>
          <p:nvPr/>
        </p:nvGrpSpPr>
        <p:grpSpPr>
          <a:xfrm rot="0">
            <a:off x="9567433" y="5142495"/>
            <a:ext cx="664405" cy="849940"/>
            <a:chOff x="0" y="0"/>
            <a:chExt cx="885873" cy="1133254"/>
          </a:xfrm>
        </p:grpSpPr>
        <p:sp>
          <p:nvSpPr>
            <p:cNvPr name="Freeform 27" id="27"/>
            <p:cNvSpPr/>
            <p:nvPr/>
          </p:nvSpPr>
          <p:spPr>
            <a:xfrm flipH="false" flipV="false" rot="0">
              <a:off x="0" y="0"/>
              <a:ext cx="885873" cy="1133254"/>
            </a:xfrm>
            <a:custGeom>
              <a:avLst/>
              <a:gdLst/>
              <a:ahLst/>
              <a:cxnLst/>
              <a:rect r="r" b="b" t="t" l="l"/>
              <a:pathLst>
                <a:path h="1133254" w="885873">
                  <a:moveTo>
                    <a:pt x="0" y="0"/>
                  </a:moveTo>
                  <a:lnTo>
                    <a:pt x="885873" y="0"/>
                  </a:lnTo>
                  <a:lnTo>
                    <a:pt x="885873" y="1133254"/>
                  </a:lnTo>
                  <a:lnTo>
                    <a:pt x="0" y="1133254"/>
                  </a:lnTo>
                  <a:close/>
                </a:path>
              </a:pathLst>
            </a:custGeom>
            <a:blipFill>
              <a:blip r:embed="rId12"/>
              <a:stretch>
                <a:fillRect l="0" t="0" r="0" b="0"/>
              </a:stretch>
            </a:blipFill>
          </p:spPr>
        </p:sp>
      </p:grpSp>
      <p:sp>
        <p:nvSpPr>
          <p:cNvPr name="TextBox 28" id="28"/>
          <p:cNvSpPr txBox="true"/>
          <p:nvPr/>
        </p:nvSpPr>
        <p:spPr>
          <a:xfrm rot="0">
            <a:off x="10440408" y="5052651"/>
            <a:ext cx="5704742" cy="981075"/>
          </a:xfrm>
          <a:prstGeom prst="rect">
            <a:avLst/>
          </a:prstGeom>
        </p:spPr>
        <p:txBody>
          <a:bodyPr anchor="t" rtlCol="false" tIns="0" lIns="0" bIns="0" rIns="0">
            <a:spAutoFit/>
          </a:bodyPr>
          <a:lstStyle/>
          <a:p>
            <a:pPr algn="l">
              <a:lnSpc>
                <a:spcPts val="2605"/>
              </a:lnSpc>
            </a:pPr>
            <a:r>
              <a:rPr lang="en-US" sz="2171" b="true">
                <a:solidFill>
                  <a:srgbClr val="000000"/>
                </a:solidFill>
                <a:latin typeface="HK Grotesk Bold"/>
                <a:ea typeface="HK Grotesk Bold"/>
                <a:cs typeface="HK Grotesk Bold"/>
                <a:sym typeface="HK Grotesk Bold"/>
              </a:rPr>
              <a:t>Mitigación</a:t>
            </a:r>
          </a:p>
          <a:p>
            <a:pPr algn="l">
              <a:lnSpc>
                <a:spcPts val="2605"/>
              </a:lnSpc>
            </a:pPr>
            <a:r>
              <a:rPr lang="en-US" sz="2171" b="true">
                <a:solidFill>
                  <a:srgbClr val="000000"/>
                </a:solidFill>
                <a:latin typeface="HK Grotesk Medium"/>
                <a:ea typeface="HK Grotesk Medium"/>
                <a:cs typeface="HK Grotesk Medium"/>
                <a:sym typeface="HK Grotesk Medium"/>
              </a:rPr>
              <a:t>Uso de criterios de aceptación estrictos. Todo cambio se evalúa contra la viabilidad del MVP.</a:t>
            </a:r>
          </a:p>
        </p:txBody>
      </p:sp>
      <p:grpSp>
        <p:nvGrpSpPr>
          <p:cNvPr name="Group 29" id="29"/>
          <p:cNvGrpSpPr/>
          <p:nvPr/>
        </p:nvGrpSpPr>
        <p:grpSpPr>
          <a:xfrm rot="0">
            <a:off x="1076336" y="6417406"/>
            <a:ext cx="7202151" cy="1699881"/>
            <a:chOff x="0" y="0"/>
            <a:chExt cx="9602868" cy="2266508"/>
          </a:xfrm>
        </p:grpSpPr>
        <p:sp>
          <p:nvSpPr>
            <p:cNvPr name="Freeform 30" id="30"/>
            <p:cNvSpPr/>
            <p:nvPr/>
          </p:nvSpPr>
          <p:spPr>
            <a:xfrm flipH="false" flipV="false" rot="0">
              <a:off x="0" y="0"/>
              <a:ext cx="9602868" cy="2266508"/>
            </a:xfrm>
            <a:custGeom>
              <a:avLst/>
              <a:gdLst/>
              <a:ahLst/>
              <a:cxnLst/>
              <a:rect r="r" b="b" t="t" l="l"/>
              <a:pathLst>
                <a:path h="2266508" w="9602868">
                  <a:moveTo>
                    <a:pt x="0" y="0"/>
                  </a:moveTo>
                  <a:lnTo>
                    <a:pt x="9602868" y="0"/>
                  </a:lnTo>
                  <a:lnTo>
                    <a:pt x="9602868" y="2266508"/>
                  </a:lnTo>
                  <a:lnTo>
                    <a:pt x="0" y="2266508"/>
                  </a:lnTo>
                  <a:close/>
                </a:path>
              </a:pathLst>
            </a:custGeom>
            <a:blipFill>
              <a:blip r:embed="rId13"/>
              <a:stretch>
                <a:fillRect l="0" t="0" r="0" b="0"/>
              </a:stretch>
            </a:blipFill>
          </p:spPr>
        </p:sp>
      </p:grpSp>
      <p:grpSp>
        <p:nvGrpSpPr>
          <p:cNvPr name="Group 31" id="31"/>
          <p:cNvGrpSpPr/>
          <p:nvPr/>
        </p:nvGrpSpPr>
        <p:grpSpPr>
          <a:xfrm rot="0">
            <a:off x="1302234" y="6842376"/>
            <a:ext cx="877015" cy="637455"/>
            <a:chOff x="0" y="0"/>
            <a:chExt cx="1169353" cy="849940"/>
          </a:xfrm>
        </p:grpSpPr>
        <p:sp>
          <p:nvSpPr>
            <p:cNvPr name="Freeform 32" id="32"/>
            <p:cNvSpPr/>
            <p:nvPr/>
          </p:nvSpPr>
          <p:spPr>
            <a:xfrm flipH="false" flipV="false" rot="0">
              <a:off x="0" y="0"/>
              <a:ext cx="1169353" cy="849940"/>
            </a:xfrm>
            <a:custGeom>
              <a:avLst/>
              <a:gdLst/>
              <a:ahLst/>
              <a:cxnLst/>
              <a:rect r="r" b="b" t="t" l="l"/>
              <a:pathLst>
                <a:path h="849940" w="1169353">
                  <a:moveTo>
                    <a:pt x="0" y="0"/>
                  </a:moveTo>
                  <a:lnTo>
                    <a:pt x="1169353" y="0"/>
                  </a:lnTo>
                  <a:lnTo>
                    <a:pt x="1169353" y="849940"/>
                  </a:lnTo>
                  <a:lnTo>
                    <a:pt x="0" y="849940"/>
                  </a:lnTo>
                  <a:close/>
                </a:path>
              </a:pathLst>
            </a:custGeom>
            <a:blipFill>
              <a:blip r:embed="rId14"/>
              <a:stretch>
                <a:fillRect l="0" t="0" r="0" b="0"/>
              </a:stretch>
            </a:blipFill>
          </p:spPr>
        </p:sp>
      </p:grpSp>
      <p:sp>
        <p:nvSpPr>
          <p:cNvPr name="TextBox 33" id="33"/>
          <p:cNvSpPr txBox="true"/>
          <p:nvPr/>
        </p:nvSpPr>
        <p:spPr>
          <a:xfrm rot="0">
            <a:off x="2413545" y="6780579"/>
            <a:ext cx="5101355" cy="771525"/>
          </a:xfrm>
          <a:prstGeom prst="rect">
            <a:avLst/>
          </a:prstGeom>
        </p:spPr>
        <p:txBody>
          <a:bodyPr anchor="t" rtlCol="false" tIns="0" lIns="0" bIns="0" rIns="0">
            <a:spAutoFit/>
          </a:bodyPr>
          <a:lstStyle/>
          <a:p>
            <a:pPr algn="l">
              <a:lnSpc>
                <a:spcPts val="3020"/>
              </a:lnSpc>
            </a:pPr>
            <a:r>
              <a:rPr lang="en-US" sz="2517" b="true">
                <a:solidFill>
                  <a:srgbClr val="000000"/>
                </a:solidFill>
                <a:latin typeface="HK Grotesk Semi-Bold"/>
                <a:ea typeface="HK Grotesk Semi-Bold"/>
                <a:cs typeface="HK Grotesk Semi-Bold"/>
                <a:sym typeface="HK Grotesk Semi-Bold"/>
              </a:rPr>
              <a:t>Riesgo</a:t>
            </a:r>
          </a:p>
          <a:p>
            <a:pPr algn="l">
              <a:lnSpc>
                <a:spcPts val="3020"/>
              </a:lnSpc>
            </a:pPr>
            <a:r>
              <a:rPr lang="en-US" sz="2517">
                <a:solidFill>
                  <a:srgbClr val="000000"/>
                </a:solidFill>
                <a:latin typeface="HK Grotesk"/>
                <a:ea typeface="HK Grotesk"/>
                <a:cs typeface="HK Grotesk"/>
                <a:sym typeface="HK Grotesk"/>
              </a:rPr>
              <a:t>Disponibilidad de Usuarios (Cliente)</a:t>
            </a:r>
          </a:p>
        </p:txBody>
      </p:sp>
      <p:grpSp>
        <p:nvGrpSpPr>
          <p:cNvPr name="Group 34" id="34"/>
          <p:cNvGrpSpPr/>
          <p:nvPr/>
        </p:nvGrpSpPr>
        <p:grpSpPr>
          <a:xfrm rot="0">
            <a:off x="8477809" y="6842376"/>
            <a:ext cx="451795" cy="637455"/>
            <a:chOff x="0" y="0"/>
            <a:chExt cx="602394" cy="849940"/>
          </a:xfrm>
        </p:grpSpPr>
        <p:sp>
          <p:nvSpPr>
            <p:cNvPr name="Freeform 35" id="35"/>
            <p:cNvSpPr/>
            <p:nvPr/>
          </p:nvSpPr>
          <p:spPr>
            <a:xfrm flipH="false" flipV="false" rot="0">
              <a:off x="0" y="0"/>
              <a:ext cx="602394" cy="849940"/>
            </a:xfrm>
            <a:custGeom>
              <a:avLst/>
              <a:gdLst/>
              <a:ahLst/>
              <a:cxnLst/>
              <a:rect r="r" b="b" t="t" l="l"/>
              <a:pathLst>
                <a:path h="849940" w="602394">
                  <a:moveTo>
                    <a:pt x="0" y="0"/>
                  </a:moveTo>
                  <a:lnTo>
                    <a:pt x="602394" y="0"/>
                  </a:lnTo>
                  <a:lnTo>
                    <a:pt x="602394" y="849940"/>
                  </a:lnTo>
                  <a:lnTo>
                    <a:pt x="0" y="849940"/>
                  </a:lnTo>
                  <a:close/>
                </a:path>
              </a:pathLst>
            </a:custGeom>
            <a:blipFill>
              <a:blip r:embed="rId15"/>
              <a:stretch>
                <a:fillRect l="0" t="0" r="0" b="0"/>
              </a:stretch>
            </a:blipFill>
          </p:spPr>
        </p:sp>
      </p:grpSp>
      <p:grpSp>
        <p:nvGrpSpPr>
          <p:cNvPr name="Group 36" id="36"/>
          <p:cNvGrpSpPr/>
          <p:nvPr/>
        </p:nvGrpSpPr>
        <p:grpSpPr>
          <a:xfrm rot="0">
            <a:off x="9142214" y="6417406"/>
            <a:ext cx="8065878" cy="1699881"/>
            <a:chOff x="0" y="0"/>
            <a:chExt cx="10754504" cy="2266508"/>
          </a:xfrm>
        </p:grpSpPr>
        <p:sp>
          <p:nvSpPr>
            <p:cNvPr name="Freeform 37" id="37"/>
            <p:cNvSpPr/>
            <p:nvPr/>
          </p:nvSpPr>
          <p:spPr>
            <a:xfrm flipH="false" flipV="false" rot="0">
              <a:off x="0" y="0"/>
              <a:ext cx="10754504" cy="2266508"/>
            </a:xfrm>
            <a:custGeom>
              <a:avLst/>
              <a:gdLst/>
              <a:ahLst/>
              <a:cxnLst/>
              <a:rect r="r" b="b" t="t" l="l"/>
              <a:pathLst>
                <a:path h="2266508" w="10754504">
                  <a:moveTo>
                    <a:pt x="0" y="0"/>
                  </a:moveTo>
                  <a:lnTo>
                    <a:pt x="10754504" y="0"/>
                  </a:lnTo>
                  <a:lnTo>
                    <a:pt x="10754504" y="2266508"/>
                  </a:lnTo>
                  <a:lnTo>
                    <a:pt x="0" y="2266508"/>
                  </a:lnTo>
                  <a:close/>
                </a:path>
              </a:pathLst>
            </a:custGeom>
            <a:blipFill>
              <a:blip r:embed="rId16"/>
              <a:stretch>
                <a:fillRect l="0" t="0" r="0" b="0"/>
              </a:stretch>
            </a:blipFill>
          </p:spPr>
        </p:sp>
      </p:grpSp>
      <p:grpSp>
        <p:nvGrpSpPr>
          <p:cNvPr name="Group 38" id="38"/>
          <p:cNvGrpSpPr/>
          <p:nvPr/>
        </p:nvGrpSpPr>
        <p:grpSpPr>
          <a:xfrm rot="0">
            <a:off x="9567433" y="6842376"/>
            <a:ext cx="664405" cy="637455"/>
            <a:chOff x="0" y="0"/>
            <a:chExt cx="885873" cy="849940"/>
          </a:xfrm>
        </p:grpSpPr>
        <p:sp>
          <p:nvSpPr>
            <p:cNvPr name="Freeform 39" id="39"/>
            <p:cNvSpPr/>
            <p:nvPr/>
          </p:nvSpPr>
          <p:spPr>
            <a:xfrm flipH="false" flipV="false" rot="0">
              <a:off x="0" y="0"/>
              <a:ext cx="885873" cy="849940"/>
            </a:xfrm>
            <a:custGeom>
              <a:avLst/>
              <a:gdLst/>
              <a:ahLst/>
              <a:cxnLst/>
              <a:rect r="r" b="b" t="t" l="l"/>
              <a:pathLst>
                <a:path h="849940" w="885873">
                  <a:moveTo>
                    <a:pt x="0" y="0"/>
                  </a:moveTo>
                  <a:lnTo>
                    <a:pt x="885873" y="0"/>
                  </a:lnTo>
                  <a:lnTo>
                    <a:pt x="885873" y="849940"/>
                  </a:lnTo>
                  <a:lnTo>
                    <a:pt x="0" y="849940"/>
                  </a:lnTo>
                  <a:close/>
                </a:path>
              </a:pathLst>
            </a:custGeom>
            <a:blipFill>
              <a:blip r:embed="rId17"/>
              <a:stretch>
                <a:fillRect l="0" t="0" r="0" b="0"/>
              </a:stretch>
            </a:blipFill>
          </p:spPr>
        </p:sp>
      </p:grpSp>
      <p:sp>
        <p:nvSpPr>
          <p:cNvPr name="TextBox 40" id="40"/>
          <p:cNvSpPr txBox="true"/>
          <p:nvPr/>
        </p:nvSpPr>
        <p:spPr>
          <a:xfrm rot="0">
            <a:off x="10440408" y="6695214"/>
            <a:ext cx="6180137" cy="1009650"/>
          </a:xfrm>
          <a:prstGeom prst="rect">
            <a:avLst/>
          </a:prstGeom>
        </p:spPr>
        <p:txBody>
          <a:bodyPr anchor="t" rtlCol="false" tIns="0" lIns="0" bIns="0" rIns="0">
            <a:spAutoFit/>
          </a:bodyPr>
          <a:lstStyle/>
          <a:p>
            <a:pPr algn="l">
              <a:lnSpc>
                <a:spcPts val="2664"/>
              </a:lnSpc>
            </a:pPr>
            <a:r>
              <a:rPr lang="en-US" sz="2220" b="true">
                <a:solidFill>
                  <a:srgbClr val="000000"/>
                </a:solidFill>
                <a:latin typeface="HK Grotesk Bold"/>
                <a:ea typeface="HK Grotesk Bold"/>
                <a:cs typeface="HK Grotesk Bold"/>
                <a:sym typeface="HK Grotesk Bold"/>
              </a:rPr>
              <a:t>Mitigación</a:t>
            </a:r>
          </a:p>
          <a:p>
            <a:pPr algn="l">
              <a:lnSpc>
                <a:spcPts val="2664"/>
              </a:lnSpc>
            </a:pPr>
            <a:r>
              <a:rPr lang="en-US" sz="2220" b="true">
                <a:solidFill>
                  <a:srgbClr val="000000"/>
                </a:solidFill>
                <a:latin typeface="HK Grotesk Medium"/>
                <a:ea typeface="HK Grotesk Medium"/>
                <a:cs typeface="HK Grotesk Medium"/>
                <a:sym typeface="HK Grotesk Medium"/>
              </a:rPr>
              <a:t>Agendamiento de validaciones con anticipación y preparación de guiones breves de prueba.</a:t>
            </a:r>
          </a:p>
        </p:txBody>
      </p:sp>
      <p:grpSp>
        <p:nvGrpSpPr>
          <p:cNvPr name="Group 41" id="41"/>
          <p:cNvGrpSpPr/>
          <p:nvPr/>
        </p:nvGrpSpPr>
        <p:grpSpPr>
          <a:xfrm rot="0">
            <a:off x="1076336" y="7904801"/>
            <a:ext cx="7202151" cy="1912366"/>
            <a:chOff x="0" y="0"/>
            <a:chExt cx="9602868" cy="2549821"/>
          </a:xfrm>
        </p:grpSpPr>
        <p:sp>
          <p:nvSpPr>
            <p:cNvPr name="Freeform 42" id="42"/>
            <p:cNvSpPr/>
            <p:nvPr/>
          </p:nvSpPr>
          <p:spPr>
            <a:xfrm flipH="false" flipV="false" rot="0">
              <a:off x="0" y="0"/>
              <a:ext cx="9602868" cy="2549821"/>
            </a:xfrm>
            <a:custGeom>
              <a:avLst/>
              <a:gdLst/>
              <a:ahLst/>
              <a:cxnLst/>
              <a:rect r="r" b="b" t="t" l="l"/>
              <a:pathLst>
                <a:path h="2549821" w="9602868">
                  <a:moveTo>
                    <a:pt x="0" y="0"/>
                  </a:moveTo>
                  <a:lnTo>
                    <a:pt x="9602868" y="0"/>
                  </a:lnTo>
                  <a:lnTo>
                    <a:pt x="9602868" y="2549821"/>
                  </a:lnTo>
                  <a:lnTo>
                    <a:pt x="0" y="2549821"/>
                  </a:lnTo>
                  <a:close/>
                </a:path>
              </a:pathLst>
            </a:custGeom>
            <a:blipFill>
              <a:blip r:embed="rId18"/>
              <a:stretch>
                <a:fillRect l="0" t="0" r="0" b="0"/>
              </a:stretch>
            </a:blipFill>
          </p:spPr>
        </p:sp>
      </p:grpSp>
      <p:grpSp>
        <p:nvGrpSpPr>
          <p:cNvPr name="Group 43" id="43"/>
          <p:cNvGrpSpPr/>
          <p:nvPr/>
        </p:nvGrpSpPr>
        <p:grpSpPr>
          <a:xfrm rot="0">
            <a:off x="1302234" y="8329771"/>
            <a:ext cx="877015" cy="849940"/>
            <a:chOff x="0" y="0"/>
            <a:chExt cx="1169353" cy="1133254"/>
          </a:xfrm>
        </p:grpSpPr>
        <p:sp>
          <p:nvSpPr>
            <p:cNvPr name="Freeform 44" id="44"/>
            <p:cNvSpPr/>
            <p:nvPr/>
          </p:nvSpPr>
          <p:spPr>
            <a:xfrm flipH="false" flipV="false" rot="0">
              <a:off x="0" y="0"/>
              <a:ext cx="1169353" cy="1133254"/>
            </a:xfrm>
            <a:custGeom>
              <a:avLst/>
              <a:gdLst/>
              <a:ahLst/>
              <a:cxnLst/>
              <a:rect r="r" b="b" t="t" l="l"/>
              <a:pathLst>
                <a:path h="1133254" w="1169353">
                  <a:moveTo>
                    <a:pt x="0" y="0"/>
                  </a:moveTo>
                  <a:lnTo>
                    <a:pt x="1169353" y="0"/>
                  </a:lnTo>
                  <a:lnTo>
                    <a:pt x="1169353" y="1133254"/>
                  </a:lnTo>
                  <a:lnTo>
                    <a:pt x="0" y="1133254"/>
                  </a:lnTo>
                  <a:close/>
                </a:path>
              </a:pathLst>
            </a:custGeom>
            <a:blipFill>
              <a:blip r:embed="rId19"/>
              <a:stretch>
                <a:fillRect l="0" t="0" r="0" b="0"/>
              </a:stretch>
            </a:blipFill>
          </p:spPr>
        </p:sp>
      </p:grpSp>
      <p:sp>
        <p:nvSpPr>
          <p:cNvPr name="TextBox 45" id="45"/>
          <p:cNvSpPr txBox="true"/>
          <p:nvPr/>
        </p:nvSpPr>
        <p:spPr>
          <a:xfrm rot="0">
            <a:off x="2413545" y="8432864"/>
            <a:ext cx="3291197" cy="771525"/>
          </a:xfrm>
          <a:prstGeom prst="rect">
            <a:avLst/>
          </a:prstGeom>
        </p:spPr>
        <p:txBody>
          <a:bodyPr anchor="t" rtlCol="false" tIns="0" lIns="0" bIns="0" rIns="0">
            <a:spAutoFit/>
          </a:bodyPr>
          <a:lstStyle/>
          <a:p>
            <a:pPr algn="l">
              <a:lnSpc>
                <a:spcPts val="3020"/>
              </a:lnSpc>
            </a:pPr>
            <a:r>
              <a:rPr lang="en-US" sz="2517" b="true">
                <a:solidFill>
                  <a:srgbClr val="000000"/>
                </a:solidFill>
                <a:latin typeface="HK Grotesk Semi-Bold"/>
                <a:ea typeface="HK Grotesk Semi-Bold"/>
                <a:cs typeface="HK Grotesk Semi-Bold"/>
                <a:sym typeface="HK Grotesk Semi-Bold"/>
              </a:rPr>
              <a:t>Riesgo</a:t>
            </a:r>
          </a:p>
          <a:p>
            <a:pPr algn="l">
              <a:lnSpc>
                <a:spcPts val="3020"/>
              </a:lnSpc>
            </a:pPr>
            <a:r>
              <a:rPr lang="en-US" sz="2517">
                <a:solidFill>
                  <a:srgbClr val="000000"/>
                </a:solidFill>
                <a:latin typeface="HK Grotesk"/>
                <a:ea typeface="HK Grotesk"/>
                <a:cs typeface="HK Grotesk"/>
                <a:sym typeface="HK Grotesk"/>
              </a:rPr>
              <a:t>Calidad Comprometida</a:t>
            </a:r>
          </a:p>
        </p:txBody>
      </p:sp>
      <p:grpSp>
        <p:nvGrpSpPr>
          <p:cNvPr name="Group 46" id="46"/>
          <p:cNvGrpSpPr/>
          <p:nvPr/>
        </p:nvGrpSpPr>
        <p:grpSpPr>
          <a:xfrm rot="0">
            <a:off x="8477809" y="8329771"/>
            <a:ext cx="451795" cy="849940"/>
            <a:chOff x="0" y="0"/>
            <a:chExt cx="602394" cy="1133254"/>
          </a:xfrm>
        </p:grpSpPr>
        <p:sp>
          <p:nvSpPr>
            <p:cNvPr name="Freeform 47" id="47"/>
            <p:cNvSpPr/>
            <p:nvPr/>
          </p:nvSpPr>
          <p:spPr>
            <a:xfrm flipH="false" flipV="false" rot="0">
              <a:off x="0" y="0"/>
              <a:ext cx="602394" cy="1133254"/>
            </a:xfrm>
            <a:custGeom>
              <a:avLst/>
              <a:gdLst/>
              <a:ahLst/>
              <a:cxnLst/>
              <a:rect r="r" b="b" t="t" l="l"/>
              <a:pathLst>
                <a:path h="1133254" w="602394">
                  <a:moveTo>
                    <a:pt x="0" y="0"/>
                  </a:moveTo>
                  <a:lnTo>
                    <a:pt x="602394" y="0"/>
                  </a:lnTo>
                  <a:lnTo>
                    <a:pt x="602394" y="1133254"/>
                  </a:lnTo>
                  <a:lnTo>
                    <a:pt x="0" y="1133254"/>
                  </a:lnTo>
                  <a:close/>
                </a:path>
              </a:pathLst>
            </a:custGeom>
            <a:blipFill>
              <a:blip r:embed="rId20"/>
              <a:stretch>
                <a:fillRect l="0" t="0" r="0" b="0"/>
              </a:stretch>
            </a:blipFill>
          </p:spPr>
        </p:sp>
      </p:grpSp>
      <p:grpSp>
        <p:nvGrpSpPr>
          <p:cNvPr name="Group 48" id="48"/>
          <p:cNvGrpSpPr/>
          <p:nvPr/>
        </p:nvGrpSpPr>
        <p:grpSpPr>
          <a:xfrm rot="0">
            <a:off x="9142214" y="7904801"/>
            <a:ext cx="8065878" cy="1912366"/>
            <a:chOff x="0" y="0"/>
            <a:chExt cx="10754504" cy="2549821"/>
          </a:xfrm>
        </p:grpSpPr>
        <p:sp>
          <p:nvSpPr>
            <p:cNvPr name="Freeform 49" id="49"/>
            <p:cNvSpPr/>
            <p:nvPr/>
          </p:nvSpPr>
          <p:spPr>
            <a:xfrm flipH="false" flipV="false" rot="0">
              <a:off x="0" y="0"/>
              <a:ext cx="10754504" cy="2549821"/>
            </a:xfrm>
            <a:custGeom>
              <a:avLst/>
              <a:gdLst/>
              <a:ahLst/>
              <a:cxnLst/>
              <a:rect r="r" b="b" t="t" l="l"/>
              <a:pathLst>
                <a:path h="2549821" w="10754504">
                  <a:moveTo>
                    <a:pt x="0" y="0"/>
                  </a:moveTo>
                  <a:lnTo>
                    <a:pt x="10754504" y="0"/>
                  </a:lnTo>
                  <a:lnTo>
                    <a:pt x="10754504" y="2549821"/>
                  </a:lnTo>
                  <a:lnTo>
                    <a:pt x="0" y="2549821"/>
                  </a:lnTo>
                  <a:close/>
                </a:path>
              </a:pathLst>
            </a:custGeom>
            <a:blipFill>
              <a:blip r:embed="rId21"/>
              <a:stretch>
                <a:fillRect l="0" t="0" r="0" b="0"/>
              </a:stretch>
            </a:blipFill>
          </p:spPr>
        </p:sp>
      </p:grpSp>
      <p:grpSp>
        <p:nvGrpSpPr>
          <p:cNvPr name="Group 50" id="50"/>
          <p:cNvGrpSpPr/>
          <p:nvPr/>
        </p:nvGrpSpPr>
        <p:grpSpPr>
          <a:xfrm rot="0">
            <a:off x="9567433" y="8329771"/>
            <a:ext cx="664405" cy="849940"/>
            <a:chOff x="0" y="0"/>
            <a:chExt cx="885873" cy="1133254"/>
          </a:xfrm>
        </p:grpSpPr>
        <p:sp>
          <p:nvSpPr>
            <p:cNvPr name="Freeform 51" id="51"/>
            <p:cNvSpPr/>
            <p:nvPr/>
          </p:nvSpPr>
          <p:spPr>
            <a:xfrm flipH="false" flipV="false" rot="0">
              <a:off x="0" y="0"/>
              <a:ext cx="885873" cy="1133254"/>
            </a:xfrm>
            <a:custGeom>
              <a:avLst/>
              <a:gdLst/>
              <a:ahLst/>
              <a:cxnLst/>
              <a:rect r="r" b="b" t="t" l="l"/>
              <a:pathLst>
                <a:path h="1133254" w="885873">
                  <a:moveTo>
                    <a:pt x="0" y="0"/>
                  </a:moveTo>
                  <a:lnTo>
                    <a:pt x="885873" y="0"/>
                  </a:lnTo>
                  <a:lnTo>
                    <a:pt x="885873" y="1133254"/>
                  </a:lnTo>
                  <a:lnTo>
                    <a:pt x="0" y="1133254"/>
                  </a:lnTo>
                  <a:close/>
                </a:path>
              </a:pathLst>
            </a:custGeom>
            <a:blipFill>
              <a:blip r:embed="rId22"/>
              <a:stretch>
                <a:fillRect l="0" t="0" r="0" b="0"/>
              </a:stretch>
            </a:blipFill>
          </p:spPr>
        </p:sp>
      </p:grpSp>
      <p:sp>
        <p:nvSpPr>
          <p:cNvPr name="TextBox 52" id="52"/>
          <p:cNvSpPr txBox="true"/>
          <p:nvPr/>
        </p:nvSpPr>
        <p:spPr>
          <a:xfrm rot="0">
            <a:off x="10440408" y="8206992"/>
            <a:ext cx="6180137" cy="1268528"/>
          </a:xfrm>
          <a:prstGeom prst="rect">
            <a:avLst/>
          </a:prstGeom>
        </p:spPr>
        <p:txBody>
          <a:bodyPr anchor="t" rtlCol="false" tIns="0" lIns="0" bIns="0" rIns="0">
            <a:spAutoFit/>
          </a:bodyPr>
          <a:lstStyle/>
          <a:p>
            <a:pPr algn="l">
              <a:lnSpc>
                <a:spcPts val="2515"/>
              </a:lnSpc>
            </a:pPr>
            <a:r>
              <a:rPr lang="en-US" sz="2096" b="true">
                <a:solidFill>
                  <a:srgbClr val="000000"/>
                </a:solidFill>
                <a:latin typeface="HK Grotesk Bold"/>
                <a:ea typeface="HK Grotesk Bold"/>
                <a:cs typeface="HK Grotesk Bold"/>
                <a:sym typeface="HK Grotesk Bold"/>
              </a:rPr>
              <a:t>Mitigación</a:t>
            </a:r>
          </a:p>
          <a:p>
            <a:pPr algn="l">
              <a:lnSpc>
                <a:spcPts val="2515"/>
              </a:lnSpc>
            </a:pPr>
            <a:r>
              <a:rPr lang="en-US" sz="2096" b="true">
                <a:solidFill>
                  <a:srgbClr val="000000"/>
                </a:solidFill>
                <a:latin typeface="HK Grotesk Medium"/>
                <a:ea typeface="HK Grotesk Medium"/>
                <a:cs typeface="HK Grotesk Medium"/>
                <a:sym typeface="HK Grotesk Medium"/>
              </a:rPr>
              <a:t>Reservar tiempo exclusivo en cada iteración para correcciones. (Regla: No está terminado solo porque fue programado).</a:t>
            </a:r>
          </a:p>
        </p:txBody>
      </p:sp>
      <p:sp>
        <p:nvSpPr>
          <p:cNvPr name="TextBox 53" id="53"/>
          <p:cNvSpPr txBox="true"/>
          <p:nvPr/>
        </p:nvSpPr>
        <p:spPr>
          <a:xfrm rot="0">
            <a:off x="2413545" y="3455613"/>
            <a:ext cx="3949436" cy="771525"/>
          </a:xfrm>
          <a:prstGeom prst="rect">
            <a:avLst/>
          </a:prstGeom>
        </p:spPr>
        <p:txBody>
          <a:bodyPr anchor="t" rtlCol="false" tIns="0" lIns="0" bIns="0" rIns="0">
            <a:spAutoFit/>
          </a:bodyPr>
          <a:lstStyle/>
          <a:p>
            <a:pPr algn="l">
              <a:lnSpc>
                <a:spcPts val="3020"/>
              </a:lnSpc>
            </a:pPr>
            <a:r>
              <a:rPr lang="en-US" sz="2517" b="true">
                <a:solidFill>
                  <a:srgbClr val="000000"/>
                </a:solidFill>
                <a:latin typeface="HK Grotesk Semi-Bold"/>
                <a:ea typeface="HK Grotesk Semi-Bold"/>
                <a:cs typeface="HK Grotesk Semi-Bold"/>
                <a:sym typeface="HK Grotesk Semi-Bold"/>
              </a:rPr>
              <a:t>Riesgo</a:t>
            </a:r>
          </a:p>
          <a:p>
            <a:pPr algn="l">
              <a:lnSpc>
                <a:spcPts val="3020"/>
              </a:lnSpc>
            </a:pPr>
            <a:r>
              <a:rPr lang="en-US" sz="2517">
                <a:solidFill>
                  <a:srgbClr val="000000"/>
                </a:solidFill>
                <a:latin typeface="HK Grotesk"/>
                <a:ea typeface="HK Grotesk"/>
                <a:cs typeface="HK Grotesk"/>
                <a:sym typeface="HK Grotesk"/>
              </a:rPr>
              <a:t>Tiempo y Carga Académica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4428" cy="10242137"/>
            <a:chOff x="0" y="0"/>
            <a:chExt cx="24379238" cy="13656183"/>
          </a:xfrm>
        </p:grpSpPr>
        <p:sp>
          <p:nvSpPr>
            <p:cNvPr name="Freeform 3" id="3"/>
            <p:cNvSpPr/>
            <p:nvPr/>
          </p:nvSpPr>
          <p:spPr>
            <a:xfrm flipH="false" flipV="false" rot="0">
              <a:off x="0" y="0"/>
              <a:ext cx="24379238" cy="13656183"/>
            </a:xfrm>
            <a:custGeom>
              <a:avLst/>
              <a:gdLst/>
              <a:ahLst/>
              <a:cxnLst/>
              <a:rect r="r" b="b" t="t" l="l"/>
              <a:pathLst>
                <a:path h="13656183" w="24379238">
                  <a:moveTo>
                    <a:pt x="0" y="0"/>
                  </a:moveTo>
                  <a:lnTo>
                    <a:pt x="24379238" y="0"/>
                  </a:lnTo>
                  <a:lnTo>
                    <a:pt x="24379238" y="13656183"/>
                  </a:lnTo>
                  <a:lnTo>
                    <a:pt x="0" y="13656183"/>
                  </a:lnTo>
                  <a:close/>
                </a:path>
              </a:pathLst>
            </a:custGeom>
            <a:blipFill>
              <a:blip r:embed="rId2"/>
              <a:stretch>
                <a:fillRect l="-210" t="0" r="-210" b="0"/>
              </a:stretch>
            </a:blipFill>
          </p:spPr>
        </p:sp>
      </p:grpSp>
      <p:sp>
        <p:nvSpPr>
          <p:cNvPr name="TextBox 4" id="4"/>
          <p:cNvSpPr txBox="true"/>
          <p:nvPr/>
        </p:nvSpPr>
        <p:spPr>
          <a:xfrm rot="0">
            <a:off x="853202" y="419337"/>
            <a:ext cx="15249213" cy="1600200"/>
          </a:xfrm>
          <a:prstGeom prst="rect">
            <a:avLst/>
          </a:prstGeom>
        </p:spPr>
        <p:txBody>
          <a:bodyPr anchor="t" rtlCol="false" tIns="0" lIns="0" bIns="0" rIns="0">
            <a:spAutoFit/>
          </a:bodyPr>
          <a:lstStyle/>
          <a:p>
            <a:pPr algn="l">
              <a:lnSpc>
                <a:spcPts val="6341"/>
              </a:lnSpc>
            </a:pPr>
            <a:r>
              <a:rPr lang="en-US" sz="5284" b="true">
                <a:solidFill>
                  <a:srgbClr val="273854"/>
                </a:solidFill>
                <a:latin typeface="DM Sans Bold"/>
                <a:ea typeface="DM Sans Bold"/>
                <a:cs typeface="DM Sans Bold"/>
                <a:sym typeface="DM Sans Bold"/>
              </a:rPr>
              <a:t>Arquitectura de la Experiencia: Flujos Prioritarios</a:t>
            </a:r>
          </a:p>
        </p:txBody>
      </p:sp>
      <p:sp>
        <p:nvSpPr>
          <p:cNvPr name="TextBox 5" id="5"/>
          <p:cNvSpPr txBox="true"/>
          <p:nvPr/>
        </p:nvSpPr>
        <p:spPr>
          <a:xfrm rot="0">
            <a:off x="877653" y="2048112"/>
            <a:ext cx="16529123" cy="948140"/>
          </a:xfrm>
          <a:prstGeom prst="rect">
            <a:avLst/>
          </a:prstGeom>
        </p:spPr>
        <p:txBody>
          <a:bodyPr anchor="t" rtlCol="false" tIns="0" lIns="0" bIns="0" rIns="0">
            <a:spAutoFit/>
          </a:bodyPr>
          <a:lstStyle/>
          <a:p>
            <a:pPr algn="l">
              <a:lnSpc>
                <a:spcPts val="3747"/>
              </a:lnSpc>
            </a:pPr>
            <a:r>
              <a:rPr lang="en-US" sz="3406">
                <a:solidFill>
                  <a:srgbClr val="000000"/>
                </a:solidFill>
                <a:latin typeface="DM Sans"/>
                <a:ea typeface="DM Sans"/>
                <a:cs typeface="DM Sans"/>
                <a:sym typeface="DM Sans"/>
              </a:rPr>
              <a:t>Cada flujo de usuario nace de un requisito valido, se prototipa y se prueba, asegurando que la tecnología responda a los procesos reales de Fundación Huella.</a:t>
            </a:r>
          </a:p>
        </p:txBody>
      </p:sp>
      <p:grpSp>
        <p:nvGrpSpPr>
          <p:cNvPr name="Group 6" id="6"/>
          <p:cNvGrpSpPr/>
          <p:nvPr/>
        </p:nvGrpSpPr>
        <p:grpSpPr>
          <a:xfrm rot="0">
            <a:off x="425219" y="3442614"/>
            <a:ext cx="17433990" cy="4887157"/>
            <a:chOff x="0" y="0"/>
            <a:chExt cx="23245319" cy="6516209"/>
          </a:xfrm>
        </p:grpSpPr>
        <p:sp>
          <p:nvSpPr>
            <p:cNvPr name="Freeform 7" id="7"/>
            <p:cNvSpPr/>
            <p:nvPr/>
          </p:nvSpPr>
          <p:spPr>
            <a:xfrm flipH="false" flipV="false" rot="0">
              <a:off x="0" y="0"/>
              <a:ext cx="23245319" cy="6516209"/>
            </a:xfrm>
            <a:custGeom>
              <a:avLst/>
              <a:gdLst/>
              <a:ahLst/>
              <a:cxnLst/>
              <a:rect r="r" b="b" t="t" l="l"/>
              <a:pathLst>
                <a:path h="6516209" w="23245319">
                  <a:moveTo>
                    <a:pt x="0" y="0"/>
                  </a:moveTo>
                  <a:lnTo>
                    <a:pt x="23245319" y="0"/>
                  </a:lnTo>
                  <a:lnTo>
                    <a:pt x="23245319" y="6516209"/>
                  </a:lnTo>
                  <a:lnTo>
                    <a:pt x="0" y="6516209"/>
                  </a:lnTo>
                  <a:close/>
                </a:path>
              </a:pathLst>
            </a:custGeom>
            <a:blipFill>
              <a:blip r:embed="rId3"/>
              <a:stretch>
                <a:fillRect l="0" t="0" r="0" b="0"/>
              </a:stretch>
            </a:blipFill>
          </p:spPr>
        </p:sp>
      </p:grpSp>
      <p:sp>
        <p:nvSpPr>
          <p:cNvPr name="TextBox 8" id="8"/>
          <p:cNvSpPr txBox="true"/>
          <p:nvPr/>
        </p:nvSpPr>
        <p:spPr>
          <a:xfrm rot="0">
            <a:off x="4589431" y="3705385"/>
            <a:ext cx="8566273" cy="638175"/>
          </a:xfrm>
          <a:prstGeom prst="rect">
            <a:avLst/>
          </a:prstGeom>
        </p:spPr>
        <p:txBody>
          <a:bodyPr anchor="t" rtlCol="false" tIns="0" lIns="0" bIns="0" rIns="0">
            <a:spAutoFit/>
          </a:bodyPr>
          <a:lstStyle/>
          <a:p>
            <a:pPr algn="ctr">
              <a:lnSpc>
                <a:spcPts val="5040"/>
              </a:lnSpc>
            </a:pPr>
            <a:r>
              <a:rPr lang="en-US" sz="4200" b="true">
                <a:solidFill>
                  <a:srgbClr val="273854"/>
                </a:solidFill>
                <a:latin typeface="DM Sans Bold"/>
                <a:ea typeface="DM Sans Bold"/>
                <a:cs typeface="DM Sans Bold"/>
                <a:sym typeface="DM Sans Bold"/>
              </a:rPr>
              <a:t>El Viaje del Monitor</a:t>
            </a:r>
          </a:p>
        </p:txBody>
      </p:sp>
      <p:grpSp>
        <p:nvGrpSpPr>
          <p:cNvPr name="Group 9" id="9"/>
          <p:cNvGrpSpPr/>
          <p:nvPr/>
        </p:nvGrpSpPr>
        <p:grpSpPr>
          <a:xfrm rot="0">
            <a:off x="1076336" y="4717525"/>
            <a:ext cx="3494771" cy="2974791"/>
            <a:chOff x="0" y="0"/>
            <a:chExt cx="4659694" cy="3966388"/>
          </a:xfrm>
        </p:grpSpPr>
        <p:sp>
          <p:nvSpPr>
            <p:cNvPr name="Freeform 10" id="10"/>
            <p:cNvSpPr/>
            <p:nvPr/>
          </p:nvSpPr>
          <p:spPr>
            <a:xfrm flipH="false" flipV="false" rot="0">
              <a:off x="0" y="0"/>
              <a:ext cx="4659694" cy="3966389"/>
            </a:xfrm>
            <a:custGeom>
              <a:avLst/>
              <a:gdLst/>
              <a:ahLst/>
              <a:cxnLst/>
              <a:rect r="r" b="b" t="t" l="l"/>
              <a:pathLst>
                <a:path h="3966389" w="4659694">
                  <a:moveTo>
                    <a:pt x="0" y="0"/>
                  </a:moveTo>
                  <a:lnTo>
                    <a:pt x="4659694" y="0"/>
                  </a:lnTo>
                  <a:lnTo>
                    <a:pt x="4659694" y="3966389"/>
                  </a:lnTo>
                  <a:lnTo>
                    <a:pt x="0" y="3966389"/>
                  </a:lnTo>
                  <a:close/>
                </a:path>
              </a:pathLst>
            </a:custGeom>
            <a:blipFill>
              <a:blip r:embed="rId4"/>
              <a:stretch>
                <a:fillRect l="0" t="0" r="0" b="0"/>
              </a:stretch>
            </a:blipFill>
          </p:spPr>
        </p:sp>
      </p:grpSp>
      <p:grpSp>
        <p:nvGrpSpPr>
          <p:cNvPr name="Group 11" id="11"/>
          <p:cNvGrpSpPr/>
          <p:nvPr/>
        </p:nvGrpSpPr>
        <p:grpSpPr>
          <a:xfrm rot="0">
            <a:off x="4345209" y="5779950"/>
            <a:ext cx="1102912" cy="637455"/>
            <a:chOff x="0" y="0"/>
            <a:chExt cx="1470550" cy="849940"/>
          </a:xfrm>
        </p:grpSpPr>
        <p:sp>
          <p:nvSpPr>
            <p:cNvPr name="Freeform 12" id="12"/>
            <p:cNvSpPr/>
            <p:nvPr/>
          </p:nvSpPr>
          <p:spPr>
            <a:xfrm flipH="false" flipV="false" rot="0">
              <a:off x="0" y="0"/>
              <a:ext cx="1470550" cy="849940"/>
            </a:xfrm>
            <a:custGeom>
              <a:avLst/>
              <a:gdLst/>
              <a:ahLst/>
              <a:cxnLst/>
              <a:rect r="r" b="b" t="t" l="l"/>
              <a:pathLst>
                <a:path h="849940" w="1470550">
                  <a:moveTo>
                    <a:pt x="0" y="0"/>
                  </a:moveTo>
                  <a:lnTo>
                    <a:pt x="1470550" y="0"/>
                  </a:lnTo>
                  <a:lnTo>
                    <a:pt x="1470550" y="849940"/>
                  </a:lnTo>
                  <a:lnTo>
                    <a:pt x="0" y="849940"/>
                  </a:lnTo>
                  <a:close/>
                </a:path>
              </a:pathLst>
            </a:custGeom>
            <a:blipFill>
              <a:blip r:embed="rId5"/>
              <a:stretch>
                <a:fillRect l="0" t="0" r="0" b="0"/>
              </a:stretch>
            </a:blipFill>
          </p:spPr>
        </p:sp>
      </p:grpSp>
      <p:grpSp>
        <p:nvGrpSpPr>
          <p:cNvPr name="Group 13" id="13"/>
          <p:cNvGrpSpPr/>
          <p:nvPr/>
        </p:nvGrpSpPr>
        <p:grpSpPr>
          <a:xfrm rot="0">
            <a:off x="5222224" y="4717525"/>
            <a:ext cx="3494771" cy="2974791"/>
            <a:chOff x="0" y="0"/>
            <a:chExt cx="4659694" cy="3966388"/>
          </a:xfrm>
        </p:grpSpPr>
        <p:sp>
          <p:nvSpPr>
            <p:cNvPr name="Freeform 14" id="14"/>
            <p:cNvSpPr/>
            <p:nvPr/>
          </p:nvSpPr>
          <p:spPr>
            <a:xfrm flipH="false" flipV="false" rot="0">
              <a:off x="0" y="0"/>
              <a:ext cx="4659694" cy="3966389"/>
            </a:xfrm>
            <a:custGeom>
              <a:avLst/>
              <a:gdLst/>
              <a:ahLst/>
              <a:cxnLst/>
              <a:rect r="r" b="b" t="t" l="l"/>
              <a:pathLst>
                <a:path h="3966389" w="4659694">
                  <a:moveTo>
                    <a:pt x="0" y="0"/>
                  </a:moveTo>
                  <a:lnTo>
                    <a:pt x="4659694" y="0"/>
                  </a:lnTo>
                  <a:lnTo>
                    <a:pt x="4659694" y="3966389"/>
                  </a:lnTo>
                  <a:lnTo>
                    <a:pt x="0" y="3966389"/>
                  </a:lnTo>
                  <a:close/>
                </a:path>
              </a:pathLst>
            </a:custGeom>
            <a:blipFill>
              <a:blip r:embed="rId6"/>
              <a:stretch>
                <a:fillRect l="0" t="0" r="0" b="0"/>
              </a:stretch>
            </a:blipFill>
          </p:spPr>
        </p:sp>
      </p:grpSp>
      <p:grpSp>
        <p:nvGrpSpPr>
          <p:cNvPr name="Group 15" id="15"/>
          <p:cNvGrpSpPr/>
          <p:nvPr/>
        </p:nvGrpSpPr>
        <p:grpSpPr>
          <a:xfrm rot="0">
            <a:off x="8477809" y="5779950"/>
            <a:ext cx="1328810" cy="637455"/>
            <a:chOff x="0" y="0"/>
            <a:chExt cx="1771747" cy="849940"/>
          </a:xfrm>
        </p:grpSpPr>
        <p:sp>
          <p:nvSpPr>
            <p:cNvPr name="Freeform 16" id="16"/>
            <p:cNvSpPr/>
            <p:nvPr/>
          </p:nvSpPr>
          <p:spPr>
            <a:xfrm flipH="false" flipV="false" rot="0">
              <a:off x="0" y="0"/>
              <a:ext cx="1771747" cy="849940"/>
            </a:xfrm>
            <a:custGeom>
              <a:avLst/>
              <a:gdLst/>
              <a:ahLst/>
              <a:cxnLst/>
              <a:rect r="r" b="b" t="t" l="l"/>
              <a:pathLst>
                <a:path h="849940" w="1771747">
                  <a:moveTo>
                    <a:pt x="0" y="0"/>
                  </a:moveTo>
                  <a:lnTo>
                    <a:pt x="1771747" y="0"/>
                  </a:lnTo>
                  <a:lnTo>
                    <a:pt x="1771747" y="849940"/>
                  </a:lnTo>
                  <a:lnTo>
                    <a:pt x="0" y="849940"/>
                  </a:lnTo>
                  <a:close/>
                </a:path>
              </a:pathLst>
            </a:custGeom>
            <a:blipFill>
              <a:blip r:embed="rId7"/>
              <a:stretch>
                <a:fillRect l="0" t="0" r="0" b="0"/>
              </a:stretch>
            </a:blipFill>
          </p:spPr>
        </p:sp>
      </p:grpSp>
      <p:grpSp>
        <p:nvGrpSpPr>
          <p:cNvPr name="Group 17" id="17"/>
          <p:cNvGrpSpPr/>
          <p:nvPr/>
        </p:nvGrpSpPr>
        <p:grpSpPr>
          <a:xfrm rot="0">
            <a:off x="9567433" y="4717525"/>
            <a:ext cx="3494771" cy="2974791"/>
            <a:chOff x="0" y="0"/>
            <a:chExt cx="4659694" cy="3966388"/>
          </a:xfrm>
        </p:grpSpPr>
        <p:sp>
          <p:nvSpPr>
            <p:cNvPr name="Freeform 18" id="18"/>
            <p:cNvSpPr/>
            <p:nvPr/>
          </p:nvSpPr>
          <p:spPr>
            <a:xfrm flipH="false" flipV="false" rot="0">
              <a:off x="0" y="0"/>
              <a:ext cx="4659694" cy="3966389"/>
            </a:xfrm>
            <a:custGeom>
              <a:avLst/>
              <a:gdLst/>
              <a:ahLst/>
              <a:cxnLst/>
              <a:rect r="r" b="b" t="t" l="l"/>
              <a:pathLst>
                <a:path h="3966389" w="4659694">
                  <a:moveTo>
                    <a:pt x="0" y="0"/>
                  </a:moveTo>
                  <a:lnTo>
                    <a:pt x="4659694" y="0"/>
                  </a:lnTo>
                  <a:lnTo>
                    <a:pt x="4659694" y="3966389"/>
                  </a:lnTo>
                  <a:lnTo>
                    <a:pt x="0" y="3966389"/>
                  </a:lnTo>
                  <a:close/>
                </a:path>
              </a:pathLst>
            </a:custGeom>
            <a:blipFill>
              <a:blip r:embed="rId8"/>
              <a:stretch>
                <a:fillRect l="0" t="0" r="0" b="0"/>
              </a:stretch>
            </a:blipFill>
          </p:spPr>
        </p:sp>
      </p:grpSp>
      <p:grpSp>
        <p:nvGrpSpPr>
          <p:cNvPr name="Group 19" id="19"/>
          <p:cNvGrpSpPr/>
          <p:nvPr/>
        </p:nvGrpSpPr>
        <p:grpSpPr>
          <a:xfrm rot="0">
            <a:off x="12836306" y="5779950"/>
            <a:ext cx="1102912" cy="637455"/>
            <a:chOff x="0" y="0"/>
            <a:chExt cx="1470550" cy="849940"/>
          </a:xfrm>
        </p:grpSpPr>
        <p:sp>
          <p:nvSpPr>
            <p:cNvPr name="Freeform 20" id="20"/>
            <p:cNvSpPr/>
            <p:nvPr/>
          </p:nvSpPr>
          <p:spPr>
            <a:xfrm flipH="false" flipV="false" rot="0">
              <a:off x="0" y="0"/>
              <a:ext cx="1470550" cy="849940"/>
            </a:xfrm>
            <a:custGeom>
              <a:avLst/>
              <a:gdLst/>
              <a:ahLst/>
              <a:cxnLst/>
              <a:rect r="r" b="b" t="t" l="l"/>
              <a:pathLst>
                <a:path h="849940" w="1470550">
                  <a:moveTo>
                    <a:pt x="0" y="0"/>
                  </a:moveTo>
                  <a:lnTo>
                    <a:pt x="1470550" y="0"/>
                  </a:lnTo>
                  <a:lnTo>
                    <a:pt x="1470550" y="849940"/>
                  </a:lnTo>
                  <a:lnTo>
                    <a:pt x="0" y="849940"/>
                  </a:lnTo>
                  <a:close/>
                </a:path>
              </a:pathLst>
            </a:custGeom>
            <a:blipFill>
              <a:blip r:embed="rId9"/>
              <a:stretch>
                <a:fillRect l="0" t="0" r="0" b="0"/>
              </a:stretch>
            </a:blipFill>
          </p:spPr>
        </p:sp>
      </p:grpSp>
      <p:grpSp>
        <p:nvGrpSpPr>
          <p:cNvPr name="Group 21" id="21"/>
          <p:cNvGrpSpPr/>
          <p:nvPr/>
        </p:nvGrpSpPr>
        <p:grpSpPr>
          <a:xfrm rot="0">
            <a:off x="13713321" y="4717525"/>
            <a:ext cx="3494771" cy="2974791"/>
            <a:chOff x="0" y="0"/>
            <a:chExt cx="4659694" cy="3966388"/>
          </a:xfrm>
        </p:grpSpPr>
        <p:sp>
          <p:nvSpPr>
            <p:cNvPr name="Freeform 22" id="22"/>
            <p:cNvSpPr/>
            <p:nvPr/>
          </p:nvSpPr>
          <p:spPr>
            <a:xfrm flipH="false" flipV="false" rot="0">
              <a:off x="0" y="0"/>
              <a:ext cx="4659694" cy="3966389"/>
            </a:xfrm>
            <a:custGeom>
              <a:avLst/>
              <a:gdLst/>
              <a:ahLst/>
              <a:cxnLst/>
              <a:rect r="r" b="b" t="t" l="l"/>
              <a:pathLst>
                <a:path h="3966389" w="4659694">
                  <a:moveTo>
                    <a:pt x="0" y="0"/>
                  </a:moveTo>
                  <a:lnTo>
                    <a:pt x="4659694" y="0"/>
                  </a:lnTo>
                  <a:lnTo>
                    <a:pt x="4659694" y="3966389"/>
                  </a:lnTo>
                  <a:lnTo>
                    <a:pt x="0" y="3966389"/>
                  </a:lnTo>
                  <a:close/>
                </a:path>
              </a:pathLst>
            </a:custGeom>
            <a:blipFill>
              <a:blip r:embed="rId10"/>
              <a:stretch>
                <a:fillRect l="0" t="0" r="0" b="0"/>
              </a:stretch>
            </a:blipFill>
          </p:spPr>
        </p:sp>
      </p:grpSp>
      <p:grpSp>
        <p:nvGrpSpPr>
          <p:cNvPr name="Group 23" id="23"/>
          <p:cNvGrpSpPr/>
          <p:nvPr/>
        </p:nvGrpSpPr>
        <p:grpSpPr>
          <a:xfrm rot="0">
            <a:off x="425219" y="8542257"/>
            <a:ext cx="17208092" cy="1487396"/>
            <a:chOff x="0" y="0"/>
            <a:chExt cx="22944123" cy="1983194"/>
          </a:xfrm>
        </p:grpSpPr>
        <p:sp>
          <p:nvSpPr>
            <p:cNvPr name="Freeform 24" id="24"/>
            <p:cNvSpPr/>
            <p:nvPr/>
          </p:nvSpPr>
          <p:spPr>
            <a:xfrm flipH="false" flipV="false" rot="0">
              <a:off x="0" y="0"/>
              <a:ext cx="22944122" cy="1983194"/>
            </a:xfrm>
            <a:custGeom>
              <a:avLst/>
              <a:gdLst/>
              <a:ahLst/>
              <a:cxnLst/>
              <a:rect r="r" b="b" t="t" l="l"/>
              <a:pathLst>
                <a:path h="1983194" w="22944122">
                  <a:moveTo>
                    <a:pt x="0" y="0"/>
                  </a:moveTo>
                  <a:lnTo>
                    <a:pt x="22944122" y="0"/>
                  </a:lnTo>
                  <a:lnTo>
                    <a:pt x="22944122" y="1983194"/>
                  </a:lnTo>
                  <a:lnTo>
                    <a:pt x="0" y="1983194"/>
                  </a:lnTo>
                  <a:close/>
                </a:path>
              </a:pathLst>
            </a:custGeom>
            <a:blipFill>
              <a:blip r:embed="rId11"/>
              <a:stretch>
                <a:fillRect l="0" t="0" r="0" b="0"/>
              </a:stretch>
            </a:blipFill>
          </p:spPr>
        </p:sp>
      </p:grpSp>
      <p:sp>
        <p:nvSpPr>
          <p:cNvPr name="TextBox 25" id="25"/>
          <p:cNvSpPr txBox="true"/>
          <p:nvPr/>
        </p:nvSpPr>
        <p:spPr>
          <a:xfrm rot="0">
            <a:off x="1759925" y="8630732"/>
            <a:ext cx="14225285" cy="990600"/>
          </a:xfrm>
          <a:prstGeom prst="rect">
            <a:avLst/>
          </a:prstGeom>
        </p:spPr>
        <p:txBody>
          <a:bodyPr anchor="t" rtlCol="false" tIns="0" lIns="0" bIns="0" rIns="0">
            <a:spAutoFit/>
          </a:bodyPr>
          <a:lstStyle/>
          <a:p>
            <a:pPr algn="ctr">
              <a:lnSpc>
                <a:spcPts val="3910"/>
              </a:lnSpc>
            </a:pPr>
            <a:r>
              <a:rPr lang="en-US" sz="3258">
                <a:solidFill>
                  <a:srgbClr val="000000"/>
                </a:solidFill>
                <a:latin typeface="DM Sans"/>
                <a:ea typeface="DM Sans"/>
                <a:cs typeface="DM Sans"/>
                <a:sym typeface="DM Sans"/>
              </a:rPr>
              <a:t>Trazabilidad Total: Requisito -&gt; Criterio de Aceptación -&gt; Prototipo -&gt; Prueba.</a:t>
            </a:r>
          </a:p>
        </p:txBody>
      </p:sp>
      <p:sp>
        <p:nvSpPr>
          <p:cNvPr name="TextBox 26" id="26"/>
          <p:cNvSpPr txBox="true"/>
          <p:nvPr/>
        </p:nvSpPr>
        <p:spPr>
          <a:xfrm rot="0">
            <a:off x="1198668" y="5221243"/>
            <a:ext cx="3250108" cy="1411026"/>
          </a:xfrm>
          <a:prstGeom prst="rect">
            <a:avLst/>
          </a:prstGeom>
        </p:spPr>
        <p:txBody>
          <a:bodyPr anchor="t" rtlCol="false" tIns="0" lIns="0" bIns="0" rIns="0">
            <a:spAutoFit/>
          </a:bodyPr>
          <a:lstStyle/>
          <a:p>
            <a:pPr algn="ctr">
              <a:lnSpc>
                <a:spcPts val="3604"/>
              </a:lnSpc>
            </a:pPr>
            <a:r>
              <a:rPr lang="en-US" sz="3604" b="true">
                <a:solidFill>
                  <a:srgbClr val="000000"/>
                </a:solidFill>
                <a:latin typeface="DM Sans Bold"/>
                <a:ea typeface="DM Sans Bold"/>
                <a:cs typeface="DM Sans Bold"/>
                <a:sym typeface="DM Sans Bold"/>
              </a:rPr>
              <a:t>Autenticación</a:t>
            </a:r>
          </a:p>
          <a:p>
            <a:pPr algn="ctr">
              <a:lnSpc>
                <a:spcPts val="2499"/>
              </a:lnSpc>
            </a:pPr>
          </a:p>
          <a:p>
            <a:pPr algn="ctr">
              <a:lnSpc>
                <a:spcPts val="2499"/>
              </a:lnSpc>
            </a:pPr>
            <a:r>
              <a:rPr lang="en-US" sz="2499">
                <a:solidFill>
                  <a:srgbClr val="000000"/>
                </a:solidFill>
                <a:latin typeface="DM Sans"/>
                <a:ea typeface="DM Sans"/>
                <a:cs typeface="DM Sans"/>
                <a:sym typeface="DM Sans"/>
              </a:rPr>
              <a:t>(Validación de rol y permisos)</a:t>
            </a:r>
          </a:p>
        </p:txBody>
      </p:sp>
      <p:sp>
        <p:nvSpPr>
          <p:cNvPr name="TextBox 27" id="27"/>
          <p:cNvSpPr txBox="true"/>
          <p:nvPr/>
        </p:nvSpPr>
        <p:spPr>
          <a:xfrm rot="0">
            <a:off x="5485328" y="4901697"/>
            <a:ext cx="3053499" cy="2426434"/>
          </a:xfrm>
          <a:prstGeom prst="rect">
            <a:avLst/>
          </a:prstGeom>
        </p:spPr>
        <p:txBody>
          <a:bodyPr anchor="t" rtlCol="false" tIns="0" lIns="0" bIns="0" rIns="0">
            <a:spAutoFit/>
          </a:bodyPr>
          <a:lstStyle/>
          <a:p>
            <a:pPr algn="ctr">
              <a:lnSpc>
                <a:spcPts val="3307"/>
              </a:lnSpc>
            </a:pPr>
            <a:r>
              <a:rPr lang="en-US" sz="3307" b="true">
                <a:solidFill>
                  <a:srgbClr val="000000"/>
                </a:solidFill>
                <a:latin typeface="DM Sans Bold"/>
                <a:ea typeface="DM Sans Bold"/>
                <a:cs typeface="DM Sans Bold"/>
                <a:sym typeface="DM Sans Bold"/>
              </a:rPr>
              <a:t>Dashboard / Calendario</a:t>
            </a:r>
          </a:p>
          <a:p>
            <a:pPr algn="ctr">
              <a:lnSpc>
                <a:spcPts val="2499"/>
              </a:lnSpc>
            </a:pPr>
          </a:p>
          <a:p>
            <a:pPr algn="ctr">
              <a:lnSpc>
                <a:spcPts val="2499"/>
              </a:lnSpc>
            </a:pPr>
            <a:r>
              <a:rPr lang="en-US" sz="2499">
                <a:solidFill>
                  <a:srgbClr val="000000"/>
                </a:solidFill>
                <a:latin typeface="DM Sans"/>
                <a:ea typeface="DM Sans"/>
                <a:cs typeface="DM Sans"/>
                <a:sym typeface="DM Sans"/>
              </a:rPr>
              <a:t>(Consulta de asignaciones semanales y recintos)</a:t>
            </a:r>
          </a:p>
        </p:txBody>
      </p:sp>
      <p:sp>
        <p:nvSpPr>
          <p:cNvPr name="TextBox 28" id="28"/>
          <p:cNvSpPr txBox="true"/>
          <p:nvPr/>
        </p:nvSpPr>
        <p:spPr>
          <a:xfrm rot="0">
            <a:off x="9782807" y="4957445"/>
            <a:ext cx="3053499" cy="2061974"/>
          </a:xfrm>
          <a:prstGeom prst="rect">
            <a:avLst/>
          </a:prstGeom>
        </p:spPr>
        <p:txBody>
          <a:bodyPr anchor="t" rtlCol="false" tIns="0" lIns="0" bIns="0" rIns="0">
            <a:spAutoFit/>
          </a:bodyPr>
          <a:lstStyle/>
          <a:p>
            <a:pPr algn="ctr">
              <a:lnSpc>
                <a:spcPts val="3110"/>
              </a:lnSpc>
            </a:pPr>
            <a:r>
              <a:rPr lang="en-US" sz="3110" b="true">
                <a:solidFill>
                  <a:srgbClr val="000000"/>
                </a:solidFill>
                <a:latin typeface="DM Sans Bold"/>
                <a:ea typeface="DM Sans Bold"/>
                <a:cs typeface="DM Sans Bold"/>
                <a:sym typeface="DM Sans Bold"/>
              </a:rPr>
              <a:t>Gestión de Espacio</a:t>
            </a:r>
          </a:p>
          <a:p>
            <a:pPr algn="ctr">
              <a:lnSpc>
                <a:spcPts val="2499"/>
              </a:lnSpc>
            </a:pPr>
          </a:p>
          <a:p>
            <a:pPr algn="ctr">
              <a:lnSpc>
                <a:spcPts val="2499"/>
              </a:lnSpc>
            </a:pPr>
            <a:r>
              <a:rPr lang="en-US" sz="2499">
                <a:solidFill>
                  <a:srgbClr val="000000"/>
                </a:solidFill>
                <a:latin typeface="DM Sans"/>
                <a:ea typeface="DM Sans"/>
                <a:cs typeface="DM Sans"/>
                <a:sym typeface="DM Sans"/>
              </a:rPr>
              <a:t>(Confirmación o solicitud de reprogramación)</a:t>
            </a:r>
          </a:p>
        </p:txBody>
      </p:sp>
      <p:sp>
        <p:nvSpPr>
          <p:cNvPr name="TextBox 29" id="29"/>
          <p:cNvSpPr txBox="true"/>
          <p:nvPr/>
        </p:nvSpPr>
        <p:spPr>
          <a:xfrm rot="0">
            <a:off x="13881002" y="5116820"/>
            <a:ext cx="3159409" cy="2331012"/>
          </a:xfrm>
          <a:prstGeom prst="rect">
            <a:avLst/>
          </a:prstGeom>
        </p:spPr>
        <p:txBody>
          <a:bodyPr anchor="t" rtlCol="false" tIns="0" lIns="0" bIns="0" rIns="0">
            <a:spAutoFit/>
          </a:bodyPr>
          <a:lstStyle/>
          <a:p>
            <a:pPr algn="ctr">
              <a:lnSpc>
                <a:spcPts val="3207"/>
              </a:lnSpc>
            </a:pPr>
            <a:r>
              <a:rPr lang="en-US" sz="3207" b="true">
                <a:solidFill>
                  <a:srgbClr val="000000"/>
                </a:solidFill>
                <a:latin typeface="DM Sans Bold"/>
                <a:ea typeface="DM Sans Bold"/>
                <a:cs typeface="DM Sans Bold"/>
                <a:sym typeface="DM Sans Bold"/>
              </a:rPr>
              <a:t>Ticket de Salida</a:t>
            </a:r>
          </a:p>
          <a:p>
            <a:pPr algn="ctr">
              <a:lnSpc>
                <a:spcPts val="2586"/>
              </a:lnSpc>
            </a:pPr>
          </a:p>
          <a:p>
            <a:pPr algn="ctr">
              <a:lnSpc>
                <a:spcPts val="2499"/>
              </a:lnSpc>
            </a:pPr>
            <a:r>
              <a:rPr lang="en-US" sz="2499">
                <a:solidFill>
                  <a:srgbClr val="000000"/>
                </a:solidFill>
                <a:latin typeface="DM Sans"/>
                <a:ea typeface="DM Sans"/>
                <a:cs typeface="DM Sans"/>
                <a:sym typeface="DM Sans"/>
              </a:rPr>
              <a:t>(Ingreso de sequimiento e incidencias post-actividad)</a:t>
            </a:r>
          </a:p>
          <a:p>
            <a:pPr algn="ctr">
              <a:lnSpc>
                <a:spcPts val="258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2853"/>
            <a:ext cx="1754029" cy="2549821"/>
            <a:chOff x="0" y="0"/>
            <a:chExt cx="2338706" cy="3399761"/>
          </a:xfrm>
        </p:grpSpPr>
        <p:sp>
          <p:nvSpPr>
            <p:cNvPr name="Freeform 3" id="3"/>
            <p:cNvSpPr/>
            <p:nvPr/>
          </p:nvSpPr>
          <p:spPr>
            <a:xfrm flipH="false" flipV="false" rot="0">
              <a:off x="0" y="0"/>
              <a:ext cx="2338706" cy="3399761"/>
            </a:xfrm>
            <a:custGeom>
              <a:avLst/>
              <a:gdLst/>
              <a:ahLst/>
              <a:cxnLst/>
              <a:rect r="r" b="b" t="t" l="l"/>
              <a:pathLst>
                <a:path h="3399761" w="2338706">
                  <a:moveTo>
                    <a:pt x="0" y="0"/>
                  </a:moveTo>
                  <a:lnTo>
                    <a:pt x="2338706" y="0"/>
                  </a:lnTo>
                  <a:lnTo>
                    <a:pt x="2338706" y="3399761"/>
                  </a:lnTo>
                  <a:lnTo>
                    <a:pt x="0" y="3399761"/>
                  </a:lnTo>
                  <a:close/>
                </a:path>
              </a:pathLst>
            </a:custGeom>
            <a:blipFill>
              <a:blip r:embed="rId2"/>
              <a:stretch>
                <a:fillRect l="0" t="0" r="0" b="0"/>
              </a:stretch>
            </a:blipFill>
          </p:spPr>
        </p:sp>
      </p:grpSp>
      <p:grpSp>
        <p:nvGrpSpPr>
          <p:cNvPr name="Group 4" id="4"/>
          <p:cNvGrpSpPr/>
          <p:nvPr/>
        </p:nvGrpSpPr>
        <p:grpSpPr>
          <a:xfrm rot="0">
            <a:off x="16530399" y="42853"/>
            <a:ext cx="1754029" cy="2549821"/>
            <a:chOff x="0" y="0"/>
            <a:chExt cx="2338706" cy="3399761"/>
          </a:xfrm>
        </p:grpSpPr>
        <p:sp>
          <p:nvSpPr>
            <p:cNvPr name="Freeform 5" id="5"/>
            <p:cNvSpPr/>
            <p:nvPr/>
          </p:nvSpPr>
          <p:spPr>
            <a:xfrm flipH="false" flipV="false" rot="0">
              <a:off x="0" y="0"/>
              <a:ext cx="2338706" cy="3399761"/>
            </a:xfrm>
            <a:custGeom>
              <a:avLst/>
              <a:gdLst/>
              <a:ahLst/>
              <a:cxnLst/>
              <a:rect r="r" b="b" t="t" l="l"/>
              <a:pathLst>
                <a:path h="3399761" w="2338706">
                  <a:moveTo>
                    <a:pt x="0" y="0"/>
                  </a:moveTo>
                  <a:lnTo>
                    <a:pt x="2338706" y="0"/>
                  </a:lnTo>
                  <a:lnTo>
                    <a:pt x="2338706" y="3399761"/>
                  </a:lnTo>
                  <a:lnTo>
                    <a:pt x="0" y="3399761"/>
                  </a:lnTo>
                  <a:close/>
                </a:path>
              </a:pathLst>
            </a:custGeom>
            <a:blipFill>
              <a:blip r:embed="rId3"/>
              <a:stretch>
                <a:fillRect l="0" t="0" r="0" b="0"/>
              </a:stretch>
            </a:blipFill>
          </p:spPr>
        </p:sp>
      </p:grpSp>
      <p:grpSp>
        <p:nvGrpSpPr>
          <p:cNvPr name="Group 6" id="6"/>
          <p:cNvGrpSpPr/>
          <p:nvPr/>
        </p:nvGrpSpPr>
        <p:grpSpPr>
          <a:xfrm rot="0">
            <a:off x="0" y="7692316"/>
            <a:ext cx="1754029" cy="2549821"/>
            <a:chOff x="0" y="0"/>
            <a:chExt cx="2338706" cy="3399761"/>
          </a:xfrm>
        </p:grpSpPr>
        <p:sp>
          <p:nvSpPr>
            <p:cNvPr name="Freeform 7" id="7"/>
            <p:cNvSpPr/>
            <p:nvPr/>
          </p:nvSpPr>
          <p:spPr>
            <a:xfrm flipH="false" flipV="false" rot="0">
              <a:off x="0" y="0"/>
              <a:ext cx="2338706" cy="3399761"/>
            </a:xfrm>
            <a:custGeom>
              <a:avLst/>
              <a:gdLst/>
              <a:ahLst/>
              <a:cxnLst/>
              <a:rect r="r" b="b" t="t" l="l"/>
              <a:pathLst>
                <a:path h="3399761" w="2338706">
                  <a:moveTo>
                    <a:pt x="0" y="0"/>
                  </a:moveTo>
                  <a:lnTo>
                    <a:pt x="2338706" y="0"/>
                  </a:lnTo>
                  <a:lnTo>
                    <a:pt x="2338706" y="3399761"/>
                  </a:lnTo>
                  <a:lnTo>
                    <a:pt x="0" y="3399761"/>
                  </a:lnTo>
                  <a:close/>
                </a:path>
              </a:pathLst>
            </a:custGeom>
            <a:blipFill>
              <a:blip r:embed="rId4"/>
              <a:stretch>
                <a:fillRect l="0" t="0" r="0" b="0"/>
              </a:stretch>
            </a:blipFill>
          </p:spPr>
        </p:sp>
      </p:grpSp>
      <p:grpSp>
        <p:nvGrpSpPr>
          <p:cNvPr name="Group 8" id="8"/>
          <p:cNvGrpSpPr/>
          <p:nvPr/>
        </p:nvGrpSpPr>
        <p:grpSpPr>
          <a:xfrm rot="0">
            <a:off x="16530399" y="7692316"/>
            <a:ext cx="1754029" cy="2549821"/>
            <a:chOff x="0" y="0"/>
            <a:chExt cx="2338706" cy="3399761"/>
          </a:xfrm>
        </p:grpSpPr>
        <p:sp>
          <p:nvSpPr>
            <p:cNvPr name="Freeform 9" id="9"/>
            <p:cNvSpPr/>
            <p:nvPr/>
          </p:nvSpPr>
          <p:spPr>
            <a:xfrm flipH="false" flipV="false" rot="0">
              <a:off x="0" y="0"/>
              <a:ext cx="2338706" cy="3399761"/>
            </a:xfrm>
            <a:custGeom>
              <a:avLst/>
              <a:gdLst/>
              <a:ahLst/>
              <a:cxnLst/>
              <a:rect r="r" b="b" t="t" l="l"/>
              <a:pathLst>
                <a:path h="3399761" w="2338706">
                  <a:moveTo>
                    <a:pt x="0" y="0"/>
                  </a:moveTo>
                  <a:lnTo>
                    <a:pt x="2338706" y="0"/>
                  </a:lnTo>
                  <a:lnTo>
                    <a:pt x="2338706" y="3399761"/>
                  </a:lnTo>
                  <a:lnTo>
                    <a:pt x="0" y="3399761"/>
                  </a:lnTo>
                  <a:close/>
                </a:path>
              </a:pathLst>
            </a:custGeom>
            <a:blipFill>
              <a:blip r:embed="rId5"/>
              <a:stretch>
                <a:fillRect l="0" t="0" r="0" b="0"/>
              </a:stretch>
            </a:blipFill>
          </p:spPr>
        </p:sp>
      </p:grpSp>
      <p:sp>
        <p:nvSpPr>
          <p:cNvPr name="Freeform 10" id="10"/>
          <p:cNvSpPr/>
          <p:nvPr/>
        </p:nvSpPr>
        <p:spPr>
          <a:xfrm flipH="false" flipV="false" rot="0">
            <a:off x="1467453" y="1028700"/>
            <a:ext cx="15353095" cy="8335139"/>
          </a:xfrm>
          <a:custGeom>
            <a:avLst/>
            <a:gdLst/>
            <a:ahLst/>
            <a:cxnLst/>
            <a:rect r="r" b="b" t="t" l="l"/>
            <a:pathLst>
              <a:path h="8335139" w="15353095">
                <a:moveTo>
                  <a:pt x="0" y="0"/>
                </a:moveTo>
                <a:lnTo>
                  <a:pt x="15353094" y="0"/>
                </a:lnTo>
                <a:lnTo>
                  <a:pt x="15353094" y="8335139"/>
                </a:lnTo>
                <a:lnTo>
                  <a:pt x="0" y="8335139"/>
                </a:lnTo>
                <a:lnTo>
                  <a:pt x="0" y="0"/>
                </a:lnTo>
                <a:close/>
              </a:path>
            </a:pathLst>
          </a:custGeom>
          <a:blipFill>
            <a:blip r:embed="rId6"/>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2853"/>
            <a:ext cx="18284428" cy="10199284"/>
            <a:chOff x="0" y="0"/>
            <a:chExt cx="24379238" cy="13599046"/>
          </a:xfrm>
        </p:grpSpPr>
        <p:sp>
          <p:nvSpPr>
            <p:cNvPr name="Freeform 3" id="3"/>
            <p:cNvSpPr/>
            <p:nvPr/>
          </p:nvSpPr>
          <p:spPr>
            <a:xfrm flipH="false" flipV="false" rot="0">
              <a:off x="0" y="0"/>
              <a:ext cx="24379238" cy="13599046"/>
            </a:xfrm>
            <a:custGeom>
              <a:avLst/>
              <a:gdLst/>
              <a:ahLst/>
              <a:cxnLst/>
              <a:rect r="r" b="b" t="t" l="l"/>
              <a:pathLst>
                <a:path h="13599046" w="24379238">
                  <a:moveTo>
                    <a:pt x="0" y="0"/>
                  </a:moveTo>
                  <a:lnTo>
                    <a:pt x="24379238" y="0"/>
                  </a:lnTo>
                  <a:lnTo>
                    <a:pt x="24379238" y="13599046"/>
                  </a:lnTo>
                  <a:lnTo>
                    <a:pt x="0" y="13599046"/>
                  </a:lnTo>
                  <a:close/>
                </a:path>
              </a:pathLst>
            </a:custGeom>
            <a:blipFill>
              <a:blip r:embed="rId2"/>
              <a:stretch>
                <a:fillRect l="0" t="0" r="0" b="0"/>
              </a:stretch>
            </a:blipFill>
          </p:spPr>
        </p:sp>
      </p:grpSp>
      <p:sp>
        <p:nvSpPr>
          <p:cNvPr name="TextBox 4" id="4"/>
          <p:cNvSpPr txBox="true"/>
          <p:nvPr/>
        </p:nvSpPr>
        <p:spPr>
          <a:xfrm rot="0">
            <a:off x="3035215" y="355331"/>
            <a:ext cx="12213998" cy="688767"/>
          </a:xfrm>
          <a:prstGeom prst="rect">
            <a:avLst/>
          </a:prstGeom>
        </p:spPr>
        <p:txBody>
          <a:bodyPr anchor="t" rtlCol="false" tIns="0" lIns="0" bIns="0" rIns="0">
            <a:spAutoFit/>
          </a:bodyPr>
          <a:lstStyle/>
          <a:p>
            <a:pPr algn="ctr">
              <a:lnSpc>
                <a:spcPts val="5287"/>
              </a:lnSpc>
            </a:pPr>
            <a:r>
              <a:rPr lang="en-US" sz="4988" b="true">
                <a:solidFill>
                  <a:srgbClr val="435972"/>
                </a:solidFill>
                <a:latin typeface="Roboto Bold"/>
                <a:ea typeface="Roboto Bold"/>
                <a:cs typeface="Roboto Bold"/>
                <a:sym typeface="Roboto Bold"/>
              </a:rPr>
              <a:t>Aseguramiento de Calidad (QA) y Pruebas</a:t>
            </a:r>
          </a:p>
        </p:txBody>
      </p:sp>
      <p:grpSp>
        <p:nvGrpSpPr>
          <p:cNvPr name="Group 5" id="5"/>
          <p:cNvGrpSpPr/>
          <p:nvPr/>
        </p:nvGrpSpPr>
        <p:grpSpPr>
          <a:xfrm rot="0">
            <a:off x="651117" y="2380189"/>
            <a:ext cx="1966639" cy="212485"/>
            <a:chOff x="0" y="0"/>
            <a:chExt cx="2622185" cy="283313"/>
          </a:xfrm>
        </p:grpSpPr>
        <p:sp>
          <p:nvSpPr>
            <p:cNvPr name="Freeform 6" id="6"/>
            <p:cNvSpPr/>
            <p:nvPr/>
          </p:nvSpPr>
          <p:spPr>
            <a:xfrm flipH="false" flipV="false" rot="0">
              <a:off x="0" y="0"/>
              <a:ext cx="2622185" cy="283313"/>
            </a:xfrm>
            <a:custGeom>
              <a:avLst/>
              <a:gdLst/>
              <a:ahLst/>
              <a:cxnLst/>
              <a:rect r="r" b="b" t="t" l="l"/>
              <a:pathLst>
                <a:path h="283313" w="2622185">
                  <a:moveTo>
                    <a:pt x="0" y="0"/>
                  </a:moveTo>
                  <a:lnTo>
                    <a:pt x="2622185" y="0"/>
                  </a:lnTo>
                  <a:lnTo>
                    <a:pt x="2622185" y="283313"/>
                  </a:lnTo>
                  <a:lnTo>
                    <a:pt x="0" y="283313"/>
                  </a:lnTo>
                  <a:close/>
                </a:path>
              </a:pathLst>
            </a:custGeom>
            <a:blipFill>
              <a:blip r:embed="rId3"/>
              <a:stretch>
                <a:fillRect l="0" t="0" r="0" b="0"/>
              </a:stretch>
            </a:blipFill>
          </p:spPr>
        </p:sp>
      </p:grpSp>
      <p:grpSp>
        <p:nvGrpSpPr>
          <p:cNvPr name="Group 7" id="7"/>
          <p:cNvGrpSpPr/>
          <p:nvPr/>
        </p:nvGrpSpPr>
        <p:grpSpPr>
          <a:xfrm rot="0">
            <a:off x="15666672" y="255338"/>
            <a:ext cx="2405146" cy="3824732"/>
            <a:chOff x="0" y="0"/>
            <a:chExt cx="3206862" cy="5099642"/>
          </a:xfrm>
        </p:grpSpPr>
        <p:sp>
          <p:nvSpPr>
            <p:cNvPr name="Freeform 8" id="8"/>
            <p:cNvSpPr/>
            <p:nvPr/>
          </p:nvSpPr>
          <p:spPr>
            <a:xfrm flipH="false" flipV="false" rot="0">
              <a:off x="0" y="0"/>
              <a:ext cx="3206862" cy="5099642"/>
            </a:xfrm>
            <a:custGeom>
              <a:avLst/>
              <a:gdLst/>
              <a:ahLst/>
              <a:cxnLst/>
              <a:rect r="r" b="b" t="t" l="l"/>
              <a:pathLst>
                <a:path h="5099642" w="3206862">
                  <a:moveTo>
                    <a:pt x="0" y="0"/>
                  </a:moveTo>
                  <a:lnTo>
                    <a:pt x="3206862" y="0"/>
                  </a:lnTo>
                  <a:lnTo>
                    <a:pt x="3206862" y="5099642"/>
                  </a:lnTo>
                  <a:lnTo>
                    <a:pt x="0" y="5099642"/>
                  </a:lnTo>
                  <a:close/>
                </a:path>
              </a:pathLst>
            </a:custGeom>
            <a:blipFill>
              <a:blip r:embed="rId4"/>
              <a:stretch>
                <a:fillRect l="0" t="0" r="0" b="0"/>
              </a:stretch>
            </a:blipFill>
          </p:spPr>
        </p:sp>
      </p:grpSp>
      <p:grpSp>
        <p:nvGrpSpPr>
          <p:cNvPr name="Group 9" id="9"/>
          <p:cNvGrpSpPr/>
          <p:nvPr/>
        </p:nvGrpSpPr>
        <p:grpSpPr>
          <a:xfrm rot="0">
            <a:off x="2391858" y="1317764"/>
            <a:ext cx="13500711" cy="2762306"/>
            <a:chOff x="0" y="0"/>
            <a:chExt cx="18000949" cy="3683075"/>
          </a:xfrm>
        </p:grpSpPr>
        <p:sp>
          <p:nvSpPr>
            <p:cNvPr name="Freeform 10" id="10"/>
            <p:cNvSpPr/>
            <p:nvPr/>
          </p:nvSpPr>
          <p:spPr>
            <a:xfrm flipH="false" flipV="false" rot="0">
              <a:off x="0" y="0"/>
              <a:ext cx="18000949" cy="3683075"/>
            </a:xfrm>
            <a:custGeom>
              <a:avLst/>
              <a:gdLst/>
              <a:ahLst/>
              <a:cxnLst/>
              <a:rect r="r" b="b" t="t" l="l"/>
              <a:pathLst>
                <a:path h="3683075" w="18000949">
                  <a:moveTo>
                    <a:pt x="0" y="0"/>
                  </a:moveTo>
                  <a:lnTo>
                    <a:pt x="18000949" y="0"/>
                  </a:lnTo>
                  <a:lnTo>
                    <a:pt x="18000949" y="3683075"/>
                  </a:lnTo>
                  <a:lnTo>
                    <a:pt x="0" y="3683075"/>
                  </a:lnTo>
                  <a:close/>
                </a:path>
              </a:pathLst>
            </a:custGeom>
            <a:blipFill>
              <a:blip r:embed="rId5"/>
              <a:stretch>
                <a:fillRect l="0" t="0" r="0" b="0"/>
              </a:stretch>
            </a:blipFill>
          </p:spPr>
        </p:sp>
      </p:grpSp>
      <p:sp>
        <p:nvSpPr>
          <p:cNvPr name="TextBox 11" id="11"/>
          <p:cNvSpPr txBox="true"/>
          <p:nvPr/>
        </p:nvSpPr>
        <p:spPr>
          <a:xfrm rot="0">
            <a:off x="3931152" y="1953807"/>
            <a:ext cx="10403840" cy="1294852"/>
          </a:xfrm>
          <a:prstGeom prst="rect">
            <a:avLst/>
          </a:prstGeom>
        </p:spPr>
        <p:txBody>
          <a:bodyPr anchor="t" rtlCol="false" tIns="0" lIns="0" bIns="0" rIns="0">
            <a:spAutoFit/>
          </a:bodyPr>
          <a:lstStyle/>
          <a:p>
            <a:pPr algn="ctr">
              <a:lnSpc>
                <a:spcPts val="5078"/>
              </a:lnSpc>
            </a:pPr>
            <a:r>
              <a:rPr lang="en-US" sz="4790">
                <a:solidFill>
                  <a:srgbClr val="000000"/>
                </a:solidFill>
                <a:latin typeface="Simonetta"/>
                <a:ea typeface="Simonetta"/>
                <a:cs typeface="Simonetta"/>
                <a:sym typeface="Simonetta"/>
              </a:rPr>
              <a:t>Una funcionalidad no está terminada solo porque fue programada o prototipada.</a:t>
            </a:r>
          </a:p>
        </p:txBody>
      </p:sp>
      <p:sp>
        <p:nvSpPr>
          <p:cNvPr name="TextBox 12" id="12"/>
          <p:cNvSpPr txBox="true"/>
          <p:nvPr/>
        </p:nvSpPr>
        <p:spPr>
          <a:xfrm rot="0">
            <a:off x="7972011" y="3998300"/>
            <a:ext cx="3016931" cy="657225"/>
          </a:xfrm>
          <a:prstGeom prst="rect">
            <a:avLst/>
          </a:prstGeom>
        </p:spPr>
        <p:txBody>
          <a:bodyPr anchor="t" rtlCol="false" tIns="0" lIns="0" bIns="0" rIns="0">
            <a:spAutoFit/>
          </a:bodyPr>
          <a:lstStyle/>
          <a:p>
            <a:pPr algn="ctr">
              <a:lnSpc>
                <a:spcPts val="2605"/>
              </a:lnSpc>
            </a:pPr>
            <a:r>
              <a:rPr lang="en-US" sz="2171" b="true">
                <a:solidFill>
                  <a:srgbClr val="000000"/>
                </a:solidFill>
                <a:latin typeface="Roboto Bold"/>
                <a:ea typeface="Roboto Bold"/>
                <a:cs typeface="Roboto Bold"/>
                <a:sym typeface="Roboto Bold"/>
              </a:rPr>
              <a:t>1. Definición: </a:t>
            </a:r>
            <a:r>
              <a:rPr lang="en-US" sz="2171">
                <a:solidFill>
                  <a:srgbClr val="000000"/>
                </a:solidFill>
                <a:latin typeface="Roboto"/>
                <a:ea typeface="Roboto"/>
                <a:cs typeface="Roboto"/>
                <a:sym typeface="Roboto"/>
              </a:rPr>
              <a:t>Establecer Criterios de Aceptación.</a:t>
            </a:r>
          </a:p>
        </p:txBody>
      </p:sp>
      <p:grpSp>
        <p:nvGrpSpPr>
          <p:cNvPr name="Group 13" id="13"/>
          <p:cNvGrpSpPr/>
          <p:nvPr/>
        </p:nvGrpSpPr>
        <p:grpSpPr>
          <a:xfrm rot="0">
            <a:off x="4345209" y="4505040"/>
            <a:ext cx="9594010" cy="4887157"/>
            <a:chOff x="0" y="0"/>
            <a:chExt cx="12792013" cy="6516209"/>
          </a:xfrm>
        </p:grpSpPr>
        <p:sp>
          <p:nvSpPr>
            <p:cNvPr name="Freeform 14" id="14"/>
            <p:cNvSpPr/>
            <p:nvPr/>
          </p:nvSpPr>
          <p:spPr>
            <a:xfrm flipH="false" flipV="false" rot="0">
              <a:off x="0" y="0"/>
              <a:ext cx="12792013" cy="6516209"/>
            </a:xfrm>
            <a:custGeom>
              <a:avLst/>
              <a:gdLst/>
              <a:ahLst/>
              <a:cxnLst/>
              <a:rect r="r" b="b" t="t" l="l"/>
              <a:pathLst>
                <a:path h="6516209" w="12792013">
                  <a:moveTo>
                    <a:pt x="0" y="0"/>
                  </a:moveTo>
                  <a:lnTo>
                    <a:pt x="12792013" y="0"/>
                  </a:lnTo>
                  <a:lnTo>
                    <a:pt x="12792013" y="6516209"/>
                  </a:lnTo>
                  <a:lnTo>
                    <a:pt x="0" y="6516209"/>
                  </a:lnTo>
                  <a:close/>
                </a:path>
              </a:pathLst>
            </a:custGeom>
            <a:blipFill>
              <a:blip r:embed="rId6"/>
              <a:stretch>
                <a:fillRect l="0" t="0" r="0" b="0"/>
              </a:stretch>
            </a:blipFill>
          </p:spPr>
        </p:sp>
      </p:grpSp>
      <p:sp>
        <p:nvSpPr>
          <p:cNvPr name="TextBox 15" id="15"/>
          <p:cNvSpPr txBox="true"/>
          <p:nvPr/>
        </p:nvSpPr>
        <p:spPr>
          <a:xfrm rot="0">
            <a:off x="8173139" y="6668757"/>
            <a:ext cx="1938149" cy="569053"/>
          </a:xfrm>
          <a:prstGeom prst="rect">
            <a:avLst/>
          </a:prstGeom>
        </p:spPr>
        <p:txBody>
          <a:bodyPr anchor="t" rtlCol="false" tIns="0" lIns="0" bIns="0" rIns="0">
            <a:spAutoFit/>
          </a:bodyPr>
          <a:lstStyle/>
          <a:p>
            <a:pPr algn="ctr">
              <a:lnSpc>
                <a:spcPts val="4396"/>
              </a:lnSpc>
            </a:pPr>
            <a:r>
              <a:rPr lang="en-US" sz="4148">
                <a:solidFill>
                  <a:srgbClr val="000000"/>
                </a:solidFill>
                <a:latin typeface="Simonetta"/>
                <a:ea typeface="Simonetta"/>
                <a:cs typeface="Simonetta"/>
                <a:sym typeface="Simonetta"/>
              </a:rPr>
              <a:t>QA Loop</a:t>
            </a:r>
          </a:p>
        </p:txBody>
      </p:sp>
      <p:grpSp>
        <p:nvGrpSpPr>
          <p:cNvPr name="Group 16" id="16"/>
          <p:cNvGrpSpPr/>
          <p:nvPr/>
        </p:nvGrpSpPr>
        <p:grpSpPr>
          <a:xfrm rot="0">
            <a:off x="4996326" y="5142495"/>
            <a:ext cx="1102912" cy="1062425"/>
            <a:chOff x="0" y="0"/>
            <a:chExt cx="1470550" cy="1416567"/>
          </a:xfrm>
        </p:grpSpPr>
        <p:sp>
          <p:nvSpPr>
            <p:cNvPr name="Freeform 17" id="17"/>
            <p:cNvSpPr/>
            <p:nvPr/>
          </p:nvSpPr>
          <p:spPr>
            <a:xfrm flipH="false" flipV="false" rot="0">
              <a:off x="0" y="0"/>
              <a:ext cx="1470550" cy="1416567"/>
            </a:xfrm>
            <a:custGeom>
              <a:avLst/>
              <a:gdLst/>
              <a:ahLst/>
              <a:cxnLst/>
              <a:rect r="r" b="b" t="t" l="l"/>
              <a:pathLst>
                <a:path h="1416567" w="1470550">
                  <a:moveTo>
                    <a:pt x="0" y="0"/>
                  </a:moveTo>
                  <a:lnTo>
                    <a:pt x="1470550" y="0"/>
                  </a:lnTo>
                  <a:lnTo>
                    <a:pt x="1470550" y="1416567"/>
                  </a:lnTo>
                  <a:lnTo>
                    <a:pt x="0" y="1416567"/>
                  </a:lnTo>
                  <a:close/>
                </a:path>
              </a:pathLst>
            </a:custGeom>
            <a:blipFill>
              <a:blip r:embed="rId7"/>
              <a:stretch>
                <a:fillRect l="0" t="0" r="0" b="0"/>
              </a:stretch>
            </a:blipFill>
          </p:spPr>
        </p:sp>
      </p:grpSp>
      <p:grpSp>
        <p:nvGrpSpPr>
          <p:cNvPr name="Group 18" id="18"/>
          <p:cNvGrpSpPr/>
          <p:nvPr/>
        </p:nvGrpSpPr>
        <p:grpSpPr>
          <a:xfrm rot="0">
            <a:off x="5222224" y="5354980"/>
            <a:ext cx="664405" cy="637455"/>
            <a:chOff x="0" y="0"/>
            <a:chExt cx="885873" cy="849940"/>
          </a:xfrm>
        </p:grpSpPr>
        <p:sp>
          <p:nvSpPr>
            <p:cNvPr name="Freeform 19" id="19"/>
            <p:cNvSpPr/>
            <p:nvPr/>
          </p:nvSpPr>
          <p:spPr>
            <a:xfrm flipH="false" flipV="false" rot="0">
              <a:off x="0" y="0"/>
              <a:ext cx="885873" cy="849940"/>
            </a:xfrm>
            <a:custGeom>
              <a:avLst/>
              <a:gdLst/>
              <a:ahLst/>
              <a:cxnLst/>
              <a:rect r="r" b="b" t="t" l="l"/>
              <a:pathLst>
                <a:path h="849940" w="885873">
                  <a:moveTo>
                    <a:pt x="0" y="0"/>
                  </a:moveTo>
                  <a:lnTo>
                    <a:pt x="885873" y="0"/>
                  </a:lnTo>
                  <a:lnTo>
                    <a:pt x="885873" y="849940"/>
                  </a:lnTo>
                  <a:lnTo>
                    <a:pt x="0" y="849940"/>
                  </a:lnTo>
                  <a:close/>
                </a:path>
              </a:pathLst>
            </a:custGeom>
            <a:blipFill>
              <a:blip r:embed="rId8"/>
              <a:stretch>
                <a:fillRect l="0" t="0" r="0" b="0"/>
              </a:stretch>
            </a:blipFill>
          </p:spPr>
        </p:sp>
      </p:grpSp>
      <p:sp>
        <p:nvSpPr>
          <p:cNvPr name="TextBox 20" id="20"/>
          <p:cNvSpPr txBox="true"/>
          <p:nvPr/>
        </p:nvSpPr>
        <p:spPr>
          <a:xfrm rot="0">
            <a:off x="1609030" y="5032252"/>
            <a:ext cx="3016931" cy="981075"/>
          </a:xfrm>
          <a:prstGeom prst="rect">
            <a:avLst/>
          </a:prstGeom>
        </p:spPr>
        <p:txBody>
          <a:bodyPr anchor="t" rtlCol="false" tIns="0" lIns="0" bIns="0" rIns="0">
            <a:spAutoFit/>
          </a:bodyPr>
          <a:lstStyle/>
          <a:p>
            <a:pPr algn="r">
              <a:lnSpc>
                <a:spcPts val="2605"/>
              </a:lnSpc>
            </a:pPr>
            <a:r>
              <a:rPr lang="en-US" sz="2171" b="true">
                <a:solidFill>
                  <a:srgbClr val="000000"/>
                </a:solidFill>
                <a:latin typeface="Roboto Bold"/>
                <a:ea typeface="Roboto Bold"/>
                <a:cs typeface="Roboto Bold"/>
                <a:sym typeface="Roboto Bold"/>
              </a:rPr>
              <a:t>5. Aprobación: </a:t>
            </a:r>
            <a:r>
              <a:rPr lang="en-US" sz="2171">
                <a:solidFill>
                  <a:srgbClr val="000000"/>
                </a:solidFill>
                <a:latin typeface="Roboto"/>
                <a:ea typeface="Roboto"/>
                <a:cs typeface="Roboto"/>
                <a:sym typeface="Roboto"/>
              </a:rPr>
              <a:t>Validación de usabilidad con el cliente.</a:t>
            </a:r>
          </a:p>
        </p:txBody>
      </p:sp>
      <p:grpSp>
        <p:nvGrpSpPr>
          <p:cNvPr name="Group 21" id="21"/>
          <p:cNvGrpSpPr/>
          <p:nvPr/>
        </p:nvGrpSpPr>
        <p:grpSpPr>
          <a:xfrm rot="0">
            <a:off x="8477809" y="4717525"/>
            <a:ext cx="1328810" cy="1274911"/>
            <a:chOff x="0" y="0"/>
            <a:chExt cx="1771747" cy="1699881"/>
          </a:xfrm>
        </p:grpSpPr>
        <p:sp>
          <p:nvSpPr>
            <p:cNvPr name="Freeform 22" id="22"/>
            <p:cNvSpPr/>
            <p:nvPr/>
          </p:nvSpPr>
          <p:spPr>
            <a:xfrm flipH="false" flipV="false" rot="0">
              <a:off x="0" y="0"/>
              <a:ext cx="1771747" cy="1699881"/>
            </a:xfrm>
            <a:custGeom>
              <a:avLst/>
              <a:gdLst/>
              <a:ahLst/>
              <a:cxnLst/>
              <a:rect r="r" b="b" t="t" l="l"/>
              <a:pathLst>
                <a:path h="1699881" w="1771747">
                  <a:moveTo>
                    <a:pt x="0" y="0"/>
                  </a:moveTo>
                  <a:lnTo>
                    <a:pt x="1771747" y="0"/>
                  </a:lnTo>
                  <a:lnTo>
                    <a:pt x="1771747" y="1699881"/>
                  </a:lnTo>
                  <a:lnTo>
                    <a:pt x="0" y="1699881"/>
                  </a:lnTo>
                  <a:close/>
                </a:path>
              </a:pathLst>
            </a:custGeom>
            <a:blipFill>
              <a:blip r:embed="rId9"/>
              <a:stretch>
                <a:fillRect l="0" t="0" r="0" b="0"/>
              </a:stretch>
            </a:blipFill>
          </p:spPr>
        </p:sp>
      </p:grpSp>
      <p:grpSp>
        <p:nvGrpSpPr>
          <p:cNvPr name="Group 23" id="23"/>
          <p:cNvGrpSpPr/>
          <p:nvPr/>
        </p:nvGrpSpPr>
        <p:grpSpPr>
          <a:xfrm rot="0">
            <a:off x="8703707" y="4930010"/>
            <a:ext cx="664405" cy="637455"/>
            <a:chOff x="0" y="0"/>
            <a:chExt cx="885873" cy="849940"/>
          </a:xfrm>
        </p:grpSpPr>
        <p:sp>
          <p:nvSpPr>
            <p:cNvPr name="Freeform 24" id="24"/>
            <p:cNvSpPr/>
            <p:nvPr/>
          </p:nvSpPr>
          <p:spPr>
            <a:xfrm flipH="false" flipV="false" rot="0">
              <a:off x="0" y="0"/>
              <a:ext cx="885873" cy="849940"/>
            </a:xfrm>
            <a:custGeom>
              <a:avLst/>
              <a:gdLst/>
              <a:ahLst/>
              <a:cxnLst/>
              <a:rect r="r" b="b" t="t" l="l"/>
              <a:pathLst>
                <a:path h="849940" w="885873">
                  <a:moveTo>
                    <a:pt x="0" y="0"/>
                  </a:moveTo>
                  <a:lnTo>
                    <a:pt x="885873" y="0"/>
                  </a:lnTo>
                  <a:lnTo>
                    <a:pt x="885873" y="849940"/>
                  </a:lnTo>
                  <a:lnTo>
                    <a:pt x="0" y="849940"/>
                  </a:lnTo>
                  <a:close/>
                </a:path>
              </a:pathLst>
            </a:custGeom>
            <a:blipFill>
              <a:blip r:embed="rId10"/>
              <a:stretch>
                <a:fillRect l="0" t="0" r="0" b="0"/>
              </a:stretch>
            </a:blipFill>
          </p:spPr>
        </p:sp>
      </p:grpSp>
      <p:grpSp>
        <p:nvGrpSpPr>
          <p:cNvPr name="Group 25" id="25"/>
          <p:cNvGrpSpPr/>
          <p:nvPr/>
        </p:nvGrpSpPr>
        <p:grpSpPr>
          <a:xfrm rot="0">
            <a:off x="12185189" y="5142495"/>
            <a:ext cx="1102912" cy="1062425"/>
            <a:chOff x="0" y="0"/>
            <a:chExt cx="1470550" cy="1416567"/>
          </a:xfrm>
        </p:grpSpPr>
        <p:sp>
          <p:nvSpPr>
            <p:cNvPr name="Freeform 26" id="26"/>
            <p:cNvSpPr/>
            <p:nvPr/>
          </p:nvSpPr>
          <p:spPr>
            <a:xfrm flipH="false" flipV="false" rot="0">
              <a:off x="0" y="0"/>
              <a:ext cx="1470550" cy="1416567"/>
            </a:xfrm>
            <a:custGeom>
              <a:avLst/>
              <a:gdLst/>
              <a:ahLst/>
              <a:cxnLst/>
              <a:rect r="r" b="b" t="t" l="l"/>
              <a:pathLst>
                <a:path h="1416567" w="1470550">
                  <a:moveTo>
                    <a:pt x="0" y="0"/>
                  </a:moveTo>
                  <a:lnTo>
                    <a:pt x="1470550" y="0"/>
                  </a:lnTo>
                  <a:lnTo>
                    <a:pt x="1470550" y="1416567"/>
                  </a:lnTo>
                  <a:lnTo>
                    <a:pt x="0" y="1416567"/>
                  </a:lnTo>
                  <a:close/>
                </a:path>
              </a:pathLst>
            </a:custGeom>
            <a:blipFill>
              <a:blip r:embed="rId11"/>
              <a:stretch>
                <a:fillRect l="0" t="0" r="0" b="0"/>
              </a:stretch>
            </a:blipFill>
          </p:spPr>
        </p:sp>
      </p:grpSp>
      <p:grpSp>
        <p:nvGrpSpPr>
          <p:cNvPr name="Group 27" id="27"/>
          <p:cNvGrpSpPr/>
          <p:nvPr/>
        </p:nvGrpSpPr>
        <p:grpSpPr>
          <a:xfrm rot="0">
            <a:off x="12397799" y="5354980"/>
            <a:ext cx="664405" cy="637455"/>
            <a:chOff x="0" y="0"/>
            <a:chExt cx="885873" cy="849940"/>
          </a:xfrm>
        </p:grpSpPr>
        <p:sp>
          <p:nvSpPr>
            <p:cNvPr name="Freeform 28" id="28"/>
            <p:cNvSpPr/>
            <p:nvPr/>
          </p:nvSpPr>
          <p:spPr>
            <a:xfrm flipH="false" flipV="false" rot="0">
              <a:off x="0" y="0"/>
              <a:ext cx="885873" cy="849940"/>
            </a:xfrm>
            <a:custGeom>
              <a:avLst/>
              <a:gdLst/>
              <a:ahLst/>
              <a:cxnLst/>
              <a:rect r="r" b="b" t="t" l="l"/>
              <a:pathLst>
                <a:path h="849940" w="885873">
                  <a:moveTo>
                    <a:pt x="0" y="0"/>
                  </a:moveTo>
                  <a:lnTo>
                    <a:pt x="885873" y="0"/>
                  </a:lnTo>
                  <a:lnTo>
                    <a:pt x="885873" y="849940"/>
                  </a:lnTo>
                  <a:lnTo>
                    <a:pt x="0" y="849940"/>
                  </a:lnTo>
                  <a:close/>
                </a:path>
              </a:pathLst>
            </a:custGeom>
            <a:blipFill>
              <a:blip r:embed="rId12"/>
              <a:stretch>
                <a:fillRect l="0" t="0" r="0" b="0"/>
              </a:stretch>
            </a:blipFill>
          </p:spPr>
        </p:sp>
      </p:grpSp>
      <p:sp>
        <p:nvSpPr>
          <p:cNvPr name="TextBox 29" id="29"/>
          <p:cNvSpPr txBox="true"/>
          <p:nvPr/>
        </p:nvSpPr>
        <p:spPr>
          <a:xfrm rot="0">
            <a:off x="13695037" y="5012332"/>
            <a:ext cx="2742664" cy="1009650"/>
          </a:xfrm>
          <a:prstGeom prst="rect">
            <a:avLst/>
          </a:prstGeom>
        </p:spPr>
        <p:txBody>
          <a:bodyPr anchor="t" rtlCol="false" tIns="0" lIns="0" bIns="0" rIns="0">
            <a:spAutoFit/>
          </a:bodyPr>
          <a:lstStyle/>
          <a:p>
            <a:pPr algn="l">
              <a:lnSpc>
                <a:spcPts val="2664"/>
              </a:lnSpc>
            </a:pPr>
            <a:r>
              <a:rPr lang="en-US" sz="2220" b="true">
                <a:solidFill>
                  <a:srgbClr val="000000"/>
                </a:solidFill>
                <a:latin typeface="Roboto Bold"/>
                <a:ea typeface="Roboto Bold"/>
                <a:cs typeface="Roboto Bold"/>
                <a:sym typeface="Roboto Bold"/>
              </a:rPr>
              <a:t>2. Ejecución: </a:t>
            </a:r>
            <a:r>
              <a:rPr lang="en-US" sz="2220">
                <a:solidFill>
                  <a:srgbClr val="000000"/>
                </a:solidFill>
                <a:latin typeface="Roboto"/>
                <a:ea typeface="Roboto"/>
                <a:cs typeface="Roboto"/>
                <a:sym typeface="Roboto"/>
              </a:rPr>
              <a:t>Pruebas funcionales y Casos de Uso.</a:t>
            </a:r>
          </a:p>
        </p:txBody>
      </p:sp>
      <p:grpSp>
        <p:nvGrpSpPr>
          <p:cNvPr name="Group 30" id="30"/>
          <p:cNvGrpSpPr/>
          <p:nvPr/>
        </p:nvGrpSpPr>
        <p:grpSpPr>
          <a:xfrm rot="0">
            <a:off x="4783717" y="7904801"/>
            <a:ext cx="1315522" cy="1274911"/>
            <a:chOff x="0" y="0"/>
            <a:chExt cx="1754029" cy="1699881"/>
          </a:xfrm>
        </p:grpSpPr>
        <p:sp>
          <p:nvSpPr>
            <p:cNvPr name="Freeform 31" id="31"/>
            <p:cNvSpPr/>
            <p:nvPr/>
          </p:nvSpPr>
          <p:spPr>
            <a:xfrm flipH="false" flipV="false" rot="0">
              <a:off x="0" y="0"/>
              <a:ext cx="1754029" cy="1699881"/>
            </a:xfrm>
            <a:custGeom>
              <a:avLst/>
              <a:gdLst/>
              <a:ahLst/>
              <a:cxnLst/>
              <a:rect r="r" b="b" t="t" l="l"/>
              <a:pathLst>
                <a:path h="1699881" w="1754029">
                  <a:moveTo>
                    <a:pt x="0" y="0"/>
                  </a:moveTo>
                  <a:lnTo>
                    <a:pt x="1754029" y="0"/>
                  </a:lnTo>
                  <a:lnTo>
                    <a:pt x="1754029" y="1699881"/>
                  </a:lnTo>
                  <a:lnTo>
                    <a:pt x="0" y="1699881"/>
                  </a:lnTo>
                  <a:close/>
                </a:path>
              </a:pathLst>
            </a:custGeom>
            <a:blipFill>
              <a:blip r:embed="rId13"/>
              <a:stretch>
                <a:fillRect l="0" t="0" r="0" b="0"/>
              </a:stretch>
            </a:blipFill>
          </p:spPr>
        </p:sp>
      </p:grpSp>
      <p:grpSp>
        <p:nvGrpSpPr>
          <p:cNvPr name="Group 32" id="32"/>
          <p:cNvGrpSpPr/>
          <p:nvPr/>
        </p:nvGrpSpPr>
        <p:grpSpPr>
          <a:xfrm rot="0">
            <a:off x="5222224" y="7904801"/>
            <a:ext cx="664405" cy="637455"/>
            <a:chOff x="0" y="0"/>
            <a:chExt cx="885873" cy="849940"/>
          </a:xfrm>
        </p:grpSpPr>
        <p:sp>
          <p:nvSpPr>
            <p:cNvPr name="Freeform 33" id="33"/>
            <p:cNvSpPr/>
            <p:nvPr/>
          </p:nvSpPr>
          <p:spPr>
            <a:xfrm flipH="false" flipV="false" rot="0">
              <a:off x="0" y="0"/>
              <a:ext cx="885873" cy="849940"/>
            </a:xfrm>
            <a:custGeom>
              <a:avLst/>
              <a:gdLst/>
              <a:ahLst/>
              <a:cxnLst/>
              <a:rect r="r" b="b" t="t" l="l"/>
              <a:pathLst>
                <a:path h="849940" w="885873">
                  <a:moveTo>
                    <a:pt x="0" y="0"/>
                  </a:moveTo>
                  <a:lnTo>
                    <a:pt x="885873" y="0"/>
                  </a:lnTo>
                  <a:lnTo>
                    <a:pt x="885873" y="849940"/>
                  </a:lnTo>
                  <a:lnTo>
                    <a:pt x="0" y="849940"/>
                  </a:lnTo>
                  <a:close/>
                </a:path>
              </a:pathLst>
            </a:custGeom>
            <a:blipFill>
              <a:blip r:embed="rId14"/>
              <a:stretch>
                <a:fillRect l="0" t="0" r="0" b="0"/>
              </a:stretch>
            </a:blipFill>
          </p:spPr>
        </p:sp>
      </p:grpSp>
      <p:sp>
        <p:nvSpPr>
          <p:cNvPr name="TextBox 34" id="34"/>
          <p:cNvSpPr txBox="true"/>
          <p:nvPr/>
        </p:nvSpPr>
        <p:spPr>
          <a:xfrm rot="0">
            <a:off x="1865012" y="8146327"/>
            <a:ext cx="2779233" cy="676275"/>
          </a:xfrm>
          <a:prstGeom prst="rect">
            <a:avLst/>
          </a:prstGeom>
        </p:spPr>
        <p:txBody>
          <a:bodyPr anchor="t" rtlCol="false" tIns="0" lIns="0" bIns="0" rIns="0">
            <a:spAutoFit/>
          </a:bodyPr>
          <a:lstStyle/>
          <a:p>
            <a:pPr algn="r">
              <a:lnSpc>
                <a:spcPts val="2664"/>
              </a:lnSpc>
            </a:pPr>
            <a:r>
              <a:rPr lang="en-US" sz="2220" b="true">
                <a:solidFill>
                  <a:srgbClr val="000000"/>
                </a:solidFill>
                <a:latin typeface="Roboto Bold"/>
                <a:ea typeface="Roboto Bold"/>
                <a:cs typeface="Roboto Bold"/>
                <a:sym typeface="Roboto Bold"/>
              </a:rPr>
              <a:t>4. Corrección: </a:t>
            </a:r>
            <a:r>
              <a:rPr lang="en-US" sz="2220">
                <a:solidFill>
                  <a:srgbClr val="000000"/>
                </a:solidFill>
                <a:latin typeface="Roboto"/>
                <a:ea typeface="Roboto"/>
                <a:cs typeface="Roboto"/>
                <a:sym typeface="Roboto"/>
              </a:rPr>
              <a:t>Ajuste de código y Re-testeo.</a:t>
            </a:r>
          </a:p>
        </p:txBody>
      </p:sp>
      <p:grpSp>
        <p:nvGrpSpPr>
          <p:cNvPr name="Group 35" id="35"/>
          <p:cNvGrpSpPr/>
          <p:nvPr/>
        </p:nvGrpSpPr>
        <p:grpSpPr>
          <a:xfrm rot="0">
            <a:off x="12185189" y="7904801"/>
            <a:ext cx="1102912" cy="849940"/>
            <a:chOff x="0" y="0"/>
            <a:chExt cx="1470550" cy="1133254"/>
          </a:xfrm>
        </p:grpSpPr>
        <p:sp>
          <p:nvSpPr>
            <p:cNvPr name="Freeform 36" id="36"/>
            <p:cNvSpPr/>
            <p:nvPr/>
          </p:nvSpPr>
          <p:spPr>
            <a:xfrm flipH="false" flipV="false" rot="0">
              <a:off x="0" y="0"/>
              <a:ext cx="1470550" cy="1133254"/>
            </a:xfrm>
            <a:custGeom>
              <a:avLst/>
              <a:gdLst/>
              <a:ahLst/>
              <a:cxnLst/>
              <a:rect r="r" b="b" t="t" l="l"/>
              <a:pathLst>
                <a:path h="1133254" w="1470550">
                  <a:moveTo>
                    <a:pt x="0" y="0"/>
                  </a:moveTo>
                  <a:lnTo>
                    <a:pt x="1470550" y="0"/>
                  </a:lnTo>
                  <a:lnTo>
                    <a:pt x="1470550" y="1133254"/>
                  </a:lnTo>
                  <a:lnTo>
                    <a:pt x="0" y="1133254"/>
                  </a:lnTo>
                  <a:close/>
                </a:path>
              </a:pathLst>
            </a:custGeom>
            <a:blipFill>
              <a:blip r:embed="rId15"/>
              <a:stretch>
                <a:fillRect l="0" t="0" r="0" b="0"/>
              </a:stretch>
            </a:blipFill>
          </p:spPr>
        </p:sp>
      </p:grpSp>
      <p:grpSp>
        <p:nvGrpSpPr>
          <p:cNvPr name="Group 37" id="37"/>
          <p:cNvGrpSpPr/>
          <p:nvPr/>
        </p:nvGrpSpPr>
        <p:grpSpPr>
          <a:xfrm rot="0">
            <a:off x="12397799" y="7904801"/>
            <a:ext cx="664405" cy="637455"/>
            <a:chOff x="0" y="0"/>
            <a:chExt cx="885873" cy="849940"/>
          </a:xfrm>
        </p:grpSpPr>
        <p:sp>
          <p:nvSpPr>
            <p:cNvPr name="Freeform 38" id="38"/>
            <p:cNvSpPr/>
            <p:nvPr/>
          </p:nvSpPr>
          <p:spPr>
            <a:xfrm flipH="false" flipV="false" rot="0">
              <a:off x="0" y="0"/>
              <a:ext cx="885873" cy="849940"/>
            </a:xfrm>
            <a:custGeom>
              <a:avLst/>
              <a:gdLst/>
              <a:ahLst/>
              <a:cxnLst/>
              <a:rect r="r" b="b" t="t" l="l"/>
              <a:pathLst>
                <a:path h="849940" w="885873">
                  <a:moveTo>
                    <a:pt x="0" y="0"/>
                  </a:moveTo>
                  <a:lnTo>
                    <a:pt x="885873" y="0"/>
                  </a:lnTo>
                  <a:lnTo>
                    <a:pt x="885873" y="849940"/>
                  </a:lnTo>
                  <a:lnTo>
                    <a:pt x="0" y="849940"/>
                  </a:lnTo>
                  <a:close/>
                </a:path>
              </a:pathLst>
            </a:custGeom>
            <a:blipFill>
              <a:blip r:embed="rId16"/>
              <a:stretch>
                <a:fillRect l="0" t="0" r="0" b="0"/>
              </a:stretch>
            </a:blipFill>
          </p:spPr>
        </p:sp>
      </p:grpSp>
      <p:sp>
        <p:nvSpPr>
          <p:cNvPr name="TextBox 39" id="39"/>
          <p:cNvSpPr txBox="true"/>
          <p:nvPr/>
        </p:nvSpPr>
        <p:spPr>
          <a:xfrm rot="0">
            <a:off x="13695037" y="8146327"/>
            <a:ext cx="3309481" cy="676275"/>
          </a:xfrm>
          <a:prstGeom prst="rect">
            <a:avLst/>
          </a:prstGeom>
        </p:spPr>
        <p:txBody>
          <a:bodyPr anchor="t" rtlCol="false" tIns="0" lIns="0" bIns="0" rIns="0">
            <a:spAutoFit/>
          </a:bodyPr>
          <a:lstStyle/>
          <a:p>
            <a:pPr algn="l">
              <a:lnSpc>
                <a:spcPts val="2664"/>
              </a:lnSpc>
            </a:pPr>
            <a:r>
              <a:rPr lang="en-US" sz="2220" b="true">
                <a:solidFill>
                  <a:srgbClr val="000000"/>
                </a:solidFill>
                <a:latin typeface="Roboto Bold"/>
                <a:ea typeface="Roboto Bold"/>
                <a:cs typeface="Roboto Bold"/>
                <a:sym typeface="Roboto Bold"/>
              </a:rPr>
              <a:t>3. Detección: </a:t>
            </a:r>
            <a:r>
              <a:rPr lang="en-US" sz="2220">
                <a:solidFill>
                  <a:srgbClr val="000000"/>
                </a:solidFill>
                <a:latin typeface="Roboto"/>
                <a:ea typeface="Roboto"/>
                <a:cs typeface="Roboto"/>
                <a:sym typeface="Roboto"/>
              </a:rPr>
              <a:t>Registro de Defectos e Incidencias.</a:t>
            </a:r>
          </a:p>
        </p:txBody>
      </p:sp>
      <p:grpSp>
        <p:nvGrpSpPr>
          <p:cNvPr name="Group 40" id="40"/>
          <p:cNvGrpSpPr/>
          <p:nvPr/>
        </p:nvGrpSpPr>
        <p:grpSpPr>
          <a:xfrm rot="0">
            <a:off x="212610" y="6204921"/>
            <a:ext cx="2192537" cy="3824732"/>
            <a:chOff x="0" y="0"/>
            <a:chExt cx="2923382" cy="5099642"/>
          </a:xfrm>
        </p:grpSpPr>
        <p:sp>
          <p:nvSpPr>
            <p:cNvPr name="Freeform 41" id="41"/>
            <p:cNvSpPr/>
            <p:nvPr/>
          </p:nvSpPr>
          <p:spPr>
            <a:xfrm flipH="false" flipV="false" rot="0">
              <a:off x="0" y="0"/>
              <a:ext cx="2923382" cy="5099642"/>
            </a:xfrm>
            <a:custGeom>
              <a:avLst/>
              <a:gdLst/>
              <a:ahLst/>
              <a:cxnLst/>
              <a:rect r="r" b="b" t="t" l="l"/>
              <a:pathLst>
                <a:path h="5099642" w="2923382">
                  <a:moveTo>
                    <a:pt x="0" y="0"/>
                  </a:moveTo>
                  <a:lnTo>
                    <a:pt x="2923382" y="0"/>
                  </a:lnTo>
                  <a:lnTo>
                    <a:pt x="2923382" y="5099642"/>
                  </a:lnTo>
                  <a:lnTo>
                    <a:pt x="0" y="5099642"/>
                  </a:lnTo>
                  <a:close/>
                </a:path>
              </a:pathLst>
            </a:custGeom>
            <a:blipFill>
              <a:blip r:embed="rId17"/>
              <a:stretch>
                <a:fillRect l="0" t="0" r="0" b="0"/>
              </a:stretch>
            </a:blipFill>
          </p:spPr>
        </p:sp>
      </p:grpSp>
      <p:sp>
        <p:nvSpPr>
          <p:cNvPr name="TextBox 42" id="42"/>
          <p:cNvSpPr txBox="true"/>
          <p:nvPr/>
        </p:nvSpPr>
        <p:spPr>
          <a:xfrm rot="0">
            <a:off x="3986005" y="9834628"/>
            <a:ext cx="10312417" cy="276225"/>
          </a:xfrm>
          <a:prstGeom prst="rect">
            <a:avLst/>
          </a:prstGeom>
        </p:spPr>
        <p:txBody>
          <a:bodyPr anchor="t" rtlCol="false" tIns="0" lIns="0" bIns="0" rIns="0">
            <a:spAutoFit/>
          </a:bodyPr>
          <a:lstStyle/>
          <a:p>
            <a:pPr algn="ctr">
              <a:lnSpc>
                <a:spcPts val="2130"/>
              </a:lnSpc>
            </a:pPr>
            <a:r>
              <a:rPr lang="en-US" sz="1775">
                <a:solidFill>
                  <a:srgbClr val="435972"/>
                </a:solidFill>
                <a:latin typeface="Roboto"/>
                <a:ea typeface="Roboto"/>
                <a:cs typeface="Roboto"/>
                <a:sym typeface="Roboto"/>
              </a:rPr>
              <a:t>Evidencia final consolidada en el Plan y Registro de Pruebas para asegurar certificación del producto.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4428" cy="10242137"/>
            <a:chOff x="0" y="0"/>
            <a:chExt cx="24379238" cy="13656183"/>
          </a:xfrm>
        </p:grpSpPr>
        <p:sp>
          <p:nvSpPr>
            <p:cNvPr name="Freeform 3" id="3"/>
            <p:cNvSpPr/>
            <p:nvPr/>
          </p:nvSpPr>
          <p:spPr>
            <a:xfrm flipH="false" flipV="false" rot="0">
              <a:off x="0" y="0"/>
              <a:ext cx="24379238" cy="13656183"/>
            </a:xfrm>
            <a:custGeom>
              <a:avLst/>
              <a:gdLst/>
              <a:ahLst/>
              <a:cxnLst/>
              <a:rect r="r" b="b" t="t" l="l"/>
              <a:pathLst>
                <a:path h="13656183" w="24379238">
                  <a:moveTo>
                    <a:pt x="0" y="0"/>
                  </a:moveTo>
                  <a:lnTo>
                    <a:pt x="24379238" y="0"/>
                  </a:lnTo>
                  <a:lnTo>
                    <a:pt x="24379238" y="13656183"/>
                  </a:lnTo>
                  <a:lnTo>
                    <a:pt x="0" y="13656183"/>
                  </a:lnTo>
                  <a:close/>
                </a:path>
              </a:pathLst>
            </a:custGeom>
            <a:blipFill>
              <a:blip r:embed="rId2"/>
              <a:stretch>
                <a:fillRect l="-210" t="0" r="-210" b="0"/>
              </a:stretch>
            </a:blipFill>
          </p:spPr>
        </p:sp>
      </p:grpSp>
      <p:grpSp>
        <p:nvGrpSpPr>
          <p:cNvPr name="Group 4" id="4"/>
          <p:cNvGrpSpPr/>
          <p:nvPr/>
        </p:nvGrpSpPr>
        <p:grpSpPr>
          <a:xfrm rot="0">
            <a:off x="0" y="3655099"/>
            <a:ext cx="1528132" cy="6587038"/>
            <a:chOff x="0" y="0"/>
            <a:chExt cx="2037509" cy="8782717"/>
          </a:xfrm>
        </p:grpSpPr>
        <p:sp>
          <p:nvSpPr>
            <p:cNvPr name="Freeform 5" id="5"/>
            <p:cNvSpPr/>
            <p:nvPr/>
          </p:nvSpPr>
          <p:spPr>
            <a:xfrm flipH="false" flipV="false" rot="0">
              <a:off x="0" y="0"/>
              <a:ext cx="2037509" cy="8782717"/>
            </a:xfrm>
            <a:custGeom>
              <a:avLst/>
              <a:gdLst/>
              <a:ahLst/>
              <a:cxnLst/>
              <a:rect r="r" b="b" t="t" l="l"/>
              <a:pathLst>
                <a:path h="8782717" w="2037509">
                  <a:moveTo>
                    <a:pt x="0" y="0"/>
                  </a:moveTo>
                  <a:lnTo>
                    <a:pt x="2037509" y="0"/>
                  </a:lnTo>
                  <a:lnTo>
                    <a:pt x="2037509" y="8782717"/>
                  </a:lnTo>
                  <a:lnTo>
                    <a:pt x="0" y="8782717"/>
                  </a:lnTo>
                  <a:close/>
                </a:path>
              </a:pathLst>
            </a:custGeom>
            <a:blipFill>
              <a:blip r:embed="rId3"/>
              <a:stretch>
                <a:fillRect l="0" t="0" r="0" b="0"/>
              </a:stretch>
            </a:blipFill>
          </p:spPr>
        </p:sp>
      </p:grpSp>
      <p:grpSp>
        <p:nvGrpSpPr>
          <p:cNvPr name="Group 6" id="6"/>
          <p:cNvGrpSpPr/>
          <p:nvPr/>
        </p:nvGrpSpPr>
        <p:grpSpPr>
          <a:xfrm rot="0">
            <a:off x="13713321" y="42853"/>
            <a:ext cx="4571107" cy="6587038"/>
            <a:chOff x="0" y="0"/>
            <a:chExt cx="6094809" cy="8782717"/>
          </a:xfrm>
        </p:grpSpPr>
        <p:sp>
          <p:nvSpPr>
            <p:cNvPr name="Freeform 7" id="7"/>
            <p:cNvSpPr/>
            <p:nvPr/>
          </p:nvSpPr>
          <p:spPr>
            <a:xfrm flipH="false" flipV="false" rot="0">
              <a:off x="0" y="0"/>
              <a:ext cx="6094809" cy="8782717"/>
            </a:xfrm>
            <a:custGeom>
              <a:avLst/>
              <a:gdLst/>
              <a:ahLst/>
              <a:cxnLst/>
              <a:rect r="r" b="b" t="t" l="l"/>
              <a:pathLst>
                <a:path h="8782717" w="6094809">
                  <a:moveTo>
                    <a:pt x="0" y="0"/>
                  </a:moveTo>
                  <a:lnTo>
                    <a:pt x="6094809" y="0"/>
                  </a:lnTo>
                  <a:lnTo>
                    <a:pt x="6094809" y="8782717"/>
                  </a:lnTo>
                  <a:lnTo>
                    <a:pt x="0" y="8782717"/>
                  </a:lnTo>
                  <a:close/>
                </a:path>
              </a:pathLst>
            </a:custGeom>
            <a:blipFill>
              <a:blip r:embed="rId4"/>
              <a:stretch>
                <a:fillRect l="0" t="0" r="0" b="0"/>
              </a:stretch>
            </a:blipFill>
          </p:spPr>
        </p:sp>
      </p:grpSp>
      <p:sp>
        <p:nvSpPr>
          <p:cNvPr name="TextBox 8" id="8"/>
          <p:cNvSpPr txBox="true"/>
          <p:nvPr/>
        </p:nvSpPr>
        <p:spPr>
          <a:xfrm rot="0">
            <a:off x="1609030" y="1051557"/>
            <a:ext cx="14956662" cy="866775"/>
          </a:xfrm>
          <a:prstGeom prst="rect">
            <a:avLst/>
          </a:prstGeom>
        </p:spPr>
        <p:txBody>
          <a:bodyPr anchor="t" rtlCol="false" tIns="0" lIns="0" bIns="0" rIns="0">
            <a:spAutoFit/>
          </a:bodyPr>
          <a:lstStyle/>
          <a:p>
            <a:pPr algn="ctr">
              <a:lnSpc>
                <a:spcPts val="6756"/>
              </a:lnSpc>
            </a:pPr>
            <a:r>
              <a:rPr lang="en-US" sz="5630" b="true">
                <a:solidFill>
                  <a:srgbClr val="233A51"/>
                </a:solidFill>
                <a:latin typeface="Roboto Bold"/>
                <a:ea typeface="Roboto Bold"/>
                <a:cs typeface="Roboto Bold"/>
                <a:sym typeface="Roboto Bold"/>
              </a:rPr>
              <a:t>Metodología de Ejecución: Scrum Adaptado</a:t>
            </a:r>
          </a:p>
        </p:txBody>
      </p:sp>
      <p:sp>
        <p:nvSpPr>
          <p:cNvPr name="TextBox 9" id="9"/>
          <p:cNvSpPr txBox="true"/>
          <p:nvPr/>
        </p:nvSpPr>
        <p:spPr>
          <a:xfrm rot="0">
            <a:off x="2066140" y="1996335"/>
            <a:ext cx="14152147" cy="876300"/>
          </a:xfrm>
          <a:prstGeom prst="rect">
            <a:avLst/>
          </a:prstGeom>
        </p:spPr>
        <p:txBody>
          <a:bodyPr anchor="t" rtlCol="false" tIns="0" lIns="0" bIns="0" rIns="0">
            <a:spAutoFit/>
          </a:bodyPr>
          <a:lstStyle/>
          <a:p>
            <a:pPr algn="ctr">
              <a:lnSpc>
                <a:spcPts val="3494"/>
              </a:lnSpc>
            </a:pPr>
            <a:r>
              <a:rPr lang="en-US" sz="2912">
                <a:solidFill>
                  <a:srgbClr val="000000"/>
                </a:solidFill>
                <a:latin typeface="Roboto"/>
                <a:ea typeface="Roboto"/>
                <a:cs typeface="Roboto"/>
                <a:sym typeface="Roboto"/>
              </a:rPr>
              <a:t>Implementamos un marco de trabajo ágil que equilibra el rigor del desarrollo iterativo con las ventanas de validación requeridas por el cliente y el contexto académico.</a:t>
            </a:r>
          </a:p>
        </p:txBody>
      </p:sp>
      <p:grpSp>
        <p:nvGrpSpPr>
          <p:cNvPr name="Group 10" id="10"/>
          <p:cNvGrpSpPr/>
          <p:nvPr/>
        </p:nvGrpSpPr>
        <p:grpSpPr>
          <a:xfrm rot="0">
            <a:off x="3255585" y="4080070"/>
            <a:ext cx="1754029" cy="2124851"/>
            <a:chOff x="0" y="0"/>
            <a:chExt cx="2338706" cy="2833135"/>
          </a:xfrm>
        </p:grpSpPr>
        <p:sp>
          <p:nvSpPr>
            <p:cNvPr name="Freeform 11" id="11"/>
            <p:cNvSpPr/>
            <p:nvPr/>
          </p:nvSpPr>
          <p:spPr>
            <a:xfrm flipH="false" flipV="false" rot="0">
              <a:off x="0" y="0"/>
              <a:ext cx="2338706" cy="2833134"/>
            </a:xfrm>
            <a:custGeom>
              <a:avLst/>
              <a:gdLst/>
              <a:ahLst/>
              <a:cxnLst/>
              <a:rect r="r" b="b" t="t" l="l"/>
              <a:pathLst>
                <a:path h="2833134" w="2338706">
                  <a:moveTo>
                    <a:pt x="0" y="0"/>
                  </a:moveTo>
                  <a:lnTo>
                    <a:pt x="2338706" y="0"/>
                  </a:lnTo>
                  <a:lnTo>
                    <a:pt x="2338706" y="2833134"/>
                  </a:lnTo>
                  <a:lnTo>
                    <a:pt x="0" y="2833134"/>
                  </a:lnTo>
                  <a:close/>
                </a:path>
              </a:pathLst>
            </a:custGeom>
            <a:blipFill>
              <a:blip r:embed="rId5"/>
              <a:stretch>
                <a:fillRect l="0" t="0" r="0" b="0"/>
              </a:stretch>
            </a:blipFill>
          </p:spPr>
        </p:sp>
      </p:grpSp>
      <p:sp>
        <p:nvSpPr>
          <p:cNvPr name="TextBox 12" id="12"/>
          <p:cNvSpPr txBox="true"/>
          <p:nvPr/>
        </p:nvSpPr>
        <p:spPr>
          <a:xfrm rot="0">
            <a:off x="2779233" y="6259876"/>
            <a:ext cx="2779233" cy="1080344"/>
          </a:xfrm>
          <a:prstGeom prst="rect">
            <a:avLst/>
          </a:prstGeom>
        </p:spPr>
        <p:txBody>
          <a:bodyPr anchor="t" rtlCol="false" tIns="0" lIns="0" bIns="0" rIns="0">
            <a:spAutoFit/>
          </a:bodyPr>
          <a:lstStyle/>
          <a:p>
            <a:pPr algn="ctr">
              <a:lnSpc>
                <a:spcPts val="2823"/>
              </a:lnSpc>
            </a:pPr>
            <a:r>
              <a:rPr lang="en-US" sz="2566" b="true">
                <a:solidFill>
                  <a:srgbClr val="000000"/>
                </a:solidFill>
                <a:latin typeface="Roboto Bold"/>
                <a:ea typeface="Roboto Bold"/>
                <a:cs typeface="Roboto Bold"/>
                <a:sym typeface="Roboto Bold"/>
              </a:rPr>
              <a:t>Backlog Priorizado </a:t>
            </a:r>
            <a:r>
              <a:rPr lang="en-US" sz="2566">
                <a:solidFill>
                  <a:srgbClr val="000000"/>
                </a:solidFill>
                <a:latin typeface="Roboto"/>
                <a:ea typeface="Roboto"/>
                <a:cs typeface="Roboto"/>
                <a:sym typeface="Roboto"/>
              </a:rPr>
              <a:t>(Requisitos de Fundación Huella)</a:t>
            </a:r>
          </a:p>
        </p:txBody>
      </p:sp>
      <p:grpSp>
        <p:nvGrpSpPr>
          <p:cNvPr name="Group 13" id="13"/>
          <p:cNvGrpSpPr/>
          <p:nvPr/>
        </p:nvGrpSpPr>
        <p:grpSpPr>
          <a:xfrm rot="0">
            <a:off x="5222224" y="4930010"/>
            <a:ext cx="1966639" cy="424970"/>
            <a:chOff x="0" y="0"/>
            <a:chExt cx="2622185" cy="566627"/>
          </a:xfrm>
        </p:grpSpPr>
        <p:sp>
          <p:nvSpPr>
            <p:cNvPr name="Freeform 14" id="14"/>
            <p:cNvSpPr/>
            <p:nvPr/>
          </p:nvSpPr>
          <p:spPr>
            <a:xfrm flipH="false" flipV="false" rot="0">
              <a:off x="0" y="0"/>
              <a:ext cx="2622185" cy="566627"/>
            </a:xfrm>
            <a:custGeom>
              <a:avLst/>
              <a:gdLst/>
              <a:ahLst/>
              <a:cxnLst/>
              <a:rect r="r" b="b" t="t" l="l"/>
              <a:pathLst>
                <a:path h="566627" w="2622185">
                  <a:moveTo>
                    <a:pt x="0" y="0"/>
                  </a:moveTo>
                  <a:lnTo>
                    <a:pt x="2622185" y="0"/>
                  </a:lnTo>
                  <a:lnTo>
                    <a:pt x="2622185" y="566627"/>
                  </a:lnTo>
                  <a:lnTo>
                    <a:pt x="0" y="566627"/>
                  </a:lnTo>
                  <a:close/>
                </a:path>
              </a:pathLst>
            </a:custGeom>
            <a:blipFill>
              <a:blip r:embed="rId6"/>
              <a:stretch>
                <a:fillRect l="0" t="0" r="0" b="0"/>
              </a:stretch>
            </a:blipFill>
          </p:spPr>
        </p:sp>
      </p:grpSp>
      <p:grpSp>
        <p:nvGrpSpPr>
          <p:cNvPr name="Group 15" id="15"/>
          <p:cNvGrpSpPr/>
          <p:nvPr/>
        </p:nvGrpSpPr>
        <p:grpSpPr>
          <a:xfrm rot="0">
            <a:off x="6737068" y="3230129"/>
            <a:ext cx="4810293" cy="3824732"/>
            <a:chOff x="0" y="0"/>
            <a:chExt cx="6413724" cy="5099642"/>
          </a:xfrm>
        </p:grpSpPr>
        <p:sp>
          <p:nvSpPr>
            <p:cNvPr name="Freeform 16" id="16"/>
            <p:cNvSpPr/>
            <p:nvPr/>
          </p:nvSpPr>
          <p:spPr>
            <a:xfrm flipH="false" flipV="false" rot="0">
              <a:off x="0" y="0"/>
              <a:ext cx="6413724" cy="5099642"/>
            </a:xfrm>
            <a:custGeom>
              <a:avLst/>
              <a:gdLst/>
              <a:ahLst/>
              <a:cxnLst/>
              <a:rect r="r" b="b" t="t" l="l"/>
              <a:pathLst>
                <a:path h="5099642" w="6413724">
                  <a:moveTo>
                    <a:pt x="0" y="0"/>
                  </a:moveTo>
                  <a:lnTo>
                    <a:pt x="6413724" y="0"/>
                  </a:lnTo>
                  <a:lnTo>
                    <a:pt x="6413724" y="5099642"/>
                  </a:lnTo>
                  <a:lnTo>
                    <a:pt x="0" y="5099642"/>
                  </a:lnTo>
                  <a:close/>
                </a:path>
              </a:pathLst>
            </a:custGeom>
            <a:blipFill>
              <a:blip r:embed="rId7"/>
              <a:stretch>
                <a:fillRect l="0" t="0" r="0" b="0"/>
              </a:stretch>
            </a:blipFill>
          </p:spPr>
        </p:sp>
      </p:grpSp>
      <p:sp>
        <p:nvSpPr>
          <p:cNvPr name="TextBox 17" id="17"/>
          <p:cNvSpPr txBox="true"/>
          <p:nvPr/>
        </p:nvSpPr>
        <p:spPr>
          <a:xfrm rot="0">
            <a:off x="8301130" y="4647879"/>
            <a:ext cx="1682167" cy="1100021"/>
          </a:xfrm>
          <a:prstGeom prst="rect">
            <a:avLst/>
          </a:prstGeom>
        </p:spPr>
        <p:txBody>
          <a:bodyPr anchor="t" rtlCol="false" tIns="0" lIns="0" bIns="0" rIns="0">
            <a:spAutoFit/>
          </a:bodyPr>
          <a:lstStyle/>
          <a:p>
            <a:pPr algn="ctr">
              <a:lnSpc>
                <a:spcPts val="2877"/>
              </a:lnSpc>
            </a:pPr>
            <a:r>
              <a:rPr lang="en-US" sz="2615" b="true">
                <a:solidFill>
                  <a:srgbClr val="000000"/>
                </a:solidFill>
                <a:latin typeface="Roboto Bold"/>
                <a:ea typeface="Roboto Bold"/>
                <a:cs typeface="Roboto Bold"/>
                <a:sym typeface="Roboto Bold"/>
              </a:rPr>
              <a:t>Iteraciones Cortas (Sprints)</a:t>
            </a:r>
          </a:p>
        </p:txBody>
      </p:sp>
      <p:sp>
        <p:nvSpPr>
          <p:cNvPr name="TextBox 18" id="18"/>
          <p:cNvSpPr txBox="true"/>
          <p:nvPr/>
        </p:nvSpPr>
        <p:spPr>
          <a:xfrm rot="0">
            <a:off x="7588038" y="7100513"/>
            <a:ext cx="3108353" cy="742950"/>
          </a:xfrm>
          <a:prstGeom prst="rect">
            <a:avLst/>
          </a:prstGeom>
        </p:spPr>
        <p:txBody>
          <a:bodyPr anchor="t" rtlCol="false" tIns="0" lIns="0" bIns="0" rIns="0">
            <a:spAutoFit/>
          </a:bodyPr>
          <a:lstStyle/>
          <a:p>
            <a:pPr algn="ctr">
              <a:lnSpc>
                <a:spcPts val="2901"/>
              </a:lnSpc>
            </a:pPr>
            <a:r>
              <a:rPr lang="en-US" sz="2418">
                <a:solidFill>
                  <a:srgbClr val="000000"/>
                </a:solidFill>
                <a:latin typeface="Roboto"/>
                <a:ea typeface="Roboto"/>
                <a:cs typeface="Roboto"/>
                <a:sym typeface="Roboto"/>
              </a:rPr>
              <a:t>Desarrollo, Git, revisión y corrección</a:t>
            </a:r>
          </a:p>
        </p:txBody>
      </p:sp>
      <p:grpSp>
        <p:nvGrpSpPr>
          <p:cNvPr name="Group 19" id="19"/>
          <p:cNvGrpSpPr/>
          <p:nvPr/>
        </p:nvGrpSpPr>
        <p:grpSpPr>
          <a:xfrm rot="0">
            <a:off x="11095565" y="4930010"/>
            <a:ext cx="1754029" cy="424970"/>
            <a:chOff x="0" y="0"/>
            <a:chExt cx="2338706" cy="566627"/>
          </a:xfrm>
        </p:grpSpPr>
        <p:sp>
          <p:nvSpPr>
            <p:cNvPr name="Freeform 20" id="20"/>
            <p:cNvSpPr/>
            <p:nvPr/>
          </p:nvSpPr>
          <p:spPr>
            <a:xfrm flipH="false" flipV="false" rot="0">
              <a:off x="0" y="0"/>
              <a:ext cx="2338706" cy="566627"/>
            </a:xfrm>
            <a:custGeom>
              <a:avLst/>
              <a:gdLst/>
              <a:ahLst/>
              <a:cxnLst/>
              <a:rect r="r" b="b" t="t" l="l"/>
              <a:pathLst>
                <a:path h="566627" w="2338706">
                  <a:moveTo>
                    <a:pt x="0" y="0"/>
                  </a:moveTo>
                  <a:lnTo>
                    <a:pt x="2338706" y="0"/>
                  </a:lnTo>
                  <a:lnTo>
                    <a:pt x="2338706" y="566627"/>
                  </a:lnTo>
                  <a:lnTo>
                    <a:pt x="0" y="566627"/>
                  </a:lnTo>
                  <a:close/>
                </a:path>
              </a:pathLst>
            </a:custGeom>
            <a:blipFill>
              <a:blip r:embed="rId8"/>
              <a:stretch>
                <a:fillRect l="0" t="0" r="0" b="0"/>
              </a:stretch>
            </a:blipFill>
          </p:spPr>
        </p:sp>
      </p:grpSp>
      <p:grpSp>
        <p:nvGrpSpPr>
          <p:cNvPr name="Group 21" id="21"/>
          <p:cNvGrpSpPr/>
          <p:nvPr/>
        </p:nvGrpSpPr>
        <p:grpSpPr>
          <a:xfrm rot="0">
            <a:off x="13048916" y="4080070"/>
            <a:ext cx="2192537" cy="2124851"/>
            <a:chOff x="0" y="0"/>
            <a:chExt cx="2923382" cy="2833135"/>
          </a:xfrm>
        </p:grpSpPr>
        <p:sp>
          <p:nvSpPr>
            <p:cNvPr name="Freeform 22" id="22"/>
            <p:cNvSpPr/>
            <p:nvPr/>
          </p:nvSpPr>
          <p:spPr>
            <a:xfrm flipH="false" flipV="false" rot="0">
              <a:off x="0" y="0"/>
              <a:ext cx="2923382" cy="2833134"/>
            </a:xfrm>
            <a:custGeom>
              <a:avLst/>
              <a:gdLst/>
              <a:ahLst/>
              <a:cxnLst/>
              <a:rect r="r" b="b" t="t" l="l"/>
              <a:pathLst>
                <a:path h="2833134" w="2923382">
                  <a:moveTo>
                    <a:pt x="0" y="0"/>
                  </a:moveTo>
                  <a:lnTo>
                    <a:pt x="2923382" y="0"/>
                  </a:lnTo>
                  <a:lnTo>
                    <a:pt x="2923382" y="2833134"/>
                  </a:lnTo>
                  <a:lnTo>
                    <a:pt x="0" y="2833134"/>
                  </a:lnTo>
                  <a:close/>
                </a:path>
              </a:pathLst>
            </a:custGeom>
            <a:blipFill>
              <a:blip r:embed="rId9"/>
              <a:stretch>
                <a:fillRect l="0" t="0" r="0" b="0"/>
              </a:stretch>
            </a:blipFill>
          </p:spPr>
        </p:sp>
      </p:grpSp>
      <p:sp>
        <p:nvSpPr>
          <p:cNvPr name="TextBox 23" id="23"/>
          <p:cNvSpPr txBox="true"/>
          <p:nvPr/>
        </p:nvSpPr>
        <p:spPr>
          <a:xfrm rot="0">
            <a:off x="12140860" y="6259876"/>
            <a:ext cx="3912868" cy="1080344"/>
          </a:xfrm>
          <a:prstGeom prst="rect">
            <a:avLst/>
          </a:prstGeom>
        </p:spPr>
        <p:txBody>
          <a:bodyPr anchor="t" rtlCol="false" tIns="0" lIns="0" bIns="0" rIns="0">
            <a:spAutoFit/>
          </a:bodyPr>
          <a:lstStyle/>
          <a:p>
            <a:pPr algn="ctr">
              <a:lnSpc>
                <a:spcPts val="2823"/>
              </a:lnSpc>
            </a:pPr>
            <a:r>
              <a:rPr lang="en-US" sz="2566" b="true">
                <a:solidFill>
                  <a:srgbClr val="000000"/>
                </a:solidFill>
                <a:latin typeface="Roboto Bold"/>
                <a:ea typeface="Roboto Bold"/>
                <a:cs typeface="Roboto Bold"/>
                <a:sym typeface="Roboto Bold"/>
              </a:rPr>
              <a:t>Entregables Demostrables </a:t>
            </a:r>
            <a:r>
              <a:rPr lang="en-US" sz="2566">
                <a:solidFill>
                  <a:srgbClr val="000000"/>
                </a:solidFill>
                <a:latin typeface="Roboto"/>
                <a:ea typeface="Roboto"/>
                <a:cs typeface="Roboto"/>
                <a:sym typeface="Roboto"/>
              </a:rPr>
              <a:t>(Funcionalidades del MVP probadas)</a:t>
            </a:r>
          </a:p>
        </p:txBody>
      </p:sp>
      <p:grpSp>
        <p:nvGrpSpPr>
          <p:cNvPr name="Group 24" id="24"/>
          <p:cNvGrpSpPr/>
          <p:nvPr/>
        </p:nvGrpSpPr>
        <p:grpSpPr>
          <a:xfrm rot="0">
            <a:off x="1514844" y="8329771"/>
            <a:ext cx="5022902" cy="1274911"/>
            <a:chOff x="0" y="0"/>
            <a:chExt cx="6697203" cy="1699881"/>
          </a:xfrm>
        </p:grpSpPr>
        <p:sp>
          <p:nvSpPr>
            <p:cNvPr name="Freeform 25" id="25"/>
            <p:cNvSpPr/>
            <p:nvPr/>
          </p:nvSpPr>
          <p:spPr>
            <a:xfrm flipH="false" flipV="false" rot="0">
              <a:off x="0" y="0"/>
              <a:ext cx="6697204" cy="1699881"/>
            </a:xfrm>
            <a:custGeom>
              <a:avLst/>
              <a:gdLst/>
              <a:ahLst/>
              <a:cxnLst/>
              <a:rect r="r" b="b" t="t" l="l"/>
              <a:pathLst>
                <a:path h="1699881" w="6697204">
                  <a:moveTo>
                    <a:pt x="0" y="0"/>
                  </a:moveTo>
                  <a:lnTo>
                    <a:pt x="6697204" y="0"/>
                  </a:lnTo>
                  <a:lnTo>
                    <a:pt x="6697204" y="1699881"/>
                  </a:lnTo>
                  <a:lnTo>
                    <a:pt x="0" y="1699881"/>
                  </a:lnTo>
                  <a:close/>
                </a:path>
              </a:pathLst>
            </a:custGeom>
            <a:blipFill>
              <a:blip r:embed="rId10"/>
              <a:stretch>
                <a:fillRect l="0" t="0" r="0" b="0"/>
              </a:stretch>
            </a:blipFill>
          </p:spPr>
        </p:sp>
      </p:grpSp>
      <p:grpSp>
        <p:nvGrpSpPr>
          <p:cNvPr name="Group 26" id="26"/>
          <p:cNvGrpSpPr/>
          <p:nvPr/>
        </p:nvGrpSpPr>
        <p:grpSpPr>
          <a:xfrm rot="0">
            <a:off x="1740741" y="8542257"/>
            <a:ext cx="877015" cy="849940"/>
            <a:chOff x="0" y="0"/>
            <a:chExt cx="1169353" cy="1133254"/>
          </a:xfrm>
        </p:grpSpPr>
        <p:sp>
          <p:nvSpPr>
            <p:cNvPr name="Freeform 27" id="27"/>
            <p:cNvSpPr/>
            <p:nvPr/>
          </p:nvSpPr>
          <p:spPr>
            <a:xfrm flipH="false" flipV="false" rot="0">
              <a:off x="0" y="0"/>
              <a:ext cx="1169353" cy="1133254"/>
            </a:xfrm>
            <a:custGeom>
              <a:avLst/>
              <a:gdLst/>
              <a:ahLst/>
              <a:cxnLst/>
              <a:rect r="r" b="b" t="t" l="l"/>
              <a:pathLst>
                <a:path h="1133254" w="1169353">
                  <a:moveTo>
                    <a:pt x="0" y="0"/>
                  </a:moveTo>
                  <a:lnTo>
                    <a:pt x="1169353" y="0"/>
                  </a:lnTo>
                  <a:lnTo>
                    <a:pt x="1169353" y="1133254"/>
                  </a:lnTo>
                  <a:lnTo>
                    <a:pt x="0" y="1133254"/>
                  </a:lnTo>
                  <a:close/>
                </a:path>
              </a:pathLst>
            </a:custGeom>
            <a:blipFill>
              <a:blip r:embed="rId11"/>
              <a:stretch>
                <a:fillRect l="0" t="0" r="0" b="0"/>
              </a:stretch>
            </a:blipFill>
          </p:spPr>
        </p:sp>
      </p:grpSp>
      <p:sp>
        <p:nvSpPr>
          <p:cNvPr name="TextBox 28" id="28"/>
          <p:cNvSpPr txBox="true"/>
          <p:nvPr/>
        </p:nvSpPr>
        <p:spPr>
          <a:xfrm rot="0">
            <a:off x="2687811" y="8571616"/>
            <a:ext cx="2779233" cy="714375"/>
          </a:xfrm>
          <a:prstGeom prst="rect">
            <a:avLst/>
          </a:prstGeom>
        </p:spPr>
        <p:txBody>
          <a:bodyPr anchor="t" rtlCol="false" tIns="0" lIns="0" bIns="0" rIns="0">
            <a:spAutoFit/>
          </a:bodyPr>
          <a:lstStyle/>
          <a:p>
            <a:pPr algn="l">
              <a:lnSpc>
                <a:spcPts val="2783"/>
              </a:lnSpc>
            </a:pPr>
            <a:r>
              <a:rPr lang="en-US" sz="2319">
                <a:solidFill>
                  <a:srgbClr val="000000"/>
                </a:solidFill>
                <a:latin typeface="Roboto"/>
                <a:ea typeface="Roboto"/>
                <a:cs typeface="Roboto"/>
                <a:sym typeface="Roboto"/>
              </a:rPr>
              <a:t>Flexibilidad ante cambios justificados</a:t>
            </a:r>
          </a:p>
        </p:txBody>
      </p:sp>
      <p:grpSp>
        <p:nvGrpSpPr>
          <p:cNvPr name="Group 29" id="29"/>
          <p:cNvGrpSpPr/>
          <p:nvPr/>
        </p:nvGrpSpPr>
        <p:grpSpPr>
          <a:xfrm rot="0">
            <a:off x="6524458" y="8329771"/>
            <a:ext cx="5235512" cy="1274911"/>
            <a:chOff x="0" y="0"/>
            <a:chExt cx="6980683" cy="1699881"/>
          </a:xfrm>
        </p:grpSpPr>
        <p:sp>
          <p:nvSpPr>
            <p:cNvPr name="Freeform 30" id="30"/>
            <p:cNvSpPr/>
            <p:nvPr/>
          </p:nvSpPr>
          <p:spPr>
            <a:xfrm flipH="false" flipV="false" rot="0">
              <a:off x="0" y="0"/>
              <a:ext cx="6980683" cy="1699881"/>
            </a:xfrm>
            <a:custGeom>
              <a:avLst/>
              <a:gdLst/>
              <a:ahLst/>
              <a:cxnLst/>
              <a:rect r="r" b="b" t="t" l="l"/>
              <a:pathLst>
                <a:path h="1699881" w="6980683">
                  <a:moveTo>
                    <a:pt x="0" y="0"/>
                  </a:moveTo>
                  <a:lnTo>
                    <a:pt x="6980683" y="0"/>
                  </a:lnTo>
                  <a:lnTo>
                    <a:pt x="6980683" y="1699881"/>
                  </a:lnTo>
                  <a:lnTo>
                    <a:pt x="0" y="1699881"/>
                  </a:lnTo>
                  <a:close/>
                </a:path>
              </a:pathLst>
            </a:custGeom>
            <a:blipFill>
              <a:blip r:embed="rId12"/>
              <a:stretch>
                <a:fillRect l="0" t="0" r="0" b="0"/>
              </a:stretch>
            </a:blipFill>
          </p:spPr>
        </p:sp>
      </p:grpSp>
      <p:grpSp>
        <p:nvGrpSpPr>
          <p:cNvPr name="Group 31" id="31"/>
          <p:cNvGrpSpPr/>
          <p:nvPr/>
        </p:nvGrpSpPr>
        <p:grpSpPr>
          <a:xfrm rot="0">
            <a:off x="6737068" y="8542257"/>
            <a:ext cx="1102912" cy="849940"/>
            <a:chOff x="0" y="0"/>
            <a:chExt cx="1470550" cy="1133254"/>
          </a:xfrm>
        </p:grpSpPr>
        <p:sp>
          <p:nvSpPr>
            <p:cNvPr name="Freeform 32" id="32"/>
            <p:cNvSpPr/>
            <p:nvPr/>
          </p:nvSpPr>
          <p:spPr>
            <a:xfrm flipH="false" flipV="false" rot="0">
              <a:off x="0" y="0"/>
              <a:ext cx="1470550" cy="1133254"/>
            </a:xfrm>
            <a:custGeom>
              <a:avLst/>
              <a:gdLst/>
              <a:ahLst/>
              <a:cxnLst/>
              <a:rect r="r" b="b" t="t" l="l"/>
              <a:pathLst>
                <a:path h="1133254" w="1470550">
                  <a:moveTo>
                    <a:pt x="0" y="0"/>
                  </a:moveTo>
                  <a:lnTo>
                    <a:pt x="1470550" y="0"/>
                  </a:lnTo>
                  <a:lnTo>
                    <a:pt x="1470550" y="1133254"/>
                  </a:lnTo>
                  <a:lnTo>
                    <a:pt x="0" y="1133254"/>
                  </a:lnTo>
                  <a:close/>
                </a:path>
              </a:pathLst>
            </a:custGeom>
            <a:blipFill>
              <a:blip r:embed="rId13"/>
              <a:stretch>
                <a:fillRect l="0" t="0" r="0" b="0"/>
              </a:stretch>
            </a:blipFill>
          </p:spPr>
        </p:sp>
      </p:grpSp>
      <p:sp>
        <p:nvSpPr>
          <p:cNvPr name="TextBox 33" id="33"/>
          <p:cNvSpPr txBox="true"/>
          <p:nvPr/>
        </p:nvSpPr>
        <p:spPr>
          <a:xfrm rot="0">
            <a:off x="7880589" y="8548811"/>
            <a:ext cx="3254628" cy="723900"/>
          </a:xfrm>
          <a:prstGeom prst="rect">
            <a:avLst/>
          </a:prstGeom>
        </p:spPr>
        <p:txBody>
          <a:bodyPr anchor="t" rtlCol="false" tIns="0" lIns="0" bIns="0" rIns="0">
            <a:spAutoFit/>
          </a:bodyPr>
          <a:lstStyle/>
          <a:p>
            <a:pPr algn="l">
              <a:lnSpc>
                <a:spcPts val="2842"/>
              </a:lnSpc>
            </a:pPr>
            <a:r>
              <a:rPr lang="en-US" sz="2368">
                <a:solidFill>
                  <a:srgbClr val="000000"/>
                </a:solidFill>
                <a:latin typeface="Roboto"/>
                <a:ea typeface="Roboto"/>
                <a:cs typeface="Roboto"/>
                <a:sym typeface="Roboto"/>
              </a:rPr>
              <a:t>Participación del cliente en hitos de validación</a:t>
            </a:r>
          </a:p>
        </p:txBody>
      </p:sp>
      <p:grpSp>
        <p:nvGrpSpPr>
          <p:cNvPr name="Group 34" id="34"/>
          <p:cNvGrpSpPr/>
          <p:nvPr/>
        </p:nvGrpSpPr>
        <p:grpSpPr>
          <a:xfrm rot="0">
            <a:off x="11746682" y="8329771"/>
            <a:ext cx="5235512" cy="1274911"/>
            <a:chOff x="0" y="0"/>
            <a:chExt cx="6980683" cy="1699881"/>
          </a:xfrm>
        </p:grpSpPr>
        <p:sp>
          <p:nvSpPr>
            <p:cNvPr name="Freeform 35" id="35"/>
            <p:cNvSpPr/>
            <p:nvPr/>
          </p:nvSpPr>
          <p:spPr>
            <a:xfrm flipH="false" flipV="false" rot="0">
              <a:off x="0" y="0"/>
              <a:ext cx="6980683" cy="1699881"/>
            </a:xfrm>
            <a:custGeom>
              <a:avLst/>
              <a:gdLst/>
              <a:ahLst/>
              <a:cxnLst/>
              <a:rect r="r" b="b" t="t" l="l"/>
              <a:pathLst>
                <a:path h="1699881" w="6980683">
                  <a:moveTo>
                    <a:pt x="0" y="0"/>
                  </a:moveTo>
                  <a:lnTo>
                    <a:pt x="6980683" y="0"/>
                  </a:lnTo>
                  <a:lnTo>
                    <a:pt x="6980683" y="1699881"/>
                  </a:lnTo>
                  <a:lnTo>
                    <a:pt x="0" y="1699881"/>
                  </a:lnTo>
                  <a:close/>
                </a:path>
              </a:pathLst>
            </a:custGeom>
            <a:blipFill>
              <a:blip r:embed="rId14"/>
              <a:stretch>
                <a:fillRect l="0" t="0" r="0" b="0"/>
              </a:stretch>
            </a:blipFill>
          </p:spPr>
        </p:sp>
      </p:grpSp>
      <p:grpSp>
        <p:nvGrpSpPr>
          <p:cNvPr name="Group 36" id="36"/>
          <p:cNvGrpSpPr/>
          <p:nvPr/>
        </p:nvGrpSpPr>
        <p:grpSpPr>
          <a:xfrm rot="0">
            <a:off x="11959292" y="8542257"/>
            <a:ext cx="890303" cy="849940"/>
            <a:chOff x="0" y="0"/>
            <a:chExt cx="1187070" cy="1133254"/>
          </a:xfrm>
        </p:grpSpPr>
        <p:sp>
          <p:nvSpPr>
            <p:cNvPr name="Freeform 37" id="37"/>
            <p:cNvSpPr/>
            <p:nvPr/>
          </p:nvSpPr>
          <p:spPr>
            <a:xfrm flipH="false" flipV="false" rot="0">
              <a:off x="0" y="0"/>
              <a:ext cx="1187070" cy="1133254"/>
            </a:xfrm>
            <a:custGeom>
              <a:avLst/>
              <a:gdLst/>
              <a:ahLst/>
              <a:cxnLst/>
              <a:rect r="r" b="b" t="t" l="l"/>
              <a:pathLst>
                <a:path h="1133254" w="1187070">
                  <a:moveTo>
                    <a:pt x="0" y="0"/>
                  </a:moveTo>
                  <a:lnTo>
                    <a:pt x="1187070" y="0"/>
                  </a:lnTo>
                  <a:lnTo>
                    <a:pt x="1187070" y="1133254"/>
                  </a:lnTo>
                  <a:lnTo>
                    <a:pt x="0" y="1133254"/>
                  </a:lnTo>
                  <a:close/>
                </a:path>
              </a:pathLst>
            </a:custGeom>
            <a:blipFill>
              <a:blip r:embed="rId15"/>
              <a:stretch>
                <a:fillRect l="0" t="0" r="0" b="0"/>
              </a:stretch>
            </a:blipFill>
          </p:spPr>
        </p:sp>
      </p:grpSp>
      <p:sp>
        <p:nvSpPr>
          <p:cNvPr name="TextBox 38" id="38"/>
          <p:cNvSpPr txBox="true"/>
          <p:nvPr/>
        </p:nvSpPr>
        <p:spPr>
          <a:xfrm rot="0">
            <a:off x="13073366" y="8571616"/>
            <a:ext cx="3602032" cy="714375"/>
          </a:xfrm>
          <a:prstGeom prst="rect">
            <a:avLst/>
          </a:prstGeom>
        </p:spPr>
        <p:txBody>
          <a:bodyPr anchor="t" rtlCol="false" tIns="0" lIns="0" bIns="0" rIns="0">
            <a:spAutoFit/>
          </a:bodyPr>
          <a:lstStyle/>
          <a:p>
            <a:pPr algn="l">
              <a:lnSpc>
                <a:spcPts val="2783"/>
              </a:lnSpc>
            </a:pPr>
            <a:r>
              <a:rPr lang="en-US" sz="2319">
                <a:solidFill>
                  <a:srgbClr val="000000"/>
                </a:solidFill>
                <a:latin typeface="Roboto"/>
                <a:ea typeface="Roboto"/>
                <a:cs typeface="Roboto"/>
                <a:sym typeface="Roboto"/>
              </a:rPr>
              <a:t>Retrospectivas para mejora continua del equipo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2193"/>
            <a:ext cx="18284428" cy="10374330"/>
            <a:chOff x="0" y="0"/>
            <a:chExt cx="24379238" cy="13832440"/>
          </a:xfrm>
        </p:grpSpPr>
        <p:sp>
          <p:nvSpPr>
            <p:cNvPr name="Freeform 3" id="3"/>
            <p:cNvSpPr/>
            <p:nvPr/>
          </p:nvSpPr>
          <p:spPr>
            <a:xfrm flipH="false" flipV="false" rot="0">
              <a:off x="0" y="0"/>
              <a:ext cx="24379238" cy="13832439"/>
            </a:xfrm>
            <a:custGeom>
              <a:avLst/>
              <a:gdLst/>
              <a:ahLst/>
              <a:cxnLst/>
              <a:rect r="r" b="b" t="t" l="l"/>
              <a:pathLst>
                <a:path h="13832439" w="24379238">
                  <a:moveTo>
                    <a:pt x="0" y="0"/>
                  </a:moveTo>
                  <a:lnTo>
                    <a:pt x="24379238" y="0"/>
                  </a:lnTo>
                  <a:lnTo>
                    <a:pt x="24379238" y="13832439"/>
                  </a:lnTo>
                  <a:lnTo>
                    <a:pt x="0" y="13832439"/>
                  </a:lnTo>
                  <a:close/>
                </a:path>
              </a:pathLst>
            </a:custGeom>
            <a:blipFill>
              <a:blip r:embed="rId2"/>
              <a:stretch>
                <a:fillRect l="-858" t="0" r="-858" b="0"/>
              </a:stretch>
            </a:blipFill>
          </p:spPr>
        </p:sp>
      </p:grpSp>
      <p:grpSp>
        <p:nvGrpSpPr>
          <p:cNvPr name="Group 4" id="4"/>
          <p:cNvGrpSpPr/>
          <p:nvPr/>
        </p:nvGrpSpPr>
        <p:grpSpPr>
          <a:xfrm rot="0">
            <a:off x="425219" y="6417406"/>
            <a:ext cx="4584395" cy="3824732"/>
            <a:chOff x="0" y="0"/>
            <a:chExt cx="6112527" cy="5099642"/>
          </a:xfrm>
        </p:grpSpPr>
        <p:sp>
          <p:nvSpPr>
            <p:cNvPr name="Freeform 5" id="5"/>
            <p:cNvSpPr/>
            <p:nvPr/>
          </p:nvSpPr>
          <p:spPr>
            <a:xfrm flipH="false" flipV="false" rot="0">
              <a:off x="0" y="0"/>
              <a:ext cx="6112527" cy="5099642"/>
            </a:xfrm>
            <a:custGeom>
              <a:avLst/>
              <a:gdLst/>
              <a:ahLst/>
              <a:cxnLst/>
              <a:rect r="r" b="b" t="t" l="l"/>
              <a:pathLst>
                <a:path h="5099642" w="6112527">
                  <a:moveTo>
                    <a:pt x="0" y="0"/>
                  </a:moveTo>
                  <a:lnTo>
                    <a:pt x="6112527" y="0"/>
                  </a:lnTo>
                  <a:lnTo>
                    <a:pt x="6112527" y="5099642"/>
                  </a:lnTo>
                  <a:lnTo>
                    <a:pt x="0" y="5099642"/>
                  </a:lnTo>
                  <a:close/>
                </a:path>
              </a:pathLst>
            </a:custGeom>
            <a:blipFill>
              <a:blip r:embed="rId3"/>
              <a:stretch>
                <a:fillRect l="0" t="0" r="0" b="0"/>
              </a:stretch>
            </a:blipFill>
          </p:spPr>
        </p:sp>
      </p:grpSp>
      <p:grpSp>
        <p:nvGrpSpPr>
          <p:cNvPr name="Group 6" id="6"/>
          <p:cNvGrpSpPr/>
          <p:nvPr/>
        </p:nvGrpSpPr>
        <p:grpSpPr>
          <a:xfrm rot="0">
            <a:off x="12836306" y="42853"/>
            <a:ext cx="5235512" cy="5312127"/>
            <a:chOff x="0" y="0"/>
            <a:chExt cx="6980683" cy="7082836"/>
          </a:xfrm>
        </p:grpSpPr>
        <p:sp>
          <p:nvSpPr>
            <p:cNvPr name="Freeform 7" id="7"/>
            <p:cNvSpPr/>
            <p:nvPr/>
          </p:nvSpPr>
          <p:spPr>
            <a:xfrm flipH="false" flipV="false" rot="0">
              <a:off x="0" y="0"/>
              <a:ext cx="6980683" cy="7082837"/>
            </a:xfrm>
            <a:custGeom>
              <a:avLst/>
              <a:gdLst/>
              <a:ahLst/>
              <a:cxnLst/>
              <a:rect r="r" b="b" t="t" l="l"/>
              <a:pathLst>
                <a:path h="7082837" w="6980683">
                  <a:moveTo>
                    <a:pt x="0" y="0"/>
                  </a:moveTo>
                  <a:lnTo>
                    <a:pt x="6980683" y="0"/>
                  </a:lnTo>
                  <a:lnTo>
                    <a:pt x="6980683" y="7082837"/>
                  </a:lnTo>
                  <a:lnTo>
                    <a:pt x="0" y="7082837"/>
                  </a:lnTo>
                  <a:close/>
                </a:path>
              </a:pathLst>
            </a:custGeom>
            <a:blipFill>
              <a:blip r:embed="rId4"/>
              <a:stretch>
                <a:fillRect l="0" t="0" r="0" b="0"/>
              </a:stretch>
            </a:blipFill>
          </p:spPr>
        </p:sp>
      </p:grpSp>
      <p:grpSp>
        <p:nvGrpSpPr>
          <p:cNvPr name="Group 8" id="8"/>
          <p:cNvGrpSpPr/>
          <p:nvPr/>
        </p:nvGrpSpPr>
        <p:grpSpPr>
          <a:xfrm rot="0">
            <a:off x="1076336" y="2380189"/>
            <a:ext cx="8065878" cy="7224493"/>
            <a:chOff x="0" y="0"/>
            <a:chExt cx="10754504" cy="9632657"/>
          </a:xfrm>
        </p:grpSpPr>
        <p:sp>
          <p:nvSpPr>
            <p:cNvPr name="Freeform 9" id="9"/>
            <p:cNvSpPr/>
            <p:nvPr/>
          </p:nvSpPr>
          <p:spPr>
            <a:xfrm flipH="false" flipV="false" rot="0">
              <a:off x="0" y="0"/>
              <a:ext cx="10754504" cy="9632657"/>
            </a:xfrm>
            <a:custGeom>
              <a:avLst/>
              <a:gdLst/>
              <a:ahLst/>
              <a:cxnLst/>
              <a:rect r="r" b="b" t="t" l="l"/>
              <a:pathLst>
                <a:path h="9632657" w="10754504">
                  <a:moveTo>
                    <a:pt x="0" y="0"/>
                  </a:moveTo>
                  <a:lnTo>
                    <a:pt x="10754504" y="0"/>
                  </a:lnTo>
                  <a:lnTo>
                    <a:pt x="10754504" y="9632657"/>
                  </a:lnTo>
                  <a:lnTo>
                    <a:pt x="0" y="9632657"/>
                  </a:lnTo>
                  <a:close/>
                </a:path>
              </a:pathLst>
            </a:custGeom>
            <a:blipFill>
              <a:blip r:embed="rId5"/>
              <a:stretch>
                <a:fillRect l="0" t="0" r="0" b="0"/>
              </a:stretch>
            </a:blipFill>
          </p:spPr>
        </p:sp>
      </p:grpSp>
      <p:grpSp>
        <p:nvGrpSpPr>
          <p:cNvPr name="Group 10" id="10"/>
          <p:cNvGrpSpPr/>
          <p:nvPr/>
        </p:nvGrpSpPr>
        <p:grpSpPr>
          <a:xfrm rot="0">
            <a:off x="9354824" y="2380189"/>
            <a:ext cx="7627370" cy="7224493"/>
            <a:chOff x="0" y="0"/>
            <a:chExt cx="10169827" cy="9632657"/>
          </a:xfrm>
        </p:grpSpPr>
        <p:sp>
          <p:nvSpPr>
            <p:cNvPr name="Freeform 11" id="11"/>
            <p:cNvSpPr/>
            <p:nvPr/>
          </p:nvSpPr>
          <p:spPr>
            <a:xfrm flipH="false" flipV="false" rot="0">
              <a:off x="0" y="0"/>
              <a:ext cx="10169827" cy="9632657"/>
            </a:xfrm>
            <a:custGeom>
              <a:avLst/>
              <a:gdLst/>
              <a:ahLst/>
              <a:cxnLst/>
              <a:rect r="r" b="b" t="t" l="l"/>
              <a:pathLst>
                <a:path h="9632657" w="10169827">
                  <a:moveTo>
                    <a:pt x="0" y="0"/>
                  </a:moveTo>
                  <a:lnTo>
                    <a:pt x="10169827" y="0"/>
                  </a:lnTo>
                  <a:lnTo>
                    <a:pt x="10169827" y="9632657"/>
                  </a:lnTo>
                  <a:lnTo>
                    <a:pt x="0" y="9632657"/>
                  </a:lnTo>
                  <a:close/>
                </a:path>
              </a:pathLst>
            </a:custGeom>
            <a:blipFill>
              <a:blip r:embed="rId6"/>
              <a:stretch>
                <a:fillRect l="0" t="0" r="0" b="0"/>
              </a:stretch>
            </a:blipFill>
          </p:spPr>
        </p:sp>
      </p:grpSp>
      <p:sp>
        <p:nvSpPr>
          <p:cNvPr name="TextBox 12" id="12"/>
          <p:cNvSpPr txBox="true"/>
          <p:nvPr/>
        </p:nvSpPr>
        <p:spPr>
          <a:xfrm rot="0">
            <a:off x="1535892" y="626923"/>
            <a:ext cx="13841312" cy="1572291"/>
          </a:xfrm>
          <a:prstGeom prst="rect">
            <a:avLst/>
          </a:prstGeom>
        </p:spPr>
        <p:txBody>
          <a:bodyPr anchor="t" rtlCol="false" tIns="0" lIns="0" bIns="0" rIns="0">
            <a:spAutoFit/>
          </a:bodyPr>
          <a:lstStyle/>
          <a:p>
            <a:pPr algn="l">
              <a:lnSpc>
                <a:spcPts val="6026"/>
              </a:lnSpc>
            </a:pPr>
            <a:r>
              <a:rPr lang="en-US" sz="6026" b="true">
                <a:solidFill>
                  <a:srgbClr val="293041"/>
                </a:solidFill>
                <a:latin typeface="Gotham Bold"/>
                <a:ea typeface="Gotham Bold"/>
                <a:cs typeface="Gotham Bold"/>
                <a:sym typeface="Gotham Bold"/>
              </a:rPr>
              <a:t>Conclusiones: Viabilidad y Propósito</a:t>
            </a:r>
          </a:p>
        </p:txBody>
      </p:sp>
      <p:grpSp>
        <p:nvGrpSpPr>
          <p:cNvPr name="Group 13" id="13"/>
          <p:cNvGrpSpPr/>
          <p:nvPr/>
        </p:nvGrpSpPr>
        <p:grpSpPr>
          <a:xfrm rot="0">
            <a:off x="4345209" y="2805159"/>
            <a:ext cx="1541420" cy="1487396"/>
            <a:chOff x="0" y="0"/>
            <a:chExt cx="2055226" cy="1983194"/>
          </a:xfrm>
        </p:grpSpPr>
        <p:sp>
          <p:nvSpPr>
            <p:cNvPr name="Freeform 14" id="14"/>
            <p:cNvSpPr/>
            <p:nvPr/>
          </p:nvSpPr>
          <p:spPr>
            <a:xfrm flipH="false" flipV="false" rot="0">
              <a:off x="0" y="0"/>
              <a:ext cx="2055226" cy="1983194"/>
            </a:xfrm>
            <a:custGeom>
              <a:avLst/>
              <a:gdLst/>
              <a:ahLst/>
              <a:cxnLst/>
              <a:rect r="r" b="b" t="t" l="l"/>
              <a:pathLst>
                <a:path h="1983194" w="2055226">
                  <a:moveTo>
                    <a:pt x="0" y="0"/>
                  </a:moveTo>
                  <a:lnTo>
                    <a:pt x="2055226" y="0"/>
                  </a:lnTo>
                  <a:lnTo>
                    <a:pt x="2055226" y="1983194"/>
                  </a:lnTo>
                  <a:lnTo>
                    <a:pt x="0" y="1983194"/>
                  </a:lnTo>
                  <a:close/>
                </a:path>
              </a:pathLst>
            </a:custGeom>
            <a:blipFill>
              <a:blip r:embed="rId7"/>
              <a:stretch>
                <a:fillRect l="0" t="0" r="0" b="0"/>
              </a:stretch>
            </a:blipFill>
          </p:spPr>
        </p:sp>
      </p:grpSp>
      <p:sp>
        <p:nvSpPr>
          <p:cNvPr name="TextBox 15" id="15"/>
          <p:cNvSpPr txBox="true"/>
          <p:nvPr/>
        </p:nvSpPr>
        <p:spPr>
          <a:xfrm rot="0">
            <a:off x="3163206" y="4658333"/>
            <a:ext cx="4004290" cy="1024264"/>
          </a:xfrm>
          <a:prstGeom prst="rect">
            <a:avLst/>
          </a:prstGeom>
        </p:spPr>
        <p:txBody>
          <a:bodyPr anchor="t" rtlCol="false" tIns="0" lIns="0" bIns="0" rIns="0">
            <a:spAutoFit/>
          </a:bodyPr>
          <a:lstStyle/>
          <a:p>
            <a:pPr algn="ctr">
              <a:lnSpc>
                <a:spcPts val="3950"/>
              </a:lnSpc>
            </a:pPr>
            <a:r>
              <a:rPr lang="en-US" sz="3950" b="true">
                <a:solidFill>
                  <a:srgbClr val="293041"/>
                </a:solidFill>
                <a:latin typeface="Gotham Bold"/>
                <a:ea typeface="Gotham Bold"/>
                <a:cs typeface="Gotham Bold"/>
                <a:sym typeface="Gotham Bold"/>
              </a:rPr>
              <a:t>El Valor Técnico</a:t>
            </a:r>
          </a:p>
        </p:txBody>
      </p:sp>
      <p:sp>
        <p:nvSpPr>
          <p:cNvPr name="TextBox 16" id="16"/>
          <p:cNvSpPr txBox="true"/>
          <p:nvPr/>
        </p:nvSpPr>
        <p:spPr>
          <a:xfrm rot="0">
            <a:off x="1929007" y="5823466"/>
            <a:ext cx="6472688" cy="2807112"/>
          </a:xfrm>
          <a:prstGeom prst="rect">
            <a:avLst/>
          </a:prstGeom>
        </p:spPr>
        <p:txBody>
          <a:bodyPr anchor="t" rtlCol="false" tIns="0" lIns="0" bIns="0" rIns="0">
            <a:spAutoFit/>
          </a:bodyPr>
          <a:lstStyle/>
          <a:p>
            <a:pPr algn="ctr">
              <a:lnSpc>
                <a:spcPts val="3207"/>
              </a:lnSpc>
            </a:pPr>
            <a:r>
              <a:rPr lang="en-US" sz="2467">
                <a:solidFill>
                  <a:srgbClr val="000000"/>
                </a:solidFill>
                <a:latin typeface="Orienta"/>
                <a:ea typeface="Orienta"/>
                <a:cs typeface="Orienta"/>
                <a:sym typeface="Orienta"/>
              </a:rPr>
              <a:t>HuellApp moviliza de forma integrada el perfil de egreso. El éxito radica en no confundir una visión amplia de producto con el alcance real. La disciplina del MVP asegura que entregaremos calidad, no solo cantidad. La documentación y las pruebas son tan valiosas como el código mismo.</a:t>
            </a:r>
          </a:p>
        </p:txBody>
      </p:sp>
      <p:grpSp>
        <p:nvGrpSpPr>
          <p:cNvPr name="Group 17" id="17"/>
          <p:cNvGrpSpPr/>
          <p:nvPr/>
        </p:nvGrpSpPr>
        <p:grpSpPr>
          <a:xfrm rot="0">
            <a:off x="12397799" y="2805159"/>
            <a:ext cx="1541420" cy="1487396"/>
            <a:chOff x="0" y="0"/>
            <a:chExt cx="2055226" cy="1983194"/>
          </a:xfrm>
        </p:grpSpPr>
        <p:sp>
          <p:nvSpPr>
            <p:cNvPr name="Freeform 18" id="18"/>
            <p:cNvSpPr/>
            <p:nvPr/>
          </p:nvSpPr>
          <p:spPr>
            <a:xfrm flipH="false" flipV="false" rot="0">
              <a:off x="0" y="0"/>
              <a:ext cx="2055226" cy="1983194"/>
            </a:xfrm>
            <a:custGeom>
              <a:avLst/>
              <a:gdLst/>
              <a:ahLst/>
              <a:cxnLst/>
              <a:rect r="r" b="b" t="t" l="l"/>
              <a:pathLst>
                <a:path h="1983194" w="2055226">
                  <a:moveTo>
                    <a:pt x="0" y="0"/>
                  </a:moveTo>
                  <a:lnTo>
                    <a:pt x="2055226" y="0"/>
                  </a:lnTo>
                  <a:lnTo>
                    <a:pt x="2055226" y="1983194"/>
                  </a:lnTo>
                  <a:lnTo>
                    <a:pt x="0" y="1983194"/>
                  </a:lnTo>
                  <a:close/>
                </a:path>
              </a:pathLst>
            </a:custGeom>
            <a:blipFill>
              <a:blip r:embed="rId8"/>
              <a:stretch>
                <a:fillRect l="0" t="0" r="0" b="0"/>
              </a:stretch>
            </a:blipFill>
          </p:spPr>
        </p:sp>
      </p:grpSp>
      <p:sp>
        <p:nvSpPr>
          <p:cNvPr name="TextBox 19" id="19"/>
          <p:cNvSpPr txBox="true"/>
          <p:nvPr/>
        </p:nvSpPr>
        <p:spPr>
          <a:xfrm rot="0">
            <a:off x="10824381" y="4658333"/>
            <a:ext cx="4552823" cy="1024264"/>
          </a:xfrm>
          <a:prstGeom prst="rect">
            <a:avLst/>
          </a:prstGeom>
        </p:spPr>
        <p:txBody>
          <a:bodyPr anchor="t" rtlCol="false" tIns="0" lIns="0" bIns="0" rIns="0">
            <a:spAutoFit/>
          </a:bodyPr>
          <a:lstStyle/>
          <a:p>
            <a:pPr algn="ctr">
              <a:lnSpc>
                <a:spcPts val="3950"/>
              </a:lnSpc>
            </a:pPr>
            <a:r>
              <a:rPr lang="en-US" sz="3950" b="true">
                <a:solidFill>
                  <a:srgbClr val="293041"/>
                </a:solidFill>
                <a:latin typeface="Gotham Bold"/>
                <a:ea typeface="Gotham Bold"/>
                <a:cs typeface="Gotham Bold"/>
                <a:sym typeface="Gotham Bold"/>
              </a:rPr>
              <a:t>El Valor Operativo</a:t>
            </a:r>
          </a:p>
        </p:txBody>
      </p:sp>
      <p:sp>
        <p:nvSpPr>
          <p:cNvPr name="TextBox 20" id="20"/>
          <p:cNvSpPr txBox="true"/>
          <p:nvPr/>
        </p:nvSpPr>
        <p:spPr>
          <a:xfrm rot="0">
            <a:off x="10115009" y="5832991"/>
            <a:ext cx="6106999" cy="2863634"/>
          </a:xfrm>
          <a:prstGeom prst="rect">
            <a:avLst/>
          </a:prstGeom>
        </p:spPr>
        <p:txBody>
          <a:bodyPr anchor="t" rtlCol="false" tIns="0" lIns="0" bIns="0" rIns="0">
            <a:spAutoFit/>
          </a:bodyPr>
          <a:lstStyle/>
          <a:p>
            <a:pPr algn="ctr">
              <a:lnSpc>
                <a:spcPts val="3272"/>
              </a:lnSpc>
            </a:pPr>
            <a:r>
              <a:rPr lang="en-US" sz="2517">
                <a:solidFill>
                  <a:srgbClr val="000000"/>
                </a:solidFill>
                <a:latin typeface="Orienta"/>
                <a:ea typeface="Orienta"/>
                <a:cs typeface="Orienta"/>
                <a:sym typeface="Orienta"/>
              </a:rPr>
              <a:t>La solución tecnológica no se define solo por sus funciones, sino por su respuesta a procesos reales. Centralizar la información resuelve la trazabilidad, permitiendo que la plataforma sea el motor invisible que sostiene la labor educativa de la fundación.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4428" cy="10242137"/>
            <a:chOff x="0" y="0"/>
            <a:chExt cx="24379238" cy="13656183"/>
          </a:xfrm>
        </p:grpSpPr>
        <p:sp>
          <p:nvSpPr>
            <p:cNvPr name="Freeform 3" id="3"/>
            <p:cNvSpPr/>
            <p:nvPr/>
          </p:nvSpPr>
          <p:spPr>
            <a:xfrm flipH="false" flipV="false" rot="0">
              <a:off x="0" y="0"/>
              <a:ext cx="24379238" cy="13656183"/>
            </a:xfrm>
            <a:custGeom>
              <a:avLst/>
              <a:gdLst/>
              <a:ahLst/>
              <a:cxnLst/>
              <a:rect r="r" b="b" t="t" l="l"/>
              <a:pathLst>
                <a:path h="13656183" w="24379238">
                  <a:moveTo>
                    <a:pt x="0" y="0"/>
                  </a:moveTo>
                  <a:lnTo>
                    <a:pt x="24379238" y="0"/>
                  </a:lnTo>
                  <a:lnTo>
                    <a:pt x="24379238" y="13656183"/>
                  </a:lnTo>
                  <a:lnTo>
                    <a:pt x="0" y="13656183"/>
                  </a:lnTo>
                  <a:close/>
                </a:path>
              </a:pathLst>
            </a:custGeom>
            <a:blipFill>
              <a:blip r:embed="rId2"/>
              <a:stretch>
                <a:fillRect l="-210" t="0" r="-210" b="0"/>
              </a:stretch>
            </a:blipFill>
          </p:spPr>
        </p:sp>
      </p:grpSp>
      <p:sp>
        <p:nvSpPr>
          <p:cNvPr name="TextBox 4" id="4"/>
          <p:cNvSpPr txBox="true"/>
          <p:nvPr/>
        </p:nvSpPr>
        <p:spPr>
          <a:xfrm rot="0">
            <a:off x="2066140" y="1056072"/>
            <a:ext cx="14152147" cy="962025"/>
          </a:xfrm>
          <a:prstGeom prst="rect">
            <a:avLst/>
          </a:prstGeom>
        </p:spPr>
        <p:txBody>
          <a:bodyPr anchor="t" rtlCol="false" tIns="0" lIns="0" bIns="0" rIns="0">
            <a:spAutoFit/>
          </a:bodyPr>
          <a:lstStyle/>
          <a:p>
            <a:pPr algn="ctr">
              <a:lnSpc>
                <a:spcPts val="7528"/>
              </a:lnSpc>
            </a:pPr>
            <a:r>
              <a:rPr lang="en-US" sz="6273" b="true">
                <a:solidFill>
                  <a:srgbClr val="213142"/>
                </a:solidFill>
                <a:latin typeface="Gilroy Bold"/>
                <a:ea typeface="Gilroy Bold"/>
                <a:cs typeface="Gilroy Bold"/>
                <a:sym typeface="Gilroy Bold"/>
              </a:rPr>
              <a:t>Reflexión Grupal: Más Allá del Código</a:t>
            </a:r>
          </a:p>
        </p:txBody>
      </p:sp>
      <p:grpSp>
        <p:nvGrpSpPr>
          <p:cNvPr name="Group 5" id="5"/>
          <p:cNvGrpSpPr/>
          <p:nvPr/>
        </p:nvGrpSpPr>
        <p:grpSpPr>
          <a:xfrm rot="0">
            <a:off x="1740741" y="2592674"/>
            <a:ext cx="1754029" cy="2549821"/>
            <a:chOff x="0" y="0"/>
            <a:chExt cx="2338706" cy="3399761"/>
          </a:xfrm>
        </p:grpSpPr>
        <p:sp>
          <p:nvSpPr>
            <p:cNvPr name="Freeform 6" id="6"/>
            <p:cNvSpPr/>
            <p:nvPr/>
          </p:nvSpPr>
          <p:spPr>
            <a:xfrm flipH="false" flipV="false" rot="0">
              <a:off x="0" y="0"/>
              <a:ext cx="2338706" cy="3399761"/>
            </a:xfrm>
            <a:custGeom>
              <a:avLst/>
              <a:gdLst/>
              <a:ahLst/>
              <a:cxnLst/>
              <a:rect r="r" b="b" t="t" l="l"/>
              <a:pathLst>
                <a:path h="3399761" w="2338706">
                  <a:moveTo>
                    <a:pt x="0" y="0"/>
                  </a:moveTo>
                  <a:lnTo>
                    <a:pt x="2338706" y="0"/>
                  </a:lnTo>
                  <a:lnTo>
                    <a:pt x="2338706" y="3399761"/>
                  </a:lnTo>
                  <a:lnTo>
                    <a:pt x="0" y="3399761"/>
                  </a:lnTo>
                  <a:close/>
                </a:path>
              </a:pathLst>
            </a:custGeom>
            <a:blipFill>
              <a:blip r:embed="rId3"/>
              <a:stretch>
                <a:fillRect l="0" t="0" r="0" b="0"/>
              </a:stretch>
            </a:blipFill>
          </p:spPr>
        </p:sp>
      </p:grpSp>
      <p:sp>
        <p:nvSpPr>
          <p:cNvPr name="TextBox 7" id="7"/>
          <p:cNvSpPr txBox="true"/>
          <p:nvPr/>
        </p:nvSpPr>
        <p:spPr>
          <a:xfrm rot="0">
            <a:off x="3839730" y="2826374"/>
            <a:ext cx="12689393" cy="2767343"/>
          </a:xfrm>
          <a:prstGeom prst="rect">
            <a:avLst/>
          </a:prstGeom>
        </p:spPr>
        <p:txBody>
          <a:bodyPr anchor="t" rtlCol="false" tIns="0" lIns="0" bIns="0" rIns="0">
            <a:spAutoFit/>
          </a:bodyPr>
          <a:lstStyle/>
          <a:p>
            <a:pPr algn="l">
              <a:lnSpc>
                <a:spcPts val="4372"/>
              </a:lnSpc>
            </a:pPr>
            <a:r>
              <a:rPr lang="en-US" sz="3802" b="true">
                <a:solidFill>
                  <a:srgbClr val="000000"/>
                </a:solidFill>
                <a:latin typeface="HK Grotesk Medium"/>
                <a:ea typeface="HK Grotesk Medium"/>
                <a:cs typeface="HK Grotesk Medium"/>
                <a:sym typeface="HK Grotesk Medium"/>
              </a:rPr>
              <a:t>Nos enfrentamos a un desafío profesional real: tomar decisiones con información incompleta, equilibrar expectativas con capacidades, y justificar cada línea de alcance. Este proceso fortalece nuestra madurez técnica y colaborativa.</a:t>
            </a:r>
          </a:p>
        </p:txBody>
      </p:sp>
      <p:grpSp>
        <p:nvGrpSpPr>
          <p:cNvPr name="Group 8" id="8"/>
          <p:cNvGrpSpPr/>
          <p:nvPr/>
        </p:nvGrpSpPr>
        <p:grpSpPr>
          <a:xfrm rot="0">
            <a:off x="863727" y="5567465"/>
            <a:ext cx="5674019" cy="4249702"/>
            <a:chOff x="0" y="0"/>
            <a:chExt cx="7565359" cy="5666269"/>
          </a:xfrm>
        </p:grpSpPr>
        <p:sp>
          <p:nvSpPr>
            <p:cNvPr name="Freeform 9" id="9"/>
            <p:cNvSpPr/>
            <p:nvPr/>
          </p:nvSpPr>
          <p:spPr>
            <a:xfrm flipH="false" flipV="false" rot="0">
              <a:off x="0" y="0"/>
              <a:ext cx="7565359" cy="5666269"/>
            </a:xfrm>
            <a:custGeom>
              <a:avLst/>
              <a:gdLst/>
              <a:ahLst/>
              <a:cxnLst/>
              <a:rect r="r" b="b" t="t" l="l"/>
              <a:pathLst>
                <a:path h="5666269" w="7565359">
                  <a:moveTo>
                    <a:pt x="0" y="0"/>
                  </a:moveTo>
                  <a:lnTo>
                    <a:pt x="7565359" y="0"/>
                  </a:lnTo>
                  <a:lnTo>
                    <a:pt x="7565359" y="5666269"/>
                  </a:lnTo>
                  <a:lnTo>
                    <a:pt x="0" y="5666269"/>
                  </a:lnTo>
                  <a:close/>
                </a:path>
              </a:pathLst>
            </a:custGeom>
            <a:blipFill>
              <a:blip r:embed="rId4"/>
              <a:stretch>
                <a:fillRect l="0" t="0" r="0" b="0"/>
              </a:stretch>
            </a:blipFill>
          </p:spPr>
        </p:sp>
      </p:grpSp>
      <p:sp>
        <p:nvSpPr>
          <p:cNvPr name="TextBox 10" id="10"/>
          <p:cNvSpPr txBox="true"/>
          <p:nvPr/>
        </p:nvSpPr>
        <p:spPr>
          <a:xfrm rot="0">
            <a:off x="1993003" y="6295187"/>
            <a:ext cx="3272913" cy="1066206"/>
          </a:xfrm>
          <a:prstGeom prst="rect">
            <a:avLst/>
          </a:prstGeom>
        </p:spPr>
        <p:txBody>
          <a:bodyPr anchor="t" rtlCol="false" tIns="0" lIns="0" bIns="0" rIns="0">
            <a:spAutoFit/>
          </a:bodyPr>
          <a:lstStyle/>
          <a:p>
            <a:pPr algn="ctr">
              <a:lnSpc>
                <a:spcPts val="4073"/>
              </a:lnSpc>
            </a:pPr>
            <a:r>
              <a:rPr lang="en-US" sz="3703" b="true">
                <a:solidFill>
                  <a:srgbClr val="213142"/>
                </a:solidFill>
                <a:latin typeface="Gilroy Bold"/>
                <a:ea typeface="Gilroy Bold"/>
                <a:cs typeface="Gilroy Bold"/>
                <a:sym typeface="Gilroy Bold"/>
              </a:rPr>
              <a:t>Tecnología con Sentido</a:t>
            </a:r>
          </a:p>
        </p:txBody>
      </p:sp>
      <p:sp>
        <p:nvSpPr>
          <p:cNvPr name="TextBox 11" id="11"/>
          <p:cNvSpPr txBox="true"/>
          <p:nvPr/>
        </p:nvSpPr>
        <p:spPr>
          <a:xfrm rot="0">
            <a:off x="1663883" y="7501274"/>
            <a:ext cx="3876299" cy="1540611"/>
          </a:xfrm>
          <a:prstGeom prst="rect">
            <a:avLst/>
          </a:prstGeom>
        </p:spPr>
        <p:txBody>
          <a:bodyPr anchor="t" rtlCol="false" tIns="0" lIns="0" bIns="0" rIns="0">
            <a:spAutoFit/>
          </a:bodyPr>
          <a:lstStyle/>
          <a:p>
            <a:pPr algn="ctr">
              <a:lnSpc>
                <a:spcPts val="3008"/>
              </a:lnSpc>
            </a:pPr>
            <a:r>
              <a:rPr lang="en-US" sz="2615" b="true">
                <a:solidFill>
                  <a:srgbClr val="000000"/>
                </a:solidFill>
                <a:latin typeface="HK Grotesk Medium"/>
                <a:ea typeface="HK Grotesk Medium"/>
                <a:cs typeface="HK Grotesk Medium"/>
                <a:sym typeface="HK Grotesk Medium"/>
              </a:rPr>
              <a:t>Unir la vocación informática con el aporte social al desarrollo de la educación en Chile.</a:t>
            </a:r>
          </a:p>
        </p:txBody>
      </p:sp>
      <p:grpSp>
        <p:nvGrpSpPr>
          <p:cNvPr name="Group 12" id="12"/>
          <p:cNvGrpSpPr/>
          <p:nvPr/>
        </p:nvGrpSpPr>
        <p:grpSpPr>
          <a:xfrm rot="0">
            <a:off x="6311848" y="5567465"/>
            <a:ext cx="5660731" cy="4249702"/>
            <a:chOff x="0" y="0"/>
            <a:chExt cx="7547642" cy="5666269"/>
          </a:xfrm>
        </p:grpSpPr>
        <p:sp>
          <p:nvSpPr>
            <p:cNvPr name="Freeform 13" id="13"/>
            <p:cNvSpPr/>
            <p:nvPr/>
          </p:nvSpPr>
          <p:spPr>
            <a:xfrm flipH="false" flipV="false" rot="0">
              <a:off x="0" y="0"/>
              <a:ext cx="7547642" cy="5666269"/>
            </a:xfrm>
            <a:custGeom>
              <a:avLst/>
              <a:gdLst/>
              <a:ahLst/>
              <a:cxnLst/>
              <a:rect r="r" b="b" t="t" l="l"/>
              <a:pathLst>
                <a:path h="5666269" w="7547642">
                  <a:moveTo>
                    <a:pt x="0" y="0"/>
                  </a:moveTo>
                  <a:lnTo>
                    <a:pt x="7547642" y="0"/>
                  </a:lnTo>
                  <a:lnTo>
                    <a:pt x="7547642" y="5666269"/>
                  </a:lnTo>
                  <a:lnTo>
                    <a:pt x="0" y="5666269"/>
                  </a:lnTo>
                  <a:close/>
                </a:path>
              </a:pathLst>
            </a:custGeom>
            <a:blipFill>
              <a:blip r:embed="rId5"/>
              <a:stretch>
                <a:fillRect l="0" t="0" r="0" b="0"/>
              </a:stretch>
            </a:blipFill>
          </p:spPr>
        </p:sp>
      </p:grpSp>
      <p:sp>
        <p:nvSpPr>
          <p:cNvPr name="TextBox 14" id="14"/>
          <p:cNvSpPr txBox="true"/>
          <p:nvPr/>
        </p:nvSpPr>
        <p:spPr>
          <a:xfrm rot="0">
            <a:off x="7240634" y="6556949"/>
            <a:ext cx="3803161" cy="501720"/>
          </a:xfrm>
          <a:prstGeom prst="rect">
            <a:avLst/>
          </a:prstGeom>
        </p:spPr>
        <p:txBody>
          <a:bodyPr anchor="t" rtlCol="false" tIns="0" lIns="0" bIns="0" rIns="0">
            <a:spAutoFit/>
          </a:bodyPr>
          <a:lstStyle/>
          <a:p>
            <a:pPr algn="ctr">
              <a:lnSpc>
                <a:spcPts val="3856"/>
              </a:lnSpc>
            </a:pPr>
            <a:r>
              <a:rPr lang="en-US" sz="3505" b="true">
                <a:solidFill>
                  <a:srgbClr val="213142"/>
                </a:solidFill>
                <a:latin typeface="Gilroy Bold"/>
                <a:ea typeface="Gilroy Bold"/>
                <a:cs typeface="Gilroy Bold"/>
                <a:sym typeface="Gilroy Bold"/>
              </a:rPr>
              <a:t>El Factor Humano</a:t>
            </a:r>
          </a:p>
        </p:txBody>
      </p:sp>
      <p:sp>
        <p:nvSpPr>
          <p:cNvPr name="TextBox 15" id="15"/>
          <p:cNvSpPr txBox="true"/>
          <p:nvPr/>
        </p:nvSpPr>
        <p:spPr>
          <a:xfrm rot="0">
            <a:off x="7112643" y="7501274"/>
            <a:ext cx="4059143" cy="1921611"/>
          </a:xfrm>
          <a:prstGeom prst="rect">
            <a:avLst/>
          </a:prstGeom>
        </p:spPr>
        <p:txBody>
          <a:bodyPr anchor="t" rtlCol="false" tIns="0" lIns="0" bIns="0" rIns="0">
            <a:spAutoFit/>
          </a:bodyPr>
          <a:lstStyle/>
          <a:p>
            <a:pPr algn="ctr">
              <a:lnSpc>
                <a:spcPts val="3008"/>
              </a:lnSpc>
            </a:pPr>
            <a:r>
              <a:rPr lang="en-US" sz="2615" b="true">
                <a:solidFill>
                  <a:srgbClr val="000000"/>
                </a:solidFill>
                <a:latin typeface="HK Grotesk Medium"/>
                <a:ea typeface="HK Grotesk Medium"/>
                <a:cs typeface="HK Grotesk Medium"/>
                <a:sym typeface="HK Grotesk Medium"/>
              </a:rPr>
              <a:t>Recordar que detrás de cada base de datos, calendario o registro, hay docentes, monitores y estudiantes.</a:t>
            </a:r>
          </a:p>
        </p:txBody>
      </p:sp>
      <p:grpSp>
        <p:nvGrpSpPr>
          <p:cNvPr name="Group 16" id="16"/>
          <p:cNvGrpSpPr/>
          <p:nvPr/>
        </p:nvGrpSpPr>
        <p:grpSpPr>
          <a:xfrm rot="0">
            <a:off x="11959292" y="5567465"/>
            <a:ext cx="5674019" cy="4249702"/>
            <a:chOff x="0" y="0"/>
            <a:chExt cx="7565359" cy="5666269"/>
          </a:xfrm>
        </p:grpSpPr>
        <p:sp>
          <p:nvSpPr>
            <p:cNvPr name="Freeform 17" id="17"/>
            <p:cNvSpPr/>
            <p:nvPr/>
          </p:nvSpPr>
          <p:spPr>
            <a:xfrm flipH="false" flipV="false" rot="0">
              <a:off x="0" y="0"/>
              <a:ext cx="7565359" cy="5666269"/>
            </a:xfrm>
            <a:custGeom>
              <a:avLst/>
              <a:gdLst/>
              <a:ahLst/>
              <a:cxnLst/>
              <a:rect r="r" b="b" t="t" l="l"/>
              <a:pathLst>
                <a:path h="5666269" w="7565359">
                  <a:moveTo>
                    <a:pt x="0" y="0"/>
                  </a:moveTo>
                  <a:lnTo>
                    <a:pt x="7565359" y="0"/>
                  </a:lnTo>
                  <a:lnTo>
                    <a:pt x="7565359" y="5666269"/>
                  </a:lnTo>
                  <a:lnTo>
                    <a:pt x="0" y="5666269"/>
                  </a:lnTo>
                  <a:close/>
                </a:path>
              </a:pathLst>
            </a:custGeom>
            <a:blipFill>
              <a:blip r:embed="rId6"/>
              <a:stretch>
                <a:fillRect l="0" t="0" r="0" b="0"/>
              </a:stretch>
            </a:blipFill>
          </p:spPr>
        </p:sp>
      </p:grpSp>
      <p:sp>
        <p:nvSpPr>
          <p:cNvPr name="TextBox 18" id="18"/>
          <p:cNvSpPr txBox="true"/>
          <p:nvPr/>
        </p:nvSpPr>
        <p:spPr>
          <a:xfrm rot="0">
            <a:off x="12835669" y="6309095"/>
            <a:ext cx="3602032" cy="1007801"/>
          </a:xfrm>
          <a:prstGeom prst="rect">
            <a:avLst/>
          </a:prstGeom>
        </p:spPr>
        <p:txBody>
          <a:bodyPr anchor="t" rtlCol="false" tIns="0" lIns="0" bIns="0" rIns="0">
            <a:spAutoFit/>
          </a:bodyPr>
          <a:lstStyle/>
          <a:p>
            <a:pPr algn="ctr">
              <a:lnSpc>
                <a:spcPts val="3964"/>
              </a:lnSpc>
            </a:pPr>
            <a:r>
              <a:rPr lang="en-US" sz="3604" b="true">
                <a:solidFill>
                  <a:srgbClr val="213142"/>
                </a:solidFill>
                <a:latin typeface="Gilroy Bold"/>
                <a:ea typeface="Gilroy Bold"/>
                <a:cs typeface="Gilroy Bold"/>
                <a:sym typeface="Gilroy Bold"/>
              </a:rPr>
              <a:t>Responsabilidad Profesional</a:t>
            </a:r>
          </a:p>
        </p:txBody>
      </p:sp>
      <p:sp>
        <p:nvSpPr>
          <p:cNvPr name="TextBox 19" id="19"/>
          <p:cNvSpPr txBox="true"/>
          <p:nvPr/>
        </p:nvSpPr>
        <p:spPr>
          <a:xfrm rot="0">
            <a:off x="12744246" y="7501274"/>
            <a:ext cx="3803161" cy="1540611"/>
          </a:xfrm>
          <a:prstGeom prst="rect">
            <a:avLst/>
          </a:prstGeom>
        </p:spPr>
        <p:txBody>
          <a:bodyPr anchor="t" rtlCol="false" tIns="0" lIns="0" bIns="0" rIns="0">
            <a:spAutoFit/>
          </a:bodyPr>
          <a:lstStyle/>
          <a:p>
            <a:pPr algn="ctr">
              <a:lnSpc>
                <a:spcPts val="3008"/>
              </a:lnSpc>
            </a:pPr>
            <a:r>
              <a:rPr lang="en-US" sz="2615" b="true">
                <a:solidFill>
                  <a:srgbClr val="000000"/>
                </a:solidFill>
                <a:latin typeface="HK Grotesk Medium"/>
                <a:ea typeface="HK Grotesk Medium"/>
                <a:cs typeface="HK Grotesk Medium"/>
                <a:sym typeface="HK Grotesk Medium"/>
              </a:rPr>
              <a:t>Asumir el compromiso de entregar una herramienta mantenible, útil y escalable en el tiempo.</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4428" cy="10242137"/>
            <a:chOff x="0" y="0"/>
            <a:chExt cx="24379238" cy="13656183"/>
          </a:xfrm>
        </p:grpSpPr>
        <p:sp>
          <p:nvSpPr>
            <p:cNvPr name="Freeform 3" id="3"/>
            <p:cNvSpPr/>
            <p:nvPr/>
          </p:nvSpPr>
          <p:spPr>
            <a:xfrm flipH="false" flipV="false" rot="0">
              <a:off x="0" y="0"/>
              <a:ext cx="24379238" cy="13656183"/>
            </a:xfrm>
            <a:custGeom>
              <a:avLst/>
              <a:gdLst/>
              <a:ahLst/>
              <a:cxnLst/>
              <a:rect r="r" b="b" t="t" l="l"/>
              <a:pathLst>
                <a:path h="13656183" w="24379238">
                  <a:moveTo>
                    <a:pt x="0" y="0"/>
                  </a:moveTo>
                  <a:lnTo>
                    <a:pt x="24379238" y="0"/>
                  </a:lnTo>
                  <a:lnTo>
                    <a:pt x="24379238" y="13656183"/>
                  </a:lnTo>
                  <a:lnTo>
                    <a:pt x="0" y="13656183"/>
                  </a:lnTo>
                  <a:close/>
                </a:path>
              </a:pathLst>
            </a:custGeom>
            <a:blipFill>
              <a:blip r:embed="rId2"/>
              <a:stretch>
                <a:fillRect l="-210" t="0" r="-210" b="0"/>
              </a:stretch>
            </a:blipFill>
          </p:spPr>
        </p:sp>
      </p:grpSp>
      <p:grpSp>
        <p:nvGrpSpPr>
          <p:cNvPr name="Group 4" id="4"/>
          <p:cNvGrpSpPr/>
          <p:nvPr/>
        </p:nvGrpSpPr>
        <p:grpSpPr>
          <a:xfrm rot="0">
            <a:off x="12836306" y="42853"/>
            <a:ext cx="5235512" cy="5312127"/>
            <a:chOff x="0" y="0"/>
            <a:chExt cx="6980683" cy="7082836"/>
          </a:xfrm>
        </p:grpSpPr>
        <p:sp>
          <p:nvSpPr>
            <p:cNvPr name="Freeform 5" id="5"/>
            <p:cNvSpPr/>
            <p:nvPr/>
          </p:nvSpPr>
          <p:spPr>
            <a:xfrm flipH="false" flipV="false" rot="0">
              <a:off x="0" y="0"/>
              <a:ext cx="6980683" cy="7082837"/>
            </a:xfrm>
            <a:custGeom>
              <a:avLst/>
              <a:gdLst/>
              <a:ahLst/>
              <a:cxnLst/>
              <a:rect r="r" b="b" t="t" l="l"/>
              <a:pathLst>
                <a:path h="7082837" w="6980683">
                  <a:moveTo>
                    <a:pt x="0" y="0"/>
                  </a:moveTo>
                  <a:lnTo>
                    <a:pt x="6980683" y="0"/>
                  </a:lnTo>
                  <a:lnTo>
                    <a:pt x="6980683" y="7082837"/>
                  </a:lnTo>
                  <a:lnTo>
                    <a:pt x="0" y="7082837"/>
                  </a:lnTo>
                  <a:close/>
                </a:path>
              </a:pathLst>
            </a:custGeom>
            <a:blipFill>
              <a:blip r:embed="rId3"/>
              <a:stretch>
                <a:fillRect l="0" t="0" r="0" b="0"/>
              </a:stretch>
            </a:blipFill>
          </p:spPr>
        </p:sp>
      </p:grpSp>
      <p:grpSp>
        <p:nvGrpSpPr>
          <p:cNvPr name="Group 6" id="6"/>
          <p:cNvGrpSpPr/>
          <p:nvPr/>
        </p:nvGrpSpPr>
        <p:grpSpPr>
          <a:xfrm rot="0">
            <a:off x="425219" y="6417406"/>
            <a:ext cx="4584395" cy="3824732"/>
            <a:chOff x="0" y="0"/>
            <a:chExt cx="6112527" cy="5099642"/>
          </a:xfrm>
        </p:grpSpPr>
        <p:sp>
          <p:nvSpPr>
            <p:cNvPr name="Freeform 7" id="7"/>
            <p:cNvSpPr/>
            <p:nvPr/>
          </p:nvSpPr>
          <p:spPr>
            <a:xfrm flipH="false" flipV="false" rot="0">
              <a:off x="0" y="0"/>
              <a:ext cx="6112527" cy="5099642"/>
            </a:xfrm>
            <a:custGeom>
              <a:avLst/>
              <a:gdLst/>
              <a:ahLst/>
              <a:cxnLst/>
              <a:rect r="r" b="b" t="t" l="l"/>
              <a:pathLst>
                <a:path h="5099642" w="6112527">
                  <a:moveTo>
                    <a:pt x="0" y="0"/>
                  </a:moveTo>
                  <a:lnTo>
                    <a:pt x="6112527" y="0"/>
                  </a:lnTo>
                  <a:lnTo>
                    <a:pt x="6112527" y="5099642"/>
                  </a:lnTo>
                  <a:lnTo>
                    <a:pt x="0" y="5099642"/>
                  </a:lnTo>
                  <a:close/>
                </a:path>
              </a:pathLst>
            </a:custGeom>
            <a:blipFill>
              <a:blip r:embed="rId4"/>
              <a:stretch>
                <a:fillRect l="0" t="0" r="0" b="0"/>
              </a:stretch>
            </a:blipFill>
          </p:spPr>
        </p:sp>
      </p:grpSp>
      <p:sp>
        <p:nvSpPr>
          <p:cNvPr name="TextBox 8" id="8"/>
          <p:cNvSpPr txBox="true"/>
          <p:nvPr/>
        </p:nvSpPr>
        <p:spPr>
          <a:xfrm rot="0">
            <a:off x="3309481" y="2384901"/>
            <a:ext cx="11665465" cy="2278415"/>
          </a:xfrm>
          <a:prstGeom prst="rect">
            <a:avLst/>
          </a:prstGeom>
        </p:spPr>
        <p:txBody>
          <a:bodyPr anchor="t" rtlCol="false" tIns="0" lIns="0" bIns="0" rIns="0">
            <a:spAutoFit/>
          </a:bodyPr>
          <a:lstStyle/>
          <a:p>
            <a:pPr algn="ctr">
              <a:lnSpc>
                <a:spcPts val="8976"/>
              </a:lnSpc>
            </a:pPr>
            <a:r>
              <a:rPr lang="en-US" sz="7805" b="true">
                <a:solidFill>
                  <a:srgbClr val="21313C"/>
                </a:solidFill>
                <a:latin typeface="Bricolage Grotesque Bold"/>
                <a:ea typeface="Bricolage Grotesque Bold"/>
                <a:cs typeface="Bricolage Grotesque Bold"/>
                <a:sym typeface="Bricolage Grotesque Bold"/>
              </a:rPr>
              <a:t>HuellApp: Tecnología al Servicio de la Educación</a:t>
            </a:r>
          </a:p>
        </p:txBody>
      </p:sp>
      <p:sp>
        <p:nvSpPr>
          <p:cNvPr name="TextBox 9" id="9"/>
          <p:cNvSpPr txBox="true"/>
          <p:nvPr/>
        </p:nvSpPr>
        <p:spPr>
          <a:xfrm rot="0">
            <a:off x="4241987" y="4885494"/>
            <a:ext cx="9800453" cy="1257300"/>
          </a:xfrm>
          <a:prstGeom prst="rect">
            <a:avLst/>
          </a:prstGeom>
        </p:spPr>
        <p:txBody>
          <a:bodyPr anchor="t" rtlCol="false" tIns="0" lIns="0" bIns="0" rIns="0">
            <a:spAutoFit/>
          </a:bodyPr>
          <a:lstStyle/>
          <a:p>
            <a:pPr algn="ctr">
              <a:lnSpc>
                <a:spcPts val="4977"/>
              </a:lnSpc>
            </a:pPr>
            <a:r>
              <a:rPr lang="en-US" sz="4148">
                <a:solidFill>
                  <a:srgbClr val="DB8268"/>
                </a:solidFill>
                <a:latin typeface="Clear Sans"/>
                <a:ea typeface="Clear Sans"/>
                <a:cs typeface="Clear Sans"/>
                <a:sym typeface="Clear Sans"/>
              </a:rPr>
              <a:t>Construyendo la base digital para el futuro de Fundación Huella.</a:t>
            </a:r>
          </a:p>
        </p:txBody>
      </p:sp>
      <p:grpSp>
        <p:nvGrpSpPr>
          <p:cNvPr name="Group 10" id="10"/>
          <p:cNvGrpSpPr/>
          <p:nvPr/>
        </p:nvGrpSpPr>
        <p:grpSpPr>
          <a:xfrm rot="0">
            <a:off x="9567433" y="7054861"/>
            <a:ext cx="7640659" cy="2337336"/>
            <a:chOff x="0" y="0"/>
            <a:chExt cx="10187545" cy="3116448"/>
          </a:xfrm>
        </p:grpSpPr>
        <p:sp>
          <p:nvSpPr>
            <p:cNvPr name="Freeform 11" id="11"/>
            <p:cNvSpPr/>
            <p:nvPr/>
          </p:nvSpPr>
          <p:spPr>
            <a:xfrm flipH="false" flipV="false" rot="0">
              <a:off x="0" y="0"/>
              <a:ext cx="10187545" cy="3116448"/>
            </a:xfrm>
            <a:custGeom>
              <a:avLst/>
              <a:gdLst/>
              <a:ahLst/>
              <a:cxnLst/>
              <a:rect r="r" b="b" t="t" l="l"/>
              <a:pathLst>
                <a:path h="3116448" w="10187545">
                  <a:moveTo>
                    <a:pt x="0" y="0"/>
                  </a:moveTo>
                  <a:lnTo>
                    <a:pt x="10187545" y="0"/>
                  </a:lnTo>
                  <a:lnTo>
                    <a:pt x="10187545" y="3116448"/>
                  </a:lnTo>
                  <a:lnTo>
                    <a:pt x="0" y="3116448"/>
                  </a:lnTo>
                  <a:close/>
                </a:path>
              </a:pathLst>
            </a:custGeom>
            <a:blipFill>
              <a:blip r:embed="rId5"/>
              <a:stretch>
                <a:fillRect l="0" t="0" r="0" b="0"/>
              </a:stretch>
            </a:blipFill>
          </p:spPr>
        </p:sp>
      </p:grpSp>
      <p:sp>
        <p:nvSpPr>
          <p:cNvPr name="TextBox 12" id="12"/>
          <p:cNvSpPr txBox="true"/>
          <p:nvPr/>
        </p:nvSpPr>
        <p:spPr>
          <a:xfrm rot="0">
            <a:off x="9946729" y="7387188"/>
            <a:ext cx="7002936" cy="1485900"/>
          </a:xfrm>
          <a:prstGeom prst="rect">
            <a:avLst/>
          </a:prstGeom>
        </p:spPr>
        <p:txBody>
          <a:bodyPr anchor="t" rtlCol="false" tIns="0" lIns="0" bIns="0" rIns="0">
            <a:spAutoFit/>
          </a:bodyPr>
          <a:lstStyle/>
          <a:p>
            <a:pPr algn="r">
              <a:lnSpc>
                <a:spcPts val="2961"/>
              </a:lnSpc>
            </a:pPr>
            <a:r>
              <a:rPr lang="en-US" sz="2467" b="true">
                <a:solidFill>
                  <a:srgbClr val="21313C"/>
                </a:solidFill>
                <a:latin typeface="Clear Sans Bold"/>
                <a:ea typeface="Clear Sans Bold"/>
                <a:cs typeface="Clear Sans Bold"/>
                <a:sym typeface="Clear Sans Bold"/>
              </a:rPr>
              <a:t>Equipo Pudú Tech LTDA.</a:t>
            </a:r>
          </a:p>
          <a:p>
            <a:pPr algn="r">
              <a:lnSpc>
                <a:spcPts val="2961"/>
              </a:lnSpc>
            </a:pPr>
            <a:r>
              <a:rPr lang="en-US" sz="2467">
                <a:solidFill>
                  <a:srgbClr val="21313C"/>
                </a:solidFill>
                <a:latin typeface="Clear Sans"/>
                <a:ea typeface="Clear Sans"/>
                <a:cs typeface="Clear Sans"/>
                <a:sym typeface="Clear Sans"/>
              </a:rPr>
              <a:t>Felipe Ferrada | Ignacio Mesina | Matías Morales</a:t>
            </a:r>
          </a:p>
          <a:p>
            <a:pPr algn="r">
              <a:lnSpc>
                <a:spcPts val="2961"/>
              </a:lnSpc>
            </a:pPr>
            <a:r>
              <a:rPr lang="en-US" sz="2467">
                <a:solidFill>
                  <a:srgbClr val="21313C"/>
                </a:solidFill>
                <a:latin typeface="Clear Sans"/>
                <a:ea typeface="Clear Sans"/>
                <a:cs typeface="Clear Sans"/>
                <a:sym typeface="Clear Sans"/>
              </a:rPr>
              <a:t>Ingeniería en Informática - Duoc UC</a:t>
            </a:r>
          </a:p>
          <a:p>
            <a:pPr algn="r">
              <a:lnSpc>
                <a:spcPts val="2961"/>
              </a:lnSpc>
            </a:pPr>
            <a:r>
              <a:rPr lang="en-US" sz="2467">
                <a:solidFill>
                  <a:srgbClr val="21313C"/>
                </a:solidFill>
                <a:latin typeface="Clear Sans"/>
                <a:ea typeface="Clear Sans"/>
                <a:cs typeface="Clear Sans"/>
                <a:sym typeface="Clear Sans"/>
              </a:rPr>
              <a:t>Proyecto Capstone Apt - Fase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DAHT4dTDd68</dc:identifier>
  <dcterms:modified xsi:type="dcterms:W3CDTF">2011-08-01T06:04:30Z</dcterms:modified>
  <cp:revision>1</cp:revision>
  <dc:title>HuellApp_Strategic_Blueprint.pptx</dc:title>
</cp:coreProperties>
</file>